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60" r:id="rId4"/>
    <p:sldId id="261" r:id="rId5"/>
    <p:sldId id="262" r:id="rId6"/>
    <p:sldId id="258" r:id="rId7"/>
    <p:sldId id="259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28688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97531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180515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9212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80739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6045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57350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80867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59657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66616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607225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426775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91612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3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88968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361407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0640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9">
            <a:extLst>
              <a:ext uri="{FF2B5EF4-FFF2-40B4-BE49-F238E27FC236}">
                <a16:creationId xmlns:a16="http://schemas.microsoft.com/office/drawing/2014/main" id="{BC7F2AFD-229C-B153-E539-DCDEFA59ACEA}"/>
              </a:ext>
            </a:extLst>
          </p:cNvPr>
          <p:cNvSpPr txBox="1"/>
          <p:nvPr/>
        </p:nvSpPr>
        <p:spPr>
          <a:xfrm>
            <a:off x="2513583" y="2414712"/>
            <a:ext cx="7164833" cy="4431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Ingenieria del software </a:t>
            </a:r>
          </a:p>
          <a:p>
            <a:pPr algn="ctr"/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Sexto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/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Especialidad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Ingeniería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en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Sistemas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Computacionales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.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Numero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control: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231260014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Nombre del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alumno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Cynthia Jasmine Morales Torres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Nombre del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docente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Ing. Francisco Javier Mingo Velazquez 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trabajo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1.1 Mapa mental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Fecha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entrega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Frontera Comalapa, Chiapas. A 06 de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febrero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del 2026</a:t>
            </a: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79E00AE5-3F52-1838-6C43-D8FC494BA01C}"/>
              </a:ext>
            </a:extLst>
          </p:cNvPr>
          <p:cNvSpPr txBox="1"/>
          <p:nvPr/>
        </p:nvSpPr>
        <p:spPr>
          <a:xfrm>
            <a:off x="1917762" y="1336472"/>
            <a:ext cx="8356475" cy="709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08"/>
              </a:lnSpc>
            </a:pPr>
            <a:r>
              <a:rPr lang="en-US" sz="20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Instituto Tecnológico de Frontera Comalapa </a:t>
            </a:r>
          </a:p>
          <a:p>
            <a:pPr algn="ctr">
              <a:lnSpc>
                <a:spcPts val="2908"/>
              </a:lnSpc>
            </a:pPr>
            <a:r>
              <a:rPr lang="en-US" sz="20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Modalidad</a:t>
            </a:r>
            <a:r>
              <a:rPr lang="en-US" sz="20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Mixta</a:t>
            </a:r>
          </a:p>
        </p:txBody>
      </p:sp>
      <p:grpSp>
        <p:nvGrpSpPr>
          <p:cNvPr id="14" name="Group 2">
            <a:extLst>
              <a:ext uri="{FF2B5EF4-FFF2-40B4-BE49-F238E27FC236}">
                <a16:creationId xmlns:a16="http://schemas.microsoft.com/office/drawing/2014/main" id="{9EDD899C-B4D0-1763-7862-F280FC684372}"/>
              </a:ext>
            </a:extLst>
          </p:cNvPr>
          <p:cNvGrpSpPr/>
          <p:nvPr/>
        </p:nvGrpSpPr>
        <p:grpSpPr>
          <a:xfrm>
            <a:off x="382922" y="229932"/>
            <a:ext cx="2709599" cy="1198176"/>
            <a:chOff x="0" y="0"/>
            <a:chExt cx="3073400" cy="130810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BA406B12-1BC2-2D18-C4DF-DD04B4456F8F}"/>
                </a:ext>
              </a:extLst>
            </p:cNvPr>
            <p:cNvSpPr/>
            <p:nvPr/>
          </p:nvSpPr>
          <p:spPr>
            <a:xfrm>
              <a:off x="0" y="0"/>
              <a:ext cx="3073400" cy="1308100"/>
            </a:xfrm>
            <a:custGeom>
              <a:avLst/>
              <a:gdLst/>
              <a:ahLst/>
              <a:cxnLst/>
              <a:rect l="l" t="t" r="r" b="b"/>
              <a:pathLst>
                <a:path w="3073400" h="1308100">
                  <a:moveTo>
                    <a:pt x="0" y="0"/>
                  </a:moveTo>
                  <a:lnTo>
                    <a:pt x="3073400" y="0"/>
                  </a:lnTo>
                  <a:lnTo>
                    <a:pt x="30734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6" name="Group 4">
            <a:extLst>
              <a:ext uri="{FF2B5EF4-FFF2-40B4-BE49-F238E27FC236}">
                <a16:creationId xmlns:a16="http://schemas.microsoft.com/office/drawing/2014/main" id="{F20E39F3-9EFE-475A-FDB4-122BABD29ADF}"/>
              </a:ext>
            </a:extLst>
          </p:cNvPr>
          <p:cNvGrpSpPr/>
          <p:nvPr/>
        </p:nvGrpSpPr>
        <p:grpSpPr>
          <a:xfrm>
            <a:off x="9647873" y="168318"/>
            <a:ext cx="1978801" cy="1598293"/>
            <a:chOff x="0" y="0"/>
            <a:chExt cx="1981200" cy="1625600"/>
          </a:xfrm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39F7FFA7-26E0-1216-7894-49EEDDCE0117}"/>
                </a:ext>
              </a:extLst>
            </p:cNvPr>
            <p:cNvSpPr/>
            <p:nvPr/>
          </p:nvSpPr>
          <p:spPr>
            <a:xfrm>
              <a:off x="0" y="0"/>
              <a:ext cx="1981200" cy="1625600"/>
            </a:xfrm>
            <a:custGeom>
              <a:avLst/>
              <a:gdLst/>
              <a:ahLst/>
              <a:cxnLst/>
              <a:rect l="l" t="t" r="r" b="b"/>
              <a:pathLst>
                <a:path w="1981200" h="1625600">
                  <a:moveTo>
                    <a:pt x="0" y="0"/>
                  </a:moveTo>
                  <a:lnTo>
                    <a:pt x="1981200" y="0"/>
                  </a:lnTo>
                  <a:lnTo>
                    <a:pt x="19812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8" name="Group 6">
            <a:extLst>
              <a:ext uri="{FF2B5EF4-FFF2-40B4-BE49-F238E27FC236}">
                <a16:creationId xmlns:a16="http://schemas.microsoft.com/office/drawing/2014/main" id="{31C23C2B-E56B-B769-56CD-66583AEAA3DE}"/>
              </a:ext>
            </a:extLst>
          </p:cNvPr>
          <p:cNvGrpSpPr/>
          <p:nvPr/>
        </p:nvGrpSpPr>
        <p:grpSpPr>
          <a:xfrm>
            <a:off x="3815638" y="339926"/>
            <a:ext cx="4338142" cy="886553"/>
            <a:chOff x="0" y="0"/>
            <a:chExt cx="4343400" cy="901700"/>
          </a:xfrm>
        </p:grpSpPr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D7EA5AFA-27B8-7D51-2C43-4AEE123E69C9}"/>
                </a:ext>
              </a:extLst>
            </p:cNvPr>
            <p:cNvSpPr/>
            <p:nvPr/>
          </p:nvSpPr>
          <p:spPr>
            <a:xfrm>
              <a:off x="0" y="0"/>
              <a:ext cx="4343400" cy="901700"/>
            </a:xfrm>
            <a:custGeom>
              <a:avLst/>
              <a:gdLst/>
              <a:ahLst/>
              <a:cxnLst/>
              <a:rect l="l" t="t" r="r" b="b"/>
              <a:pathLst>
                <a:path w="4343400" h="901700">
                  <a:moveTo>
                    <a:pt x="0" y="0"/>
                  </a:moveTo>
                  <a:lnTo>
                    <a:pt x="4343400" y="0"/>
                  </a:lnTo>
                  <a:lnTo>
                    <a:pt x="4343400" y="901700"/>
                  </a:lnTo>
                  <a:lnTo>
                    <a:pt x="0" y="901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1761692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E79383-AFA5-FF94-5056-5D5E4909A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Introducción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BD77AE5-8E48-FE4D-9D40-DFD222F16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s-MX" dirty="0"/>
              <a:t>El siguiente diagrama UML de clases muestra la estructura general de un sistema de control de asistencia con biometría, basado en reconocimiento facial y huella digital. El modelo representa las clases principales, sus atributos, métodos y relaciones, permitiendo visualizar cómo se organiza el sistema para validar usuarios, registrar asistencias, generar reportes y proteger los datos.</a:t>
            </a:r>
          </a:p>
        </p:txBody>
      </p:sp>
    </p:spTree>
    <p:extLst>
      <p:ext uri="{BB962C8B-B14F-4D97-AF65-F5344CB8AC3E}">
        <p14:creationId xmlns:p14="http://schemas.microsoft.com/office/powerpoint/2010/main" val="3787913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8D20DF-B468-7591-5D3C-8237A3FE3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7546" y="2007910"/>
            <a:ext cx="4986866" cy="220874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MX" dirty="0"/>
              <a:t>El diagrama muestra como clase principal a </a:t>
            </a:r>
            <a:r>
              <a:rPr lang="es-MX" b="1" dirty="0"/>
              <a:t>Usuario</a:t>
            </a:r>
            <a:r>
              <a:rPr lang="es-MX" dirty="0"/>
              <a:t>, que contiene los datos generales y las plantillas biométricas. De ella se derivan por herencia las clases </a:t>
            </a:r>
            <a:r>
              <a:rPr lang="es-MX" b="1" dirty="0"/>
              <a:t>Catedrático</a:t>
            </a:r>
            <a:r>
              <a:rPr lang="es-MX" dirty="0"/>
              <a:t> y </a:t>
            </a:r>
            <a:r>
              <a:rPr lang="es-MX" b="1" dirty="0"/>
              <a:t>Administrador</a:t>
            </a:r>
            <a:r>
              <a:rPr lang="es-MX" dirty="0"/>
              <a:t>, que agregan atributos y funciones específicas según su rol dentro del sistema.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E51A4D9-CC50-7FAA-ECC9-E84574326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80" y="281267"/>
            <a:ext cx="4026341" cy="393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29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EA0522-C368-C867-0DD5-4749B51E8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3106" y="2379717"/>
            <a:ext cx="5017892" cy="2547884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es-MX" dirty="0"/>
              <a:t>La clase </a:t>
            </a:r>
            <a:r>
              <a:rPr lang="es-MX" b="1" dirty="0"/>
              <a:t>Sistema </a:t>
            </a:r>
            <a:r>
              <a:rPr lang="es-MX" b="1" dirty="0" err="1"/>
              <a:t>Biometrico</a:t>
            </a:r>
            <a:r>
              <a:rPr lang="es-MX" dirty="0"/>
              <a:t> es el núcleo del proceso de autenticación, ya que se encarga de capturar rostro y huella, codificar la biometría, comparar plantillas y validar la identidad. Esta clase se relaciona con </a:t>
            </a:r>
            <a:r>
              <a:rPr lang="es-MX" b="1" dirty="0"/>
              <a:t>Control Asistencia</a:t>
            </a:r>
            <a:r>
              <a:rPr lang="es-MX" dirty="0"/>
              <a:t>, que registra entradas y salidas y calcula retardos, y con </a:t>
            </a:r>
            <a:r>
              <a:rPr lang="es-MX" b="1" dirty="0"/>
              <a:t>Base Datos</a:t>
            </a:r>
            <a:r>
              <a:rPr lang="es-MX" dirty="0"/>
              <a:t>, donde se almacenan usuarios, plantillas biométricas y registros de asistencia.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63BC72D-6744-32E2-10C4-48879DC5B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930400"/>
            <a:ext cx="4344006" cy="3496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93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2EA0D7D-0288-4C34-179B-5615B2518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0270" y="2155826"/>
            <a:ext cx="6324600" cy="264220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MX" dirty="0"/>
              <a:t>El </a:t>
            </a:r>
            <a:r>
              <a:rPr lang="es-MX" b="1" dirty="0"/>
              <a:t>Gestor Reportes</a:t>
            </a:r>
            <a:r>
              <a:rPr lang="es-MX" dirty="0"/>
              <a:t> consulta la información almacenada para generar y exportar reportes en diferentes formatos. Por su parte, </a:t>
            </a:r>
            <a:r>
              <a:rPr lang="es-MX" b="1" dirty="0"/>
              <a:t>Gestor Seguridad</a:t>
            </a:r>
            <a:r>
              <a:rPr lang="es-MX" dirty="0"/>
              <a:t> aplica políticas de protección, cifrado de plantillas y validación de accesos administrativos, asegurando el cumplimiento de normas de seguridad de datos. Las asociaciones, dependencias y relaciones de uso mostradas en el diagrama reflejan cómo cada módulo colabora para el funcionamiento completo del sistema.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3880E3A-577D-3B71-165F-CCCEEECA1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601" y="1760949"/>
            <a:ext cx="2086266" cy="152421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050DDF82-6CB4-55B1-07BA-8531840A5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85162"/>
            <a:ext cx="2887199" cy="163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8952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ED9C33-2FB2-6192-38CE-6F8382F25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Diagrama UML GENERAL 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7037CD35-135A-5FE3-62BB-6CB0B01655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69624" y="1272899"/>
            <a:ext cx="8615776" cy="5585101"/>
          </a:xfrm>
        </p:spPr>
      </p:pic>
    </p:spTree>
    <p:extLst>
      <p:ext uri="{BB962C8B-B14F-4D97-AF65-F5344CB8AC3E}">
        <p14:creationId xmlns:p14="http://schemas.microsoft.com/office/powerpoint/2010/main" val="3800807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05D634-59E8-381C-A5B7-D8F71D659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Conclusión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0DE4E72-0024-C1BC-C0FC-5DA68682D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s-MX" dirty="0"/>
              <a:t>El diagrama UML permite entender de forma clara la organización y funcionamiento del sistema biométrico de asistencia. Gracias a la separación de responsabilidades por clases y sus relaciones, se obtiene un diseño ordenado, seguro y fácil de implementar, que cubre autenticación, registro y gestión de información.</a:t>
            </a:r>
          </a:p>
        </p:txBody>
      </p:sp>
    </p:spTree>
    <p:extLst>
      <p:ext uri="{BB962C8B-B14F-4D97-AF65-F5344CB8AC3E}">
        <p14:creationId xmlns:p14="http://schemas.microsoft.com/office/powerpoint/2010/main" val="15236448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5EB4DD-C0CC-879D-B612-695F499DF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Anexo link de la actividad solicitada y subida a GitHub: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2570EF-8418-9140-DCEC-E40310D40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6495294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</TotalTime>
  <Words>390</Words>
  <Application>Microsoft Office PowerPoint</Application>
  <PresentationFormat>Panorámica</PresentationFormat>
  <Paragraphs>29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Arial</vt:lpstr>
      <vt:lpstr>Century Gothic</vt:lpstr>
      <vt:lpstr>Trebuchet MS</vt:lpstr>
      <vt:lpstr>Wingdings 3</vt:lpstr>
      <vt:lpstr>Faceta</vt:lpstr>
      <vt:lpstr>Presentación de PowerPoint</vt:lpstr>
      <vt:lpstr>Introducción </vt:lpstr>
      <vt:lpstr>Presentación de PowerPoint</vt:lpstr>
      <vt:lpstr>Presentación de PowerPoint</vt:lpstr>
      <vt:lpstr>Presentación de PowerPoint</vt:lpstr>
      <vt:lpstr>Diagrama UML GENERAL </vt:lpstr>
      <vt:lpstr>Conclusión </vt:lpstr>
      <vt:lpstr>Anexo link de la actividad solicitada y subida a GitHub: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 840 G5</dc:creator>
  <cp:lastModifiedBy>HP 840 G5</cp:lastModifiedBy>
  <cp:revision>2</cp:revision>
  <dcterms:created xsi:type="dcterms:W3CDTF">2026-02-15T01:25:39Z</dcterms:created>
  <dcterms:modified xsi:type="dcterms:W3CDTF">2026-02-15T01:45:23Z</dcterms:modified>
</cp:coreProperties>
</file>