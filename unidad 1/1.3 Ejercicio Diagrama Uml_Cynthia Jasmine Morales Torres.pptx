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5" r:id="rId4"/>
    <p:sldId id="260" r:id="rId5"/>
    <p:sldId id="261" r:id="rId6"/>
    <p:sldId id="262" r:id="rId7"/>
    <p:sldId id="258" r:id="rId8"/>
    <p:sldId id="264" r:id="rId9"/>
    <p:sldId id="259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868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753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8051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921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073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045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7350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086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965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661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0722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2677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1612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8968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614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1585C-2090-4FD9-ABD0-C88DDF43873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64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ynthia21Morales/Ingenieria_del_Software_CynthiaJasmineMT/blob/main/unidad%201/1.3%20Ejercicio%20Diagrama%20Uml_Cynthia%20Jasmine%20Morales%20Torres.ppt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9">
            <a:extLst>
              <a:ext uri="{FF2B5EF4-FFF2-40B4-BE49-F238E27FC236}">
                <a16:creationId xmlns:a16="http://schemas.microsoft.com/office/drawing/2014/main" id="{BC7F2AFD-229C-B153-E539-DCDEFA59ACEA}"/>
              </a:ext>
            </a:extLst>
          </p:cNvPr>
          <p:cNvSpPr txBox="1"/>
          <p:nvPr/>
        </p:nvSpPr>
        <p:spPr>
          <a:xfrm>
            <a:off x="6095998" y="2241273"/>
            <a:ext cx="3963221" cy="3024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5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Integrantes del proyecto:</a:t>
            </a:r>
            <a:r>
              <a:rPr lang="es-MX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s-MX" sz="15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Cynthia Jasmine Morales Torres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5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231260014</a:t>
            </a:r>
            <a:endParaRPr lang="es-MX" sz="1500" b="1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Ángel de Jesús Mazariegos Ortiz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5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231260003</a:t>
            </a:r>
            <a:endParaRPr lang="es-MX" sz="1500" b="1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Simone Belén López Ramírez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5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231260010</a:t>
            </a:r>
            <a:endParaRPr lang="es-MX" sz="1500" b="1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Luis Daniel Gómez Santizo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5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231260017</a:t>
            </a:r>
            <a:endParaRPr lang="es-MX" sz="1500" b="1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9E00AE5-3F52-1838-6C43-D8FC494BA01C}"/>
              </a:ext>
            </a:extLst>
          </p:cNvPr>
          <p:cNvSpPr txBox="1"/>
          <p:nvPr/>
        </p:nvSpPr>
        <p:spPr>
          <a:xfrm>
            <a:off x="1917761" y="691390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20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</a:t>
            </a:r>
            <a:r>
              <a:rPr 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Mixta</a:t>
            </a: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9EDD899C-B4D0-1763-7862-F280FC684372}"/>
              </a:ext>
            </a:extLst>
          </p:cNvPr>
          <p:cNvGrpSpPr/>
          <p:nvPr/>
        </p:nvGrpSpPr>
        <p:grpSpPr>
          <a:xfrm>
            <a:off x="382923" y="229932"/>
            <a:ext cx="2206166" cy="633097"/>
            <a:chOff x="0" y="0"/>
            <a:chExt cx="3073400" cy="1308100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BA406B12-1BC2-2D18-C4DF-DD04B4456F8F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US"/>
            </a:p>
          </p:txBody>
        </p:sp>
      </p:grpSp>
      <p:grpSp>
        <p:nvGrpSpPr>
          <p:cNvPr id="16" name="Group 4">
            <a:extLst>
              <a:ext uri="{FF2B5EF4-FFF2-40B4-BE49-F238E27FC236}">
                <a16:creationId xmlns:a16="http://schemas.microsoft.com/office/drawing/2014/main" id="{F20E39F3-9EFE-475A-FDB4-122BABD29ADF}"/>
              </a:ext>
            </a:extLst>
          </p:cNvPr>
          <p:cNvGrpSpPr/>
          <p:nvPr/>
        </p:nvGrpSpPr>
        <p:grpSpPr>
          <a:xfrm>
            <a:off x="9308827" y="16140"/>
            <a:ext cx="1407120" cy="961839"/>
            <a:chOff x="0" y="0"/>
            <a:chExt cx="1981200" cy="1625600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39F7FFA7-26E0-1216-7894-49EEDDCE0117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US"/>
            </a:p>
          </p:txBody>
        </p:sp>
      </p:grpSp>
      <p:grpSp>
        <p:nvGrpSpPr>
          <p:cNvPr id="18" name="Group 6">
            <a:extLst>
              <a:ext uri="{FF2B5EF4-FFF2-40B4-BE49-F238E27FC236}">
                <a16:creationId xmlns:a16="http://schemas.microsoft.com/office/drawing/2014/main" id="{31C23C2B-E56B-B769-56CD-66583AEAA3DE}"/>
              </a:ext>
            </a:extLst>
          </p:cNvPr>
          <p:cNvGrpSpPr/>
          <p:nvPr/>
        </p:nvGrpSpPr>
        <p:grpSpPr>
          <a:xfrm>
            <a:off x="3969750" y="229932"/>
            <a:ext cx="3489288" cy="461458"/>
            <a:chOff x="0" y="0"/>
            <a:chExt cx="4343400" cy="901700"/>
          </a:xfrm>
        </p:grpSpPr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D7EA5AFA-27B8-7D51-2C43-4AEE123E69C9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US"/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FA2F1973-C6C4-0E10-7E9A-C6CDD6203C56}"/>
              </a:ext>
            </a:extLst>
          </p:cNvPr>
          <p:cNvSpPr txBox="1"/>
          <p:nvPr/>
        </p:nvSpPr>
        <p:spPr>
          <a:xfrm>
            <a:off x="382923" y="1910413"/>
            <a:ext cx="6102848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5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Ingenieria del software </a:t>
            </a:r>
          </a:p>
          <a:p>
            <a:pPr algn="ctr"/>
            <a:endParaRPr lang="en-US" sz="15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5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5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/>
            <a:r>
              <a:rPr lang="en-US" sz="15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5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5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5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5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</a:t>
            </a:r>
            <a:r>
              <a:rPr lang="en-US" sz="15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/>
            <a:r>
              <a:rPr lang="en-US" sz="15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</a:t>
            </a:r>
            <a:r>
              <a:rPr lang="en-US" sz="15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Sistemas </a:t>
            </a:r>
            <a:r>
              <a:rPr lang="en-US" sz="15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Computacionales</a:t>
            </a:r>
            <a:r>
              <a:rPr lang="en-US" sz="15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ctr"/>
            <a:endParaRPr lang="en-US" sz="15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5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5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docente</a:t>
            </a:r>
            <a:r>
              <a:rPr lang="en-US" sz="15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/>
            <a:r>
              <a:rPr lang="en-US" sz="15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5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5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5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trabajo</a:t>
            </a:r>
            <a:r>
              <a:rPr lang="en-US" sz="15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/>
            <a:r>
              <a:rPr lang="en-US" sz="15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1.1 Mapa mental</a:t>
            </a:r>
          </a:p>
          <a:p>
            <a:pPr algn="ctr"/>
            <a:endParaRPr lang="en-US" sz="15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5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Fecha</a:t>
            </a:r>
            <a:r>
              <a:rPr lang="en-US" sz="15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5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entrega</a:t>
            </a:r>
            <a:r>
              <a:rPr lang="en-US" sz="15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/>
            <a:r>
              <a:rPr lang="en-US" sz="15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06/02/2026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F7CFD71-1FDB-0B9B-AF91-5A7AC4F4B655}"/>
              </a:ext>
            </a:extLst>
          </p:cNvPr>
          <p:cNvSpPr txBox="1"/>
          <p:nvPr/>
        </p:nvSpPr>
        <p:spPr>
          <a:xfrm>
            <a:off x="3143892" y="6436687"/>
            <a:ext cx="635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Frontera Comalapa, Chiapas. A 06 de </a:t>
            </a:r>
            <a:r>
              <a:rPr lang="en-US" sz="18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febrero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61692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79383-AFA5-FF94-5056-5D5E4909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07185" y="847760"/>
            <a:ext cx="8596668" cy="1320800"/>
          </a:xfrm>
        </p:spPr>
        <p:txBody>
          <a:bodyPr/>
          <a:lstStyle/>
          <a:p>
            <a:pPr algn="ctr"/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D77AE5-8E48-FE4D-9D40-DFD222F16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998" y="1735435"/>
            <a:ext cx="8596668" cy="3880773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/>
              <a:t>El siguiente diagrama UML de clases muestra la estructura general de un sistema de control de asistencia con biometría, basado en reconocimiento facial y huella digital. El modelo representa las clases principales, sus atributos, métodos y relaciones, permitiendo visualizar cómo se organiza el sistema para validar usuarios, registrar asistencias, generar reportes y proteger los datos.</a:t>
            </a:r>
            <a:r>
              <a:rPr lang="es-US" dirty="0"/>
              <a:t> El sistema presentado consiste en una solución integral de reloj chocador biométrico diseñada para la gestión de asistencia y seguridad de datos. El núcleo del sistema se basa en el modelo de clases UML, donde la clase principal, Usuario, centraliza los datos generales y las plantillas biométricas (rostro y huella). A través de una arquitectura de herencia, el sistema distingue roles específicos como el de Catedrático, encargado de registrar entradas y salidas, y el de Administrador, responsable de la gestión de usuarios y la configuración global del sistema.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8791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28D5E-6341-6D21-830D-E4F7D108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4A7264-61B6-1E6E-6FC8-A60ED15BB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5694"/>
            <a:ext cx="8596668" cy="5255145"/>
          </a:xfrm>
        </p:spPr>
        <p:txBody>
          <a:bodyPr/>
          <a:lstStyle/>
          <a:p>
            <a:pPr marL="0" indent="0" algn="just">
              <a:buNone/>
            </a:pPr>
            <a:r>
              <a:rPr lang="es-US" dirty="0"/>
              <a:t>La implementación de este sistema se justifica por la necesidad de modernizar y asegurar los procesos de control de personal mediante las siguientes ventajas:</a:t>
            </a:r>
          </a:p>
          <a:p>
            <a:pPr marL="0" indent="0" algn="just">
              <a:buNone/>
            </a:pPr>
            <a:r>
              <a:rPr lang="es-US" dirty="0"/>
              <a:t>Precisión en la Identificación: Al utilizar biometría (rostro y huella), el sistema garantiza que la identidad del usuario sea única e intransferible, evitando fraudes en el registro de asistencia. </a:t>
            </a:r>
          </a:p>
          <a:p>
            <a:pPr marL="0" indent="0" algn="just">
              <a:buNone/>
            </a:pPr>
            <a:r>
              <a:rPr lang="es-US" dirty="0"/>
              <a:t>Automatización Administrativa: La clase </a:t>
            </a:r>
            <a:r>
              <a:rPr lang="es-US" dirty="0" err="1"/>
              <a:t>ControlAsistencia</a:t>
            </a:r>
            <a:r>
              <a:rPr lang="es-US" dirty="0"/>
              <a:t> permite calcular automáticamente los retardos basados en una </a:t>
            </a:r>
            <a:r>
              <a:rPr lang="es-US" dirty="0" err="1"/>
              <a:t>toleranciaMinutos</a:t>
            </a:r>
            <a:r>
              <a:rPr lang="es-US" dirty="0"/>
              <a:t>, reduciendo la carga de trabajo manual y el margen de error humano. </a:t>
            </a:r>
          </a:p>
          <a:p>
            <a:pPr marL="0" indent="0" algn="just">
              <a:buNone/>
            </a:pPr>
            <a:r>
              <a:rPr lang="es-US" dirty="0"/>
              <a:t>Seguridad y Cumplimiento: El uso de un </a:t>
            </a:r>
            <a:r>
              <a:rPr lang="es-US" dirty="0" err="1"/>
              <a:t>GestorSeguridad</a:t>
            </a:r>
            <a:r>
              <a:rPr lang="es-US" dirty="0"/>
              <a:t> permite aplicar políticas de cifrado a las plantillas biométricas y validar accesos administrativos, asegurando que la información sensible esté protegida bajo normas de seguridad de datos.</a:t>
            </a:r>
          </a:p>
          <a:p>
            <a:pPr marL="0" indent="0" algn="just">
              <a:buNone/>
            </a:pPr>
            <a:r>
              <a:rPr lang="es-US" dirty="0"/>
              <a:t>Toma de Decisiones Informada: El Gestor de Reportes permite transformar los datos crudos en documentos PDF o Excel, facilitando el análisis de puntualidad y asistencia por parte de los directivos. </a:t>
            </a:r>
          </a:p>
          <a:p>
            <a:pPr marL="0" indent="0" algn="just">
              <a:buNone/>
            </a:pPr>
            <a:endParaRPr lang="es-US" dirty="0"/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900904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D20DF-B468-7591-5D3C-8237A3FE3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546" y="2007910"/>
            <a:ext cx="4986866" cy="220874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El diagrama muestra como clase principal a </a:t>
            </a:r>
            <a:r>
              <a:rPr lang="es-MX" b="1" dirty="0"/>
              <a:t>Usuario</a:t>
            </a:r>
            <a:r>
              <a:rPr lang="es-MX" dirty="0"/>
              <a:t>, que contiene los datos generales y las plantillas biométricas. De ella se derivan por herencia las clases </a:t>
            </a:r>
            <a:r>
              <a:rPr lang="es-MX" b="1" dirty="0"/>
              <a:t>Catedrático</a:t>
            </a:r>
            <a:r>
              <a:rPr lang="es-MX" dirty="0"/>
              <a:t> y </a:t>
            </a:r>
            <a:r>
              <a:rPr lang="es-MX" b="1" dirty="0"/>
              <a:t>Administrador</a:t>
            </a:r>
            <a:r>
              <a:rPr lang="es-MX" dirty="0"/>
              <a:t>, que agregan atributos y funciones específicas según su rol dentro del sistema.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51A4D9-CC50-7FAA-ECC9-E84574326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0" y="281267"/>
            <a:ext cx="4026341" cy="393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95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EA0522-C368-C867-0DD5-4749B51E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3106" y="2379717"/>
            <a:ext cx="5017892" cy="254788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dirty="0"/>
              <a:t>La clase </a:t>
            </a:r>
            <a:r>
              <a:rPr lang="es-MX" b="1" dirty="0"/>
              <a:t>Sistema </a:t>
            </a:r>
            <a:r>
              <a:rPr lang="es-MX" b="1" dirty="0" err="1"/>
              <a:t>Biometrico</a:t>
            </a:r>
            <a:r>
              <a:rPr lang="es-MX" dirty="0"/>
              <a:t> es el núcleo del proceso de autenticación, ya que se encarga de capturar rostro y huella, codificar la biometría, comparar plantillas y validar la identidad. Esta clase se relaciona con </a:t>
            </a:r>
            <a:r>
              <a:rPr lang="es-MX" b="1" dirty="0"/>
              <a:t>Control Asistencia</a:t>
            </a:r>
            <a:r>
              <a:rPr lang="es-MX" dirty="0"/>
              <a:t>, que registra entradas y salidas y calcula retardos, y con </a:t>
            </a:r>
            <a:r>
              <a:rPr lang="es-MX" b="1" dirty="0"/>
              <a:t>Base Datos</a:t>
            </a:r>
            <a:r>
              <a:rPr lang="es-MX" dirty="0"/>
              <a:t>, donde se almacenan usuarios, plantillas biométricas y registros de asistencia.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3BC72D-6744-32E2-10C4-48879DC5B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930400"/>
            <a:ext cx="4344006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9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EA0D7D-0288-4C34-179B-5615B251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0270" y="2155826"/>
            <a:ext cx="6324600" cy="264220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El </a:t>
            </a:r>
            <a:r>
              <a:rPr lang="es-MX" b="1" dirty="0"/>
              <a:t>Gestor Reportes</a:t>
            </a:r>
            <a:r>
              <a:rPr lang="es-MX" dirty="0"/>
              <a:t> consulta la información almacenada para generar y exportar reportes en diferentes formatos. Por su parte, </a:t>
            </a:r>
            <a:r>
              <a:rPr lang="es-MX" b="1" dirty="0"/>
              <a:t>Gestor Seguridad</a:t>
            </a:r>
            <a:r>
              <a:rPr lang="es-MX" dirty="0"/>
              <a:t> aplica políticas de protección, cifrado de plantillas y validación de accesos administrativos, asegurando el cumplimiento de normas de seguridad de datos. Las asociaciones, dependencias y relaciones de uso mostradas en el diagrama reflejan cómo cada módulo colabora para el funcionamiento completo del sistema.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3880E3A-577D-3B71-165F-CCCEEECA1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601" y="1760949"/>
            <a:ext cx="2086266" cy="152421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50DDF82-6CB4-55B1-07BA-8531840A5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85162"/>
            <a:ext cx="2887199" cy="163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95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D9C33-2FB2-6192-38CE-6F8382F2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Diagrama UML GENERAL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037CD35-135A-5FE3-62BB-6CB0B0165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624" y="1272899"/>
            <a:ext cx="8615776" cy="5585101"/>
          </a:xfrm>
        </p:spPr>
      </p:pic>
    </p:spTree>
    <p:extLst>
      <p:ext uri="{BB962C8B-B14F-4D97-AF65-F5344CB8AC3E}">
        <p14:creationId xmlns:p14="http://schemas.microsoft.com/office/powerpoint/2010/main" val="380080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EB1B3451-1200-D031-E0C9-FC663DCF7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10" y="251148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US" sz="2800" dirty="0">
                <a:solidFill>
                  <a:srgbClr val="92D050"/>
                </a:solidFill>
              </a:rPr>
              <a:t>Diagrama de Casos de Uso (UML)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F1023B7-869D-9B20-A9A5-A3441E5D4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900" y="977218"/>
            <a:ext cx="4750487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40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5D634-59E8-381C-A5B7-D8F71D659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DE4E72-0024-C1BC-C0FC-5DA68682D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9612"/>
            <a:ext cx="8596668" cy="3918775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/>
              <a:t>El diagrama UML permite entender de forma clara la organización y funcionamiento del sistema biométrico de asistencia. Gracias a la separación de responsabilidades por clases y sus relaciones, se obtiene un diseño ordenado, seguro y fácil de implementar, que cubre autenticación, registro y gestión de información</a:t>
            </a:r>
            <a:r>
              <a:rPr lang="es-US" dirty="0"/>
              <a:t>. ​El diseño del sistema de control biométrico demuestra una estructura robusta y escalable bajo el paradigma de orientación a objetos. La integración de clases especializadas permite no solo el registro eficiente de la jornada laboral de los catedráticos, sino también una gestión administrativa centralizada y segura.  La información de los usuarios y su biometría en una base de datos estructurada. Esta solución tecnológica representa un avance significativo en la eficiencia operativa y la seguridad institucional, cumpliendo con los requerimientos técnicos y funcionales descritos en los diagramas de casos de uso y clases. 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23644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EB4DD-C0CC-879D-B612-695F499D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Anexo link de la actividad solicitada y subida a GitHub: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2570EF-8418-9140-DCEC-E40310D40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962755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hlinkClick r:id="rId2"/>
              </a:rPr>
              <a:t>https://github.com/Cynthia21Morales/Ingenieria_del_Software_CynthiaJasmineMT/blob/main/unidad%201/1.3%20Ejercicio%20Diagrama%20Uml_Cynthia%20Jasmine%20Morales%20Torres.pptx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49529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803</Words>
  <Application>Microsoft Office PowerPoint</Application>
  <PresentationFormat>Panorámica</PresentationFormat>
  <Paragraphs>46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Trebuchet MS</vt:lpstr>
      <vt:lpstr>Wingdings 3</vt:lpstr>
      <vt:lpstr>Faceta</vt:lpstr>
      <vt:lpstr>Presentación de PowerPoint</vt:lpstr>
      <vt:lpstr>Introducción </vt:lpstr>
      <vt:lpstr>Justificación </vt:lpstr>
      <vt:lpstr>Presentación de PowerPoint</vt:lpstr>
      <vt:lpstr>Presentación de PowerPoint</vt:lpstr>
      <vt:lpstr>Presentación de PowerPoint</vt:lpstr>
      <vt:lpstr>Diagrama UML GENERAL </vt:lpstr>
      <vt:lpstr>Presentación de PowerPoint</vt:lpstr>
      <vt:lpstr>Conclusión </vt:lpstr>
      <vt:lpstr>Anexo link de la actividad solicitada y subida a GitHub: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 840 G5</dc:creator>
  <cp:lastModifiedBy>HP 840 G5</cp:lastModifiedBy>
  <cp:revision>6</cp:revision>
  <dcterms:created xsi:type="dcterms:W3CDTF">2026-02-15T01:25:39Z</dcterms:created>
  <dcterms:modified xsi:type="dcterms:W3CDTF">2026-02-15T03:22:35Z</dcterms:modified>
</cp:coreProperties>
</file>