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60" r:id="rId4"/>
    <p:sldId id="261" r:id="rId5"/>
    <p:sldId id="262" r:id="rId6"/>
    <p:sldId id="258" r:id="rId7"/>
    <p:sldId id="264" r:id="rId8"/>
    <p:sldId id="259" r:id="rId9"/>
    <p:sldId id="263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300" y="-5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28688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697531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1180515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99212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80739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60458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2573505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808676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2596579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666162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607225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426775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la 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916129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735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9889689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361407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0640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ynthia21Morales/Ingenieria_del_Software_CynthiaJasmineMT/blob/main/unidad%201/1.3%20Ejercicio%20Diagrama%20Uml_Cynthia%20Jasmine%20Morales%20Torres.pptx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9">
            <a:extLst>
              <a:ext uri="{FF2B5EF4-FFF2-40B4-BE49-F238E27FC236}">
                <a16:creationId xmlns:a16="http://schemas.microsoft.com/office/drawing/2014/main" id="{BC7F2AFD-229C-B153-E539-DCDEFA59ACEA}"/>
              </a:ext>
            </a:extLst>
          </p:cNvPr>
          <p:cNvSpPr txBox="1"/>
          <p:nvPr/>
        </p:nvSpPr>
        <p:spPr>
          <a:xfrm>
            <a:off x="2513583" y="2414712"/>
            <a:ext cx="7164833" cy="44319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Materia: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Ingenieria del software </a:t>
            </a:r>
          </a:p>
          <a:p>
            <a:pPr algn="ctr"/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Semestre</a:t>
            </a:r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 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Sexto </a:t>
            </a:r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semestre</a:t>
            </a:r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</a:t>
            </a:r>
          </a:p>
          <a:p>
            <a:pPr algn="ctr"/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Especialidad</a:t>
            </a:r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Ingeniería </a:t>
            </a:r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en</a:t>
            </a:r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Sistemas </a:t>
            </a:r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Computacionales</a:t>
            </a:r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.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Numero</a:t>
            </a:r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de control: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231260014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Nombre del </a:t>
            </a:r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alumno</a:t>
            </a:r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Cynthia Jasmine Morales Torres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Nombre del </a:t>
            </a:r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docente</a:t>
            </a:r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 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Ing. Francisco Javier Mingo Velazquez 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Nombre del </a:t>
            </a:r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trabajo</a:t>
            </a:r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1.1 Mapa mental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Fecha</a:t>
            </a:r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de </a:t>
            </a:r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entrega</a:t>
            </a:r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</a:t>
            </a:r>
          </a:p>
          <a:p>
            <a:pPr algn="ctr"/>
            <a:endParaRPr lang="en-US" sz="1600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endParaRPr lang="en-US" sz="1600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Frontera Comalapa, Chiapas. A 06 de </a:t>
            </a:r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febrero</a:t>
            </a:r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del 2026</a:t>
            </a:r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79E00AE5-3F52-1838-6C43-D8FC494BA01C}"/>
              </a:ext>
            </a:extLst>
          </p:cNvPr>
          <p:cNvSpPr txBox="1"/>
          <p:nvPr/>
        </p:nvSpPr>
        <p:spPr>
          <a:xfrm>
            <a:off x="1917762" y="1336472"/>
            <a:ext cx="8356475" cy="7092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08"/>
              </a:lnSpc>
            </a:pPr>
            <a:r>
              <a:rPr lang="en-US" sz="20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Instituto Tecnológico de Frontera Comalapa </a:t>
            </a:r>
          </a:p>
          <a:p>
            <a:pPr algn="ctr">
              <a:lnSpc>
                <a:spcPts val="2908"/>
              </a:lnSpc>
            </a:pPr>
            <a:r>
              <a:rPr lang="en-US" sz="20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Modalidad</a:t>
            </a:r>
            <a:r>
              <a:rPr lang="en-US" sz="20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Mixta</a:t>
            </a:r>
          </a:p>
        </p:txBody>
      </p:sp>
      <p:grpSp>
        <p:nvGrpSpPr>
          <p:cNvPr id="14" name="Group 2">
            <a:extLst>
              <a:ext uri="{FF2B5EF4-FFF2-40B4-BE49-F238E27FC236}">
                <a16:creationId xmlns:a16="http://schemas.microsoft.com/office/drawing/2014/main" id="{9EDD899C-B4D0-1763-7862-F280FC684372}"/>
              </a:ext>
            </a:extLst>
          </p:cNvPr>
          <p:cNvGrpSpPr/>
          <p:nvPr/>
        </p:nvGrpSpPr>
        <p:grpSpPr>
          <a:xfrm>
            <a:off x="382922" y="229932"/>
            <a:ext cx="2709599" cy="1198176"/>
            <a:chOff x="0" y="0"/>
            <a:chExt cx="3073400" cy="1308100"/>
          </a:xfrm>
        </p:grpSpPr>
        <p:sp>
          <p:nvSpPr>
            <p:cNvPr id="15" name="Freeform 3">
              <a:extLst>
                <a:ext uri="{FF2B5EF4-FFF2-40B4-BE49-F238E27FC236}">
                  <a16:creationId xmlns:a16="http://schemas.microsoft.com/office/drawing/2014/main" id="{BA406B12-1BC2-2D18-C4DF-DD04B4456F8F}"/>
                </a:ext>
              </a:extLst>
            </p:cNvPr>
            <p:cNvSpPr/>
            <p:nvPr/>
          </p:nvSpPr>
          <p:spPr>
            <a:xfrm>
              <a:off x="0" y="0"/>
              <a:ext cx="3073400" cy="1308100"/>
            </a:xfrm>
            <a:custGeom>
              <a:avLst/>
              <a:gdLst/>
              <a:ahLst/>
              <a:cxnLst/>
              <a:rect l="l" t="t" r="r" b="b"/>
              <a:pathLst>
                <a:path w="3073400" h="1308100">
                  <a:moveTo>
                    <a:pt x="0" y="0"/>
                  </a:moveTo>
                  <a:lnTo>
                    <a:pt x="3073400" y="0"/>
                  </a:lnTo>
                  <a:lnTo>
                    <a:pt x="3073400" y="1308100"/>
                  </a:lnTo>
                  <a:lnTo>
                    <a:pt x="0" y="130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6" name="Group 4">
            <a:extLst>
              <a:ext uri="{FF2B5EF4-FFF2-40B4-BE49-F238E27FC236}">
                <a16:creationId xmlns:a16="http://schemas.microsoft.com/office/drawing/2014/main" id="{F20E39F3-9EFE-475A-FDB4-122BABD29ADF}"/>
              </a:ext>
            </a:extLst>
          </p:cNvPr>
          <p:cNvGrpSpPr/>
          <p:nvPr/>
        </p:nvGrpSpPr>
        <p:grpSpPr>
          <a:xfrm>
            <a:off x="9647873" y="168318"/>
            <a:ext cx="1978801" cy="1598293"/>
            <a:chOff x="0" y="0"/>
            <a:chExt cx="1981200" cy="1625600"/>
          </a:xfrm>
        </p:grpSpPr>
        <p:sp>
          <p:nvSpPr>
            <p:cNvPr id="17" name="Freeform 5">
              <a:extLst>
                <a:ext uri="{FF2B5EF4-FFF2-40B4-BE49-F238E27FC236}">
                  <a16:creationId xmlns:a16="http://schemas.microsoft.com/office/drawing/2014/main" id="{39F7FFA7-26E0-1216-7894-49EEDDCE0117}"/>
                </a:ext>
              </a:extLst>
            </p:cNvPr>
            <p:cNvSpPr/>
            <p:nvPr/>
          </p:nvSpPr>
          <p:spPr>
            <a:xfrm>
              <a:off x="0" y="0"/>
              <a:ext cx="1981200" cy="1625600"/>
            </a:xfrm>
            <a:custGeom>
              <a:avLst/>
              <a:gdLst/>
              <a:ahLst/>
              <a:cxnLst/>
              <a:rect l="l" t="t" r="r" b="b"/>
              <a:pathLst>
                <a:path w="1981200" h="1625600">
                  <a:moveTo>
                    <a:pt x="0" y="0"/>
                  </a:moveTo>
                  <a:lnTo>
                    <a:pt x="1981200" y="0"/>
                  </a:lnTo>
                  <a:lnTo>
                    <a:pt x="1981200" y="1625600"/>
                  </a:lnTo>
                  <a:lnTo>
                    <a:pt x="0" y="1625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8" name="Group 6">
            <a:extLst>
              <a:ext uri="{FF2B5EF4-FFF2-40B4-BE49-F238E27FC236}">
                <a16:creationId xmlns:a16="http://schemas.microsoft.com/office/drawing/2014/main" id="{31C23C2B-E56B-B769-56CD-66583AEAA3DE}"/>
              </a:ext>
            </a:extLst>
          </p:cNvPr>
          <p:cNvGrpSpPr/>
          <p:nvPr/>
        </p:nvGrpSpPr>
        <p:grpSpPr>
          <a:xfrm>
            <a:off x="3815638" y="339926"/>
            <a:ext cx="4338142" cy="886553"/>
            <a:chOff x="0" y="0"/>
            <a:chExt cx="4343400" cy="901700"/>
          </a:xfrm>
        </p:grpSpPr>
        <p:sp>
          <p:nvSpPr>
            <p:cNvPr id="19" name="Freeform 7">
              <a:extLst>
                <a:ext uri="{FF2B5EF4-FFF2-40B4-BE49-F238E27FC236}">
                  <a16:creationId xmlns:a16="http://schemas.microsoft.com/office/drawing/2014/main" id="{D7EA5AFA-27B8-7D51-2C43-4AEE123E69C9}"/>
                </a:ext>
              </a:extLst>
            </p:cNvPr>
            <p:cNvSpPr/>
            <p:nvPr/>
          </p:nvSpPr>
          <p:spPr>
            <a:xfrm>
              <a:off x="0" y="0"/>
              <a:ext cx="4343400" cy="901700"/>
            </a:xfrm>
            <a:custGeom>
              <a:avLst/>
              <a:gdLst/>
              <a:ahLst/>
              <a:cxnLst/>
              <a:rect l="l" t="t" r="r" b="b"/>
              <a:pathLst>
                <a:path w="4343400" h="901700">
                  <a:moveTo>
                    <a:pt x="0" y="0"/>
                  </a:moveTo>
                  <a:lnTo>
                    <a:pt x="4343400" y="0"/>
                  </a:lnTo>
                  <a:lnTo>
                    <a:pt x="4343400" y="901700"/>
                  </a:lnTo>
                  <a:lnTo>
                    <a:pt x="0" y="901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</p:spTree>
    <p:extLst>
      <p:ext uri="{BB962C8B-B14F-4D97-AF65-F5344CB8AC3E}">
        <p14:creationId xmlns:p14="http://schemas.microsoft.com/office/powerpoint/2010/main" val="17616924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E79383-AFA5-FF94-5056-5D5E4909A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Introducción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BD77AE5-8E48-FE4D-9D40-DFD222F16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s-MX" dirty="0"/>
              <a:t>El siguiente diagrama UML de clases muestra la estructura general de un sistema de control de asistencia con biometría, basado en reconocimiento facial y huella digital. El modelo representa las clases principales, sus atributos, métodos y relaciones, permitiendo visualizar cómo se organiza el sistema para validar usuarios, registrar asistencias, generar reportes y proteger los datos.</a:t>
            </a:r>
          </a:p>
        </p:txBody>
      </p:sp>
    </p:spTree>
    <p:extLst>
      <p:ext uri="{BB962C8B-B14F-4D97-AF65-F5344CB8AC3E}">
        <p14:creationId xmlns:p14="http://schemas.microsoft.com/office/powerpoint/2010/main" val="37879137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F8D20DF-B468-7591-5D3C-8237A3FE32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07546" y="2007910"/>
            <a:ext cx="4986866" cy="2208741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s-MX" dirty="0"/>
              <a:t>El diagrama muestra como clase principal a </a:t>
            </a:r>
            <a:r>
              <a:rPr lang="es-MX" b="1" dirty="0"/>
              <a:t>Usuario</a:t>
            </a:r>
            <a:r>
              <a:rPr lang="es-MX" dirty="0"/>
              <a:t>, que contiene los datos generales y las plantillas biométricas. De ella se derivan por herencia las clases </a:t>
            </a:r>
            <a:r>
              <a:rPr lang="es-MX" b="1" dirty="0"/>
              <a:t>Catedrático</a:t>
            </a:r>
            <a:r>
              <a:rPr lang="es-MX" dirty="0"/>
              <a:t> y </a:t>
            </a:r>
            <a:r>
              <a:rPr lang="es-MX" b="1" dirty="0"/>
              <a:t>Administrador</a:t>
            </a:r>
            <a:r>
              <a:rPr lang="es-MX" dirty="0"/>
              <a:t>, que agregan atributos y funciones específicas según su rol dentro del sistema.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E51A4D9-CC50-7FAA-ECC9-E84574326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480" y="281267"/>
            <a:ext cx="4026341" cy="3935384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F6FF9C05-555E-0F7F-0B71-8A0252CB4E9F}"/>
              </a:ext>
            </a:extLst>
          </p:cNvPr>
          <p:cNvSpPr txBox="1"/>
          <p:nvPr/>
        </p:nvSpPr>
        <p:spPr>
          <a:xfrm>
            <a:off x="4982966" y="205483"/>
            <a:ext cx="44178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Comenzamos con nuestro primer diagrama UML</a:t>
            </a:r>
          </a:p>
        </p:txBody>
      </p:sp>
    </p:spTree>
    <p:extLst>
      <p:ext uri="{BB962C8B-B14F-4D97-AF65-F5344CB8AC3E}">
        <p14:creationId xmlns:p14="http://schemas.microsoft.com/office/powerpoint/2010/main" val="7362959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5EA0522-C368-C867-0DD5-4749B51E8F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3106" y="2379717"/>
            <a:ext cx="5017892" cy="2547884"/>
          </a:xfrm>
        </p:spPr>
        <p:txBody>
          <a:bodyPr>
            <a:normAutofit lnSpcReduction="10000"/>
          </a:bodyPr>
          <a:lstStyle/>
          <a:p>
            <a:pPr marL="0" indent="0" algn="just">
              <a:buNone/>
            </a:pPr>
            <a:r>
              <a:rPr lang="es-MX" dirty="0"/>
              <a:t>La clase </a:t>
            </a:r>
            <a:r>
              <a:rPr lang="es-MX" b="1" dirty="0"/>
              <a:t>Sistema </a:t>
            </a:r>
            <a:r>
              <a:rPr lang="es-MX" b="1" dirty="0" err="1"/>
              <a:t>Biometrico</a:t>
            </a:r>
            <a:r>
              <a:rPr lang="es-MX" dirty="0"/>
              <a:t> es el núcleo del proceso de autenticación, ya que se encarga de capturar rostro y huella, codificar la biometría, comparar plantillas y validar la identidad. Esta clase se relaciona con </a:t>
            </a:r>
            <a:r>
              <a:rPr lang="es-MX" b="1" dirty="0"/>
              <a:t>Control Asistencia</a:t>
            </a:r>
            <a:r>
              <a:rPr lang="es-MX" dirty="0"/>
              <a:t>, que registra entradas y salidas y calcula retardos, y con </a:t>
            </a:r>
            <a:r>
              <a:rPr lang="es-MX" b="1" dirty="0"/>
              <a:t>Base Datos</a:t>
            </a:r>
            <a:r>
              <a:rPr lang="es-MX" dirty="0"/>
              <a:t>, donde se almacenan usuarios, plantillas biométricas y registros de asistencia.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63BC72D-6744-32E2-10C4-48879DC5BB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1930400"/>
            <a:ext cx="4344006" cy="3496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0930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2EA0D7D-0288-4C34-179B-5615B2518D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0270" y="2155826"/>
            <a:ext cx="6324600" cy="2642206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s-MX" dirty="0"/>
              <a:t>El </a:t>
            </a:r>
            <a:r>
              <a:rPr lang="es-MX" b="1" dirty="0"/>
              <a:t>Gestor Reportes</a:t>
            </a:r>
            <a:r>
              <a:rPr lang="es-MX" dirty="0"/>
              <a:t> consulta la información almacenada para generar y exportar reportes en diferentes formatos. Por su parte, </a:t>
            </a:r>
            <a:r>
              <a:rPr lang="es-MX" b="1" dirty="0"/>
              <a:t>Gestor Seguridad</a:t>
            </a:r>
            <a:r>
              <a:rPr lang="es-MX" dirty="0"/>
              <a:t> aplica políticas de protección, cifrado de plantillas y validación de accesos administrativos, asegurando el cumplimiento de normas de seguridad de datos. Las asociaciones, dependencias y relaciones de uso mostradas en el diagrama reflejan cómo cada módulo colabora para el funcionamiento completo del sistema.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3880E3A-577D-3B71-165F-CCCEEECA1A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601" y="1760949"/>
            <a:ext cx="2086266" cy="152421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050DDF82-6CB4-55B1-07BA-8531840A5D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85162"/>
            <a:ext cx="2887199" cy="1639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8952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ED9C33-2FB2-6192-38CE-6F8382F25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Diagrama UML GENERAL 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7037CD35-135A-5FE3-62BB-6CB0B01655A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69624" y="1272899"/>
            <a:ext cx="8615776" cy="5585101"/>
          </a:xfrm>
        </p:spPr>
      </p:pic>
    </p:spTree>
    <p:extLst>
      <p:ext uri="{BB962C8B-B14F-4D97-AF65-F5344CB8AC3E}">
        <p14:creationId xmlns:p14="http://schemas.microsoft.com/office/powerpoint/2010/main" val="3800807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DE34CD-9F2E-ADA7-F6F9-6EA0F920F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Segundo diagrama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2961B0EA-82DC-6F76-65E5-D692C375CC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7090" y="1270000"/>
            <a:ext cx="4234431" cy="5144834"/>
          </a:xfrm>
        </p:spPr>
      </p:pic>
    </p:spTree>
    <p:extLst>
      <p:ext uri="{BB962C8B-B14F-4D97-AF65-F5344CB8AC3E}">
        <p14:creationId xmlns:p14="http://schemas.microsoft.com/office/powerpoint/2010/main" val="13679064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05D634-59E8-381C-A5B7-D8F71D659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Conclusión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0DE4E72-0024-C1BC-C0FC-5DA68682D8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s-MX" dirty="0"/>
              <a:t>El diagrama UML permite entender de forma clara la organización y funcionamiento del sistema biométrico de asistencia. Gracias a la separación de responsabilidades por clases y sus relaciones, se obtiene un diseño ordenado, seguro y fácil de implementar, que cubre autenticación, registro y gestión de información.</a:t>
            </a:r>
          </a:p>
        </p:txBody>
      </p:sp>
    </p:spTree>
    <p:extLst>
      <p:ext uri="{BB962C8B-B14F-4D97-AF65-F5344CB8AC3E}">
        <p14:creationId xmlns:p14="http://schemas.microsoft.com/office/powerpoint/2010/main" val="1523644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5EB4DD-C0CC-879D-B612-695F499DF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Anexo link de la actividad solicitada y subida a GitHub: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D2570EF-8418-9140-DCEC-E40310D403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962755"/>
          </a:xfrm>
        </p:spPr>
        <p:txBody>
          <a:bodyPr/>
          <a:lstStyle/>
          <a:p>
            <a:pPr marL="0" indent="0">
              <a:buNone/>
            </a:pPr>
            <a:r>
              <a:rPr lang="es-MX" dirty="0">
                <a:hlinkClick r:id="rId2"/>
              </a:rPr>
              <a:t>https://github.com/Cynthia21Morales/Ingenieria_del_Software_CynthiaJasmineMT/blob/main/unidad%201/1.3%20Ejercicio%20Diagrama%20Uml_Cynthia%20Jasmine%20Morales%20Torres.pptx</a:t>
            </a: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964952945"/>
      </p:ext>
    </p:extLst>
  </p:cSld>
  <p:clrMapOvr>
    <a:masterClrMapping/>
  </p:clrMapOvr>
</p:sld>
</file>

<file path=ppt/theme/theme1.xml><?xml version="1.0" encoding="utf-8"?>
<a:theme xmlns:a="http://schemas.openxmlformats.org/drawingml/2006/main" name="Faceta">
  <a:themeElements>
    <a:clrScheme name="Facet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40</TotalTime>
  <Words>435</Words>
  <Application>Microsoft Office PowerPoint</Application>
  <PresentationFormat>Panorámica</PresentationFormat>
  <Paragraphs>32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4" baseType="lpstr">
      <vt:lpstr>Arial</vt:lpstr>
      <vt:lpstr>Century Gothic</vt:lpstr>
      <vt:lpstr>Trebuchet MS</vt:lpstr>
      <vt:lpstr>Wingdings 3</vt:lpstr>
      <vt:lpstr>Faceta</vt:lpstr>
      <vt:lpstr>Presentación de PowerPoint</vt:lpstr>
      <vt:lpstr>Introducción </vt:lpstr>
      <vt:lpstr>Presentación de PowerPoint</vt:lpstr>
      <vt:lpstr>Presentación de PowerPoint</vt:lpstr>
      <vt:lpstr>Presentación de PowerPoint</vt:lpstr>
      <vt:lpstr>Diagrama UML GENERAL </vt:lpstr>
      <vt:lpstr>Segundo diagrama</vt:lpstr>
      <vt:lpstr>Conclusión </vt:lpstr>
      <vt:lpstr>Anexo link de la actividad solicitada y subida a GitHub: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HP 840 G5</dc:creator>
  <cp:lastModifiedBy>HP 840 G5</cp:lastModifiedBy>
  <cp:revision>4</cp:revision>
  <dcterms:created xsi:type="dcterms:W3CDTF">2026-02-15T01:25:39Z</dcterms:created>
  <dcterms:modified xsi:type="dcterms:W3CDTF">2026-02-15T02:56:04Z</dcterms:modified>
</cp:coreProperties>
</file>