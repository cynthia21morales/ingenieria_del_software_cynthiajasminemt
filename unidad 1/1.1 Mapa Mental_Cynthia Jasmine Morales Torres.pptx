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Glacial Indifference" charset="1" panose="00000000000000000000"/>
      <p:regular r:id="rId11"/>
    </p:embeddedFont>
    <p:embeddedFont>
      <p:font typeface="Open Sans" charset="1" panose="020B0606030504020204"/>
      <p:regular r:id="rId12"/>
    </p:embeddedFont>
    <p:embeddedFont>
      <p:font typeface="Scripter" charset="1" panose="00000000000000000000"/>
      <p:regular r:id="rId13"/>
    </p:embeddedFont>
    <p:embeddedFont>
      <p:font typeface="Inter" charset="1" panose="020B05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69460" y="759579"/>
            <a:ext cx="3171500" cy="1349853"/>
            <a:chOff x="0" y="0"/>
            <a:chExt cx="3073400" cy="130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34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30734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2204" y="601358"/>
            <a:ext cx="2044438" cy="1677488"/>
            <a:chOff x="0" y="0"/>
            <a:chExt cx="1981200" cy="162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2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92344" y="759579"/>
            <a:ext cx="4482038" cy="930481"/>
            <a:chOff x="0" y="0"/>
            <a:chExt cx="4343400" cy="901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43400" cy="901700"/>
            </a:xfrm>
            <a:custGeom>
              <a:avLst/>
              <a:gdLst/>
              <a:ahLst/>
              <a:cxnLst/>
              <a:rect r="r" b="b" t="t" l="l"/>
              <a:pathLst>
                <a:path h="901700" w="43434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40960" y="2220049"/>
            <a:ext cx="6508312" cy="75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Instituto Tecnológico de Frontera Comalapa Modalidad Mixta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50288" y="3312457"/>
            <a:ext cx="8386067" cy="662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Ingenieria del software 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Sexto semestre 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Numero de control: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231260014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Nombre del alumno: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Cynthia Jasmine Morales Torres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1.1 Mapa mental</a:t>
            </a: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Fecha de entrega:</a:t>
            </a:r>
          </a:p>
          <a:p>
            <a:pPr algn="ctr">
              <a:lnSpc>
                <a:spcPts val="2908"/>
              </a:lnSpc>
            </a:pPr>
          </a:p>
          <a:p>
            <a:pPr algn="ctr">
              <a:lnSpc>
                <a:spcPts val="2908"/>
              </a:lnSpc>
            </a:pPr>
          </a:p>
          <a:p>
            <a:pPr algn="ctr">
              <a:lnSpc>
                <a:spcPts val="2908"/>
              </a:lnSpc>
            </a:pPr>
            <a:r>
              <a:rPr lang="en-US" sz="266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Frontera Comalapa, Chiapas. A 27 de enero del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6984" y="1546895"/>
            <a:ext cx="13413838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mapa mental presenta una visión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general del proceso de análisis dentro del desarrollo de software, destacando sus componentes clave para comprender, definir y validar los requisitos de un sistema. Se abordan elementos como la especificación de requisitos en distintos niveles, normas de referencia, trazabilidad, descripción de procesos, diagramas UML, estudio de factibilidad y análisis costo-beneficio. En conjunto, estos conceptos permiten estructurar de forma ordenada la información del proyecto y facilitan la toma de decisiones técnicas y de negocio antes de la implementación.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60772"/>
            <a:ext cx="4369961" cy="2370302"/>
            <a:chOff x="0" y="0"/>
            <a:chExt cx="1703590" cy="9240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4625" y="1160772"/>
            <a:ext cx="4369961" cy="2370302"/>
            <a:chOff x="0" y="0"/>
            <a:chExt cx="1703590" cy="924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94625" y="7131859"/>
            <a:ext cx="4369961" cy="2370302"/>
            <a:chOff x="0" y="0"/>
            <a:chExt cx="1703590" cy="9240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0550" y="1160772"/>
            <a:ext cx="4369961" cy="2370302"/>
            <a:chOff x="0" y="0"/>
            <a:chExt cx="1703590" cy="9240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146374"/>
            <a:ext cx="4369961" cy="2370302"/>
            <a:chOff x="0" y="0"/>
            <a:chExt cx="1703590" cy="9240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60550" y="4146374"/>
            <a:ext cx="4369961" cy="2370302"/>
            <a:chOff x="0" y="0"/>
            <a:chExt cx="1703590" cy="9240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131859"/>
            <a:ext cx="4369961" cy="2370302"/>
            <a:chOff x="0" y="0"/>
            <a:chExt cx="1703590" cy="9240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60550" y="7131859"/>
            <a:ext cx="4369961" cy="2370302"/>
            <a:chOff x="0" y="0"/>
            <a:chExt cx="1703590" cy="9240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3590" cy="924041"/>
            </a:xfrm>
            <a:custGeom>
              <a:avLst/>
              <a:gdLst/>
              <a:ahLst/>
              <a:cxnLst/>
              <a:rect r="r" b="b" t="t" l="l"/>
              <a:pathLst>
                <a:path h="924041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95695"/>
                  </a:lnTo>
                  <a:cubicBezTo>
                    <a:pt x="1703590" y="903213"/>
                    <a:pt x="1700604" y="910423"/>
                    <a:pt x="1695288" y="915739"/>
                  </a:cubicBezTo>
                  <a:cubicBezTo>
                    <a:pt x="1689972" y="921054"/>
                    <a:pt x="1682762" y="924041"/>
                    <a:pt x="1675244" y="924041"/>
                  </a:cubicBezTo>
                  <a:lnTo>
                    <a:pt x="28346" y="924041"/>
                  </a:lnTo>
                  <a:cubicBezTo>
                    <a:pt x="20828" y="924041"/>
                    <a:pt x="13618" y="921054"/>
                    <a:pt x="8302" y="915739"/>
                  </a:cubicBezTo>
                  <a:cubicBezTo>
                    <a:pt x="2986" y="910423"/>
                    <a:pt x="0" y="903213"/>
                    <a:pt x="0" y="895695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703590" cy="1009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4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7489" y="1092194"/>
            <a:ext cx="4369961" cy="2313161"/>
            <a:chOff x="0" y="0"/>
            <a:chExt cx="1703590" cy="9017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23414" y="1092194"/>
            <a:ext cx="4369961" cy="2313161"/>
            <a:chOff x="0" y="0"/>
            <a:chExt cx="1703590" cy="9017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23414" y="7063281"/>
            <a:ext cx="4369961" cy="2313161"/>
            <a:chOff x="0" y="0"/>
            <a:chExt cx="1703590" cy="9017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89339" y="1092194"/>
            <a:ext cx="4369961" cy="2313161"/>
            <a:chOff x="0" y="0"/>
            <a:chExt cx="1703590" cy="9017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57489" y="4077797"/>
            <a:ext cx="4369961" cy="2313161"/>
            <a:chOff x="0" y="0"/>
            <a:chExt cx="1703590" cy="90176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89339" y="4077797"/>
            <a:ext cx="4369961" cy="2313161"/>
            <a:chOff x="0" y="0"/>
            <a:chExt cx="1703590" cy="9017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7489" y="7063281"/>
            <a:ext cx="4369961" cy="2313161"/>
            <a:chOff x="0" y="0"/>
            <a:chExt cx="1703590" cy="90176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89339" y="7063281"/>
            <a:ext cx="4369961" cy="2313161"/>
            <a:chOff x="0" y="0"/>
            <a:chExt cx="1703590" cy="90176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3590" cy="901765"/>
            </a:xfrm>
            <a:custGeom>
              <a:avLst/>
              <a:gdLst/>
              <a:ahLst/>
              <a:cxnLst/>
              <a:rect r="r" b="b" t="t" l="l"/>
              <a:pathLst>
                <a:path h="901765" w="1703590">
                  <a:moveTo>
                    <a:pt x="28346" y="0"/>
                  </a:moveTo>
                  <a:lnTo>
                    <a:pt x="1675244" y="0"/>
                  </a:lnTo>
                  <a:cubicBezTo>
                    <a:pt x="1690899" y="0"/>
                    <a:pt x="1703590" y="12691"/>
                    <a:pt x="1703590" y="28346"/>
                  </a:cubicBezTo>
                  <a:lnTo>
                    <a:pt x="1703590" y="873419"/>
                  </a:lnTo>
                  <a:cubicBezTo>
                    <a:pt x="1703590" y="880937"/>
                    <a:pt x="1700604" y="888147"/>
                    <a:pt x="1695288" y="893463"/>
                  </a:cubicBezTo>
                  <a:cubicBezTo>
                    <a:pt x="1689972" y="898779"/>
                    <a:pt x="1682762" y="901765"/>
                    <a:pt x="1675244" y="901765"/>
                  </a:cubicBezTo>
                  <a:lnTo>
                    <a:pt x="28346" y="901765"/>
                  </a:lnTo>
                  <a:cubicBezTo>
                    <a:pt x="20828" y="901765"/>
                    <a:pt x="13618" y="898779"/>
                    <a:pt x="8302" y="893463"/>
                  </a:cubicBezTo>
                  <a:cubicBezTo>
                    <a:pt x="2986" y="888147"/>
                    <a:pt x="0" y="880937"/>
                    <a:pt x="0" y="873419"/>
                  </a:cubicBezTo>
                  <a:lnTo>
                    <a:pt x="0" y="28346"/>
                  </a:lnTo>
                  <a:cubicBezTo>
                    <a:pt x="0" y="20828"/>
                    <a:pt x="2986" y="13618"/>
                    <a:pt x="8302" y="8302"/>
                  </a:cubicBezTo>
                  <a:cubicBezTo>
                    <a:pt x="13618" y="2986"/>
                    <a:pt x="20828" y="0"/>
                    <a:pt x="28346" y="0"/>
                  </a:cubicBezTo>
                  <a:close/>
                </a:path>
              </a:pathLst>
            </a:custGeom>
            <a:solidFill>
              <a:srgbClr val="F9F8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703590" cy="939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41809" y="784840"/>
            <a:ext cx="2401320" cy="614709"/>
            <a:chOff x="0" y="0"/>
            <a:chExt cx="899507" cy="2302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9507" cy="230263"/>
            </a:xfrm>
            <a:custGeom>
              <a:avLst/>
              <a:gdLst/>
              <a:ahLst/>
              <a:cxnLst/>
              <a:rect r="r" b="b" t="t" l="l"/>
              <a:pathLst>
                <a:path h="230263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178678"/>
                  </a:lnTo>
                  <a:cubicBezTo>
                    <a:pt x="899507" y="192359"/>
                    <a:pt x="894072" y="205480"/>
                    <a:pt x="884398" y="215154"/>
                  </a:cubicBezTo>
                  <a:cubicBezTo>
                    <a:pt x="874724" y="224828"/>
                    <a:pt x="861604" y="230263"/>
                    <a:pt x="847922" y="230263"/>
                  </a:cubicBezTo>
                  <a:lnTo>
                    <a:pt x="51584" y="230263"/>
                  </a:lnTo>
                  <a:cubicBezTo>
                    <a:pt x="37903" y="230263"/>
                    <a:pt x="24783" y="224828"/>
                    <a:pt x="15109" y="215154"/>
                  </a:cubicBezTo>
                  <a:cubicBezTo>
                    <a:pt x="5435" y="205480"/>
                    <a:pt x="0" y="192359"/>
                    <a:pt x="0" y="178678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114300"/>
              <a:ext cx="899507" cy="344563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3541"/>
                </a:lnSpc>
              </a:pPr>
              <a:r>
                <a:rPr lang="en-US" sz="2199" spc="178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1.ANALISIS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584050" y="784840"/>
            <a:ext cx="3353839" cy="796765"/>
            <a:chOff x="0" y="0"/>
            <a:chExt cx="1256310" cy="29845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56310" cy="298459"/>
            </a:xfrm>
            <a:custGeom>
              <a:avLst/>
              <a:gdLst/>
              <a:ahLst/>
              <a:cxnLst/>
              <a:rect r="r" b="b" t="t" l="l"/>
              <a:pathLst>
                <a:path h="298459" w="1256310">
                  <a:moveTo>
                    <a:pt x="36934" y="0"/>
                  </a:moveTo>
                  <a:lnTo>
                    <a:pt x="1219376" y="0"/>
                  </a:lnTo>
                  <a:cubicBezTo>
                    <a:pt x="1229171" y="0"/>
                    <a:pt x="1238565" y="3891"/>
                    <a:pt x="1245492" y="10818"/>
                  </a:cubicBezTo>
                  <a:cubicBezTo>
                    <a:pt x="1252418" y="17744"/>
                    <a:pt x="1256310" y="27139"/>
                    <a:pt x="1256310" y="36934"/>
                  </a:cubicBezTo>
                  <a:lnTo>
                    <a:pt x="1256310" y="261525"/>
                  </a:lnTo>
                  <a:cubicBezTo>
                    <a:pt x="1256310" y="281923"/>
                    <a:pt x="1239774" y="298459"/>
                    <a:pt x="1219376" y="298459"/>
                  </a:cubicBezTo>
                  <a:lnTo>
                    <a:pt x="36934" y="298459"/>
                  </a:lnTo>
                  <a:cubicBezTo>
                    <a:pt x="16536" y="298459"/>
                    <a:pt x="0" y="281923"/>
                    <a:pt x="0" y="261525"/>
                  </a:cubicBezTo>
                  <a:lnTo>
                    <a:pt x="0" y="36934"/>
                  </a:lnTo>
                  <a:cubicBezTo>
                    <a:pt x="0" y="16536"/>
                    <a:pt x="16536" y="0"/>
                    <a:pt x="3693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1256310" cy="384184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>
                <a:lnSpc>
                  <a:spcPts val="2737"/>
                </a:lnSpc>
              </a:pPr>
              <a:r>
                <a:rPr lang="en-US" sz="1700" spc="137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 1.1 REVISIÓN DE ESPECIFICACIÓN </a:t>
              </a:r>
            </a:p>
            <a:p>
              <a:pPr algn="ctr" marL="0" indent="0" lvl="0">
                <a:lnSpc>
                  <a:spcPts val="2737"/>
                </a:lnSpc>
              </a:pPr>
              <a:r>
                <a:rPr lang="en-US" sz="1700" spc="137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DE REQUISITOS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007734" y="6755927"/>
            <a:ext cx="2401320" cy="614709"/>
            <a:chOff x="0" y="0"/>
            <a:chExt cx="899507" cy="23026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99507" cy="230263"/>
            </a:xfrm>
            <a:custGeom>
              <a:avLst/>
              <a:gdLst/>
              <a:ahLst/>
              <a:cxnLst/>
              <a:rect r="r" b="b" t="t" l="l"/>
              <a:pathLst>
                <a:path h="230263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178678"/>
                  </a:lnTo>
                  <a:cubicBezTo>
                    <a:pt x="899507" y="192359"/>
                    <a:pt x="894072" y="205480"/>
                    <a:pt x="884398" y="215154"/>
                  </a:cubicBezTo>
                  <a:cubicBezTo>
                    <a:pt x="874724" y="224828"/>
                    <a:pt x="861604" y="230263"/>
                    <a:pt x="847922" y="230263"/>
                  </a:cubicBezTo>
                  <a:lnTo>
                    <a:pt x="51584" y="230263"/>
                  </a:lnTo>
                  <a:cubicBezTo>
                    <a:pt x="37903" y="230263"/>
                    <a:pt x="24783" y="224828"/>
                    <a:pt x="15109" y="215154"/>
                  </a:cubicBezTo>
                  <a:cubicBezTo>
                    <a:pt x="5435" y="205480"/>
                    <a:pt x="0" y="192359"/>
                    <a:pt x="0" y="178678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114300"/>
              <a:ext cx="899507" cy="344563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3219"/>
                </a:lnSpc>
              </a:pPr>
              <a:r>
                <a:rPr lang="en-US" sz="1999" spc="161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1.3 DIAGRAMAS UML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873659" y="784840"/>
            <a:ext cx="2401320" cy="909198"/>
            <a:chOff x="0" y="0"/>
            <a:chExt cx="899507" cy="3405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9507" cy="340575"/>
            </a:xfrm>
            <a:custGeom>
              <a:avLst/>
              <a:gdLst/>
              <a:ahLst/>
              <a:cxnLst/>
              <a:rect r="r" b="b" t="t" l="l"/>
              <a:pathLst>
                <a:path h="340575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288991"/>
                  </a:lnTo>
                  <a:cubicBezTo>
                    <a:pt x="899507" y="302672"/>
                    <a:pt x="894072" y="315793"/>
                    <a:pt x="884398" y="325467"/>
                  </a:cubicBezTo>
                  <a:cubicBezTo>
                    <a:pt x="874724" y="335141"/>
                    <a:pt x="861604" y="340575"/>
                    <a:pt x="847922" y="340575"/>
                  </a:cubicBezTo>
                  <a:lnTo>
                    <a:pt x="51584" y="340575"/>
                  </a:lnTo>
                  <a:cubicBezTo>
                    <a:pt x="37903" y="340575"/>
                    <a:pt x="24783" y="335141"/>
                    <a:pt x="15109" y="325467"/>
                  </a:cubicBezTo>
                  <a:cubicBezTo>
                    <a:pt x="5435" y="315793"/>
                    <a:pt x="0" y="302672"/>
                    <a:pt x="0" y="288991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14300"/>
              <a:ext cx="899507" cy="454875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3219"/>
                </a:lnSpc>
              </a:pPr>
              <a:r>
                <a:rPr lang="en-US" sz="1999" spc="161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1.1.1 NORMA IEEE830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141809" y="3770442"/>
            <a:ext cx="2401320" cy="871721"/>
            <a:chOff x="0" y="0"/>
            <a:chExt cx="899507" cy="32653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99507" cy="326537"/>
            </a:xfrm>
            <a:custGeom>
              <a:avLst/>
              <a:gdLst/>
              <a:ahLst/>
              <a:cxnLst/>
              <a:rect r="r" b="b" t="t" l="l"/>
              <a:pathLst>
                <a:path h="326537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274952"/>
                  </a:lnTo>
                  <a:cubicBezTo>
                    <a:pt x="899507" y="288633"/>
                    <a:pt x="894072" y="301754"/>
                    <a:pt x="884398" y="311428"/>
                  </a:cubicBezTo>
                  <a:cubicBezTo>
                    <a:pt x="874724" y="321102"/>
                    <a:pt x="861604" y="326537"/>
                    <a:pt x="847922" y="326537"/>
                  </a:cubicBezTo>
                  <a:lnTo>
                    <a:pt x="51584" y="326537"/>
                  </a:lnTo>
                  <a:cubicBezTo>
                    <a:pt x="37903" y="326537"/>
                    <a:pt x="24783" y="321102"/>
                    <a:pt x="15109" y="311428"/>
                  </a:cubicBezTo>
                  <a:cubicBezTo>
                    <a:pt x="5435" y="301754"/>
                    <a:pt x="0" y="288633"/>
                    <a:pt x="0" y="274952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899507" cy="421787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3058"/>
                </a:lnSpc>
              </a:pPr>
              <a:r>
                <a:rPr lang="en-US" sz="1899" spc="153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1.5 ANALISIS COSTO-BENEFICIO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873659" y="3770442"/>
            <a:ext cx="2401320" cy="909198"/>
            <a:chOff x="0" y="0"/>
            <a:chExt cx="899507" cy="3405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99507" cy="340575"/>
            </a:xfrm>
            <a:custGeom>
              <a:avLst/>
              <a:gdLst/>
              <a:ahLst/>
              <a:cxnLst/>
              <a:rect r="r" b="b" t="t" l="l"/>
              <a:pathLst>
                <a:path h="340575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288991"/>
                  </a:lnTo>
                  <a:cubicBezTo>
                    <a:pt x="899507" y="302672"/>
                    <a:pt x="894072" y="315793"/>
                    <a:pt x="884398" y="325467"/>
                  </a:cubicBezTo>
                  <a:cubicBezTo>
                    <a:pt x="874724" y="335141"/>
                    <a:pt x="861604" y="340575"/>
                    <a:pt x="847922" y="340575"/>
                  </a:cubicBezTo>
                  <a:lnTo>
                    <a:pt x="51584" y="340575"/>
                  </a:lnTo>
                  <a:cubicBezTo>
                    <a:pt x="37903" y="340575"/>
                    <a:pt x="24783" y="335141"/>
                    <a:pt x="15109" y="325467"/>
                  </a:cubicBezTo>
                  <a:cubicBezTo>
                    <a:pt x="5435" y="315793"/>
                    <a:pt x="0" y="302672"/>
                    <a:pt x="0" y="288991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14300"/>
              <a:ext cx="899507" cy="454875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3219"/>
                </a:lnSpc>
              </a:pPr>
              <a:r>
                <a:rPr lang="en-US" sz="1999" spc="161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1.1.2 TRAZABILIDAD DE REQUISITOS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141809" y="6755927"/>
            <a:ext cx="2401320" cy="759288"/>
            <a:chOff x="0" y="0"/>
            <a:chExt cx="899507" cy="2844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99507" cy="284420"/>
            </a:xfrm>
            <a:custGeom>
              <a:avLst/>
              <a:gdLst/>
              <a:ahLst/>
              <a:cxnLst/>
              <a:rect r="r" b="b" t="t" l="l"/>
              <a:pathLst>
                <a:path h="284420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232836"/>
                  </a:lnTo>
                  <a:cubicBezTo>
                    <a:pt x="899507" y="246517"/>
                    <a:pt x="894072" y="259638"/>
                    <a:pt x="884398" y="269312"/>
                  </a:cubicBezTo>
                  <a:cubicBezTo>
                    <a:pt x="874724" y="278986"/>
                    <a:pt x="861604" y="284420"/>
                    <a:pt x="847922" y="284420"/>
                  </a:cubicBezTo>
                  <a:lnTo>
                    <a:pt x="51584" y="284420"/>
                  </a:lnTo>
                  <a:cubicBezTo>
                    <a:pt x="37903" y="284420"/>
                    <a:pt x="24783" y="278986"/>
                    <a:pt x="15109" y="269312"/>
                  </a:cubicBezTo>
                  <a:cubicBezTo>
                    <a:pt x="5435" y="259638"/>
                    <a:pt x="0" y="246517"/>
                    <a:pt x="0" y="232836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899507" cy="360620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2576"/>
                </a:lnSpc>
              </a:pPr>
              <a:r>
                <a:rPr lang="en-US" sz="1600" spc="129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1.4 ESTUDIO DE FACTIBILIDAD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873659" y="6755927"/>
            <a:ext cx="2401320" cy="614709"/>
            <a:chOff x="0" y="0"/>
            <a:chExt cx="899507" cy="23026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99507" cy="230263"/>
            </a:xfrm>
            <a:custGeom>
              <a:avLst/>
              <a:gdLst/>
              <a:ahLst/>
              <a:cxnLst/>
              <a:rect r="r" b="b" t="t" l="l"/>
              <a:pathLst>
                <a:path h="230263" w="899507">
                  <a:moveTo>
                    <a:pt x="51584" y="0"/>
                  </a:moveTo>
                  <a:lnTo>
                    <a:pt x="847922" y="0"/>
                  </a:lnTo>
                  <a:cubicBezTo>
                    <a:pt x="861604" y="0"/>
                    <a:pt x="874724" y="5435"/>
                    <a:pt x="884398" y="15109"/>
                  </a:cubicBezTo>
                  <a:cubicBezTo>
                    <a:pt x="894072" y="24783"/>
                    <a:pt x="899507" y="37903"/>
                    <a:pt x="899507" y="51584"/>
                  </a:cubicBezTo>
                  <a:lnTo>
                    <a:pt x="899507" y="178678"/>
                  </a:lnTo>
                  <a:cubicBezTo>
                    <a:pt x="899507" y="192359"/>
                    <a:pt x="894072" y="205480"/>
                    <a:pt x="884398" y="215154"/>
                  </a:cubicBezTo>
                  <a:cubicBezTo>
                    <a:pt x="874724" y="224828"/>
                    <a:pt x="861604" y="230263"/>
                    <a:pt x="847922" y="230263"/>
                  </a:cubicBezTo>
                  <a:lnTo>
                    <a:pt x="51584" y="230263"/>
                  </a:lnTo>
                  <a:cubicBezTo>
                    <a:pt x="37903" y="230263"/>
                    <a:pt x="24783" y="224828"/>
                    <a:pt x="15109" y="215154"/>
                  </a:cubicBezTo>
                  <a:cubicBezTo>
                    <a:pt x="5435" y="205480"/>
                    <a:pt x="0" y="192359"/>
                    <a:pt x="0" y="178678"/>
                  </a:cubicBezTo>
                  <a:lnTo>
                    <a:pt x="0" y="51584"/>
                  </a:lnTo>
                  <a:cubicBezTo>
                    <a:pt x="0" y="37903"/>
                    <a:pt x="5435" y="24783"/>
                    <a:pt x="15109" y="15109"/>
                  </a:cubicBezTo>
                  <a:cubicBezTo>
                    <a:pt x="24783" y="5435"/>
                    <a:pt x="37903" y="0"/>
                    <a:pt x="51584" y="0"/>
                  </a:cubicBezTo>
                  <a:close/>
                </a:path>
              </a:pathLst>
            </a:custGeom>
            <a:solidFill>
              <a:srgbClr val="B0ADF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899507" cy="296938"/>
            </a:xfrm>
            <a:prstGeom prst="rect">
              <a:avLst/>
            </a:prstGeom>
          </p:spPr>
          <p:txBody>
            <a:bodyPr anchor="ctr" rtlCol="false" tIns="42930" lIns="42930" bIns="42930" rIns="42930"/>
            <a:lstStyle/>
            <a:p>
              <a:pPr algn="ctr" marL="0" indent="0" lvl="0">
                <a:lnSpc>
                  <a:spcPts val="2093"/>
                </a:lnSpc>
              </a:pPr>
              <a:r>
                <a:rPr lang="en-US" sz="1300" spc="105">
                  <a:solidFill>
                    <a:srgbClr val="000000"/>
                  </a:solidFill>
                  <a:latin typeface="Scripter"/>
                  <a:ea typeface="Scripter"/>
                  <a:cs typeface="Scripter"/>
                  <a:sym typeface="Scripter"/>
                </a:rPr>
                <a:t>1.2 DESCRIPCION DE PROCESOS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605501">
            <a:off x="10825820" y="6041677"/>
            <a:ext cx="2317530" cy="654702"/>
          </a:xfrm>
          <a:custGeom>
            <a:avLst/>
            <a:gdLst/>
            <a:ahLst/>
            <a:cxnLst/>
            <a:rect r="r" b="b" t="t" l="l"/>
            <a:pathLst>
              <a:path h="654702" w="2317530">
                <a:moveTo>
                  <a:pt x="0" y="0"/>
                </a:moveTo>
                <a:lnTo>
                  <a:pt x="2317530" y="0"/>
                </a:lnTo>
                <a:lnTo>
                  <a:pt x="2317530" y="654702"/>
                </a:lnTo>
                <a:lnTo>
                  <a:pt x="0" y="65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8772059">
            <a:off x="5116667" y="6301168"/>
            <a:ext cx="2317530" cy="654702"/>
          </a:xfrm>
          <a:custGeom>
            <a:avLst/>
            <a:gdLst/>
            <a:ahLst/>
            <a:cxnLst/>
            <a:rect r="r" b="b" t="t" l="l"/>
            <a:pathLst>
              <a:path h="654702" w="2317530">
                <a:moveTo>
                  <a:pt x="0" y="0"/>
                </a:moveTo>
                <a:lnTo>
                  <a:pt x="2317530" y="0"/>
                </a:lnTo>
                <a:lnTo>
                  <a:pt x="2317530" y="654702"/>
                </a:lnTo>
                <a:lnTo>
                  <a:pt x="0" y="654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true" flipV="false" rot="2096211">
            <a:off x="5711568" y="3443091"/>
            <a:ext cx="2317530" cy="654702"/>
          </a:xfrm>
          <a:custGeom>
            <a:avLst/>
            <a:gdLst/>
            <a:ahLst/>
            <a:cxnLst/>
            <a:rect r="r" b="b" t="t" l="l"/>
            <a:pathLst>
              <a:path h="654702" w="2317530">
                <a:moveTo>
                  <a:pt x="2317529" y="0"/>
                </a:moveTo>
                <a:lnTo>
                  <a:pt x="0" y="0"/>
                </a:lnTo>
                <a:lnTo>
                  <a:pt x="0" y="654702"/>
                </a:lnTo>
                <a:lnTo>
                  <a:pt x="2317529" y="654702"/>
                </a:lnTo>
                <a:lnTo>
                  <a:pt x="2317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true" flipV="false" rot="9033933">
            <a:off x="10431726" y="3443091"/>
            <a:ext cx="2317530" cy="654702"/>
          </a:xfrm>
          <a:custGeom>
            <a:avLst/>
            <a:gdLst/>
            <a:ahLst/>
            <a:cxnLst/>
            <a:rect r="r" b="b" t="t" l="l"/>
            <a:pathLst>
              <a:path h="654702" w="2317530">
                <a:moveTo>
                  <a:pt x="2317530" y="0"/>
                </a:moveTo>
                <a:lnTo>
                  <a:pt x="0" y="0"/>
                </a:lnTo>
                <a:lnTo>
                  <a:pt x="0" y="654702"/>
                </a:lnTo>
                <a:lnTo>
                  <a:pt x="2317530" y="654702"/>
                </a:lnTo>
                <a:lnTo>
                  <a:pt x="231753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-8622697">
            <a:off x="5996478" y="4627548"/>
            <a:ext cx="1272185" cy="929852"/>
          </a:xfrm>
          <a:custGeom>
            <a:avLst/>
            <a:gdLst/>
            <a:ahLst/>
            <a:cxnLst/>
            <a:rect r="r" b="b" t="t" l="l"/>
            <a:pathLst>
              <a:path h="929852" w="1272185">
                <a:moveTo>
                  <a:pt x="0" y="0"/>
                </a:moveTo>
                <a:lnTo>
                  <a:pt x="1272185" y="0"/>
                </a:lnTo>
                <a:lnTo>
                  <a:pt x="1272185" y="929852"/>
                </a:lnTo>
                <a:lnTo>
                  <a:pt x="0" y="929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true" flipV="false" rot="9207178">
            <a:off x="10954398" y="4678574"/>
            <a:ext cx="1272185" cy="929852"/>
          </a:xfrm>
          <a:custGeom>
            <a:avLst/>
            <a:gdLst/>
            <a:ahLst/>
            <a:cxnLst/>
            <a:rect r="r" b="b" t="t" l="l"/>
            <a:pathLst>
              <a:path h="929852" w="1272185">
                <a:moveTo>
                  <a:pt x="1272186" y="0"/>
                </a:moveTo>
                <a:lnTo>
                  <a:pt x="0" y="0"/>
                </a:lnTo>
                <a:lnTo>
                  <a:pt x="0" y="929852"/>
                </a:lnTo>
                <a:lnTo>
                  <a:pt x="1272186" y="929852"/>
                </a:lnTo>
                <a:lnTo>
                  <a:pt x="12721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788710">
            <a:off x="5638956" y="8822543"/>
            <a:ext cx="1103769" cy="1107798"/>
          </a:xfrm>
          <a:custGeom>
            <a:avLst/>
            <a:gdLst/>
            <a:ahLst/>
            <a:cxnLst/>
            <a:rect r="r" b="b" t="t" l="l"/>
            <a:pathLst>
              <a:path h="1107798" w="1103769">
                <a:moveTo>
                  <a:pt x="0" y="0"/>
                </a:moveTo>
                <a:lnTo>
                  <a:pt x="1103770" y="0"/>
                </a:lnTo>
                <a:lnTo>
                  <a:pt x="1103770" y="1107798"/>
                </a:lnTo>
                <a:lnTo>
                  <a:pt x="0" y="11077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-846911">
            <a:off x="11658355" y="639471"/>
            <a:ext cx="991591" cy="1029826"/>
          </a:xfrm>
          <a:custGeom>
            <a:avLst/>
            <a:gdLst/>
            <a:ahLst/>
            <a:cxnLst/>
            <a:rect r="r" b="b" t="t" l="l"/>
            <a:pathLst>
              <a:path h="1029826" w="991591">
                <a:moveTo>
                  <a:pt x="0" y="0"/>
                </a:moveTo>
                <a:lnTo>
                  <a:pt x="991591" y="0"/>
                </a:lnTo>
                <a:lnTo>
                  <a:pt x="991591" y="1029826"/>
                </a:lnTo>
                <a:lnTo>
                  <a:pt x="0" y="1029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7398897" y="6369028"/>
            <a:ext cx="468205" cy="1046977"/>
          </a:xfrm>
          <a:custGeom>
            <a:avLst/>
            <a:gdLst/>
            <a:ahLst/>
            <a:cxnLst/>
            <a:rect r="r" b="b" t="t" l="l"/>
            <a:pathLst>
              <a:path h="1046977" w="468205">
                <a:moveTo>
                  <a:pt x="0" y="0"/>
                </a:moveTo>
                <a:lnTo>
                  <a:pt x="468205" y="0"/>
                </a:lnTo>
                <a:lnTo>
                  <a:pt x="468205" y="1046976"/>
                </a:lnTo>
                <a:lnTo>
                  <a:pt x="0" y="1046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450932" y="1727036"/>
            <a:ext cx="3783075" cy="142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objetivo del análisis del sistema es modelar el producto software entendiendo y adaptando el dominio del negocio. Este tipo de análisis pretende detallar qué funcionalidad implementará el producto software para dar solución a los requisitos.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252462" y="1504423"/>
            <a:ext cx="3876189" cy="182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2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Nivel superior: establece los objetivos del negocio y el propósito del proyecto, alineándolo con las necesidades de las partes interesadas.</a:t>
            </a:r>
          </a:p>
          <a:p>
            <a:pPr algn="just">
              <a:lnSpc>
                <a:spcPts val="1812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Nivel medio: describe las necesidades y expectativas de los usuarios y cómo interactúan con el software.</a:t>
            </a:r>
          </a:p>
          <a:p>
            <a:pPr algn="just">
              <a:lnSpc>
                <a:spcPts val="1812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Nivel inferior: detalla las funciones y características técnicas del sistema, incluyendo casos de uso y requisitos no funcionales.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316857" y="7698123"/>
            <a:ext cx="3783075" cy="118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diagramas UML facilitan la comprensión de ideas abstractas y sistemas de software mediante la visualización. Esto es beneficioso para los ingenieros de software que necesitan colaborar cuando crean software.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182782" y="1800134"/>
            <a:ext cx="3783075" cy="142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uso de IEEE 830 para RE puede proporcionar varias ventajas, como mejorar la comunicación y la comprensión entre las partes interesadas, desarrolladores, evaluadores y usuarios mediante la utilización de un lenguaje y formato comunes para expresar los requisitos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50932" y="4712639"/>
            <a:ext cx="3783075" cy="142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análisis costo-beneficio, o ACB, es un enfoque basado en datos para evaluar los beneficios y costos financieros de un proyecto o decisión desde una perspectiva empresarial. Al pronosticar la rentabilidad mediante un ACB, los equipos pueden trabajar para evitar pérdidas financieras.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182782" y="4832146"/>
            <a:ext cx="3783075" cy="95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 el proceso de vincular los requisitos con los artefactos asociados, como especificaciones de diseño, tareas de implementación, casos de prueba y resultados de validación.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450932" y="7698123"/>
            <a:ext cx="3783075" cy="118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estudio de factibilidad es el análisis que lleva a cabo una empresa para determinar si el negocio que se propone será bueno o malo, y cuales serán las estrategias que se deben desarrollar para que sea exitoso.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936964" y="7403263"/>
            <a:ext cx="4241173" cy="190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"/>
              </a:lnSpc>
            </a:pPr>
            <a:r>
              <a:rPr lang="en-US" sz="124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procesos actuales de ingeniería de software son iterativos, ágiles y centrados en el valor, priorizando el tiempo de comercialización y la calidad continua a través de metodologías como Scrum o Kanban. Integran el ciclo de vida de desarrollo (SDLC) mediante planificación, diseño funcional, desarrollo, pruebas automatizadas y despliegue rápido, soportados por la computación en la nube e inteligencia artificial.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523235" y="4653562"/>
            <a:ext cx="5370318" cy="961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8"/>
              </a:lnSpc>
            </a:pPr>
            <a:r>
              <a:rPr lang="en-US" sz="6546" spc="53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ANALISIS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7179" y="2098033"/>
            <a:ext cx="13793642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Conclusión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 síntesis, el análisis es una fase fundamental porque conecta las necesidades del negocio y de los usuarios con las soluciones técnicas del software.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Aplicar buenas prácticas como la correcta especificación de requisitos, la trazabilidad, el uso de diagramas y los estudios de factibilidad y costo-beneficio reduce riesgos y mejora la calidad del producto final. Un análisis bien realizado guía el desarrollo con mayor claridad, optimiza recursos y aumenta las probabilidades de éxito del proyecto.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1533" y="1772335"/>
            <a:ext cx="13924933" cy="718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Atlassian. (s. f.). Cost Benefit Analysis: What Is It and How to Do It | The Workstream. https://www.atlassian.com/work-management/strategic-planning/cost-benefit-analysis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¿Cuáles son los beneficios y desafíos de usar IEEE 830 para la ingeniería de requisitos? (2023, 3 abril). www.linkedin.com. https://es.linkedin.com/advice/3/what-benefits-challenges-using-ieee-830?lang=es&amp;lang=es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Ingeniería de Software - Análisis. (s. f.). https://www.ingenieriadelsoftware.es/an%C3%A1lisis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Jain, A., &amp; Jain, A. (2025, 8 mayo). ¿Qué es la Matriz de Trazabilidad de Requisitos (RTM)? Visure Solutions.https://visuresolutions.com/es/gu%C3%ADa-de-limosna/Requerimientos-de-trazabilidad-matriz/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Miro. (s. f.). Diagrama UML: Qué es, cómo hacerlo y ejemplos | Miro. https://miro.com/. https://miro.com/es/diagrama/que-es-diagrama-uml/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Mota, A. (2025, 19 mayo). Cómo Realizar una Buena Especificación de Requisitos de Software (SRS). INNEVO. https://innevo.com/blog/especificacion-requisitos-software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Procesos de software. (s. f.). SG Buzz. https://sg.com.mx/revista/1/procesos-software</a:t>
            </a:r>
          </a:p>
          <a:p>
            <a:pPr algn="just">
              <a:lnSpc>
                <a:spcPts val="2722"/>
              </a:lnSpc>
            </a:pPr>
          </a:p>
          <a:p>
            <a:pPr algn="just">
              <a:lnSpc>
                <a:spcPts val="2722"/>
              </a:lnSpc>
            </a:pPr>
            <a:r>
              <a:rPr lang="en-US" sz="19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Unknown. (s. f.). Estudio de factibilidad. https://ingenieriaabril.blogspot.com/2016/11/estudio-de-factibilidad.html</a:t>
            </a:r>
          </a:p>
          <a:p>
            <a:pPr algn="just">
              <a:lnSpc>
                <a:spcPts val="272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75127" y="705167"/>
            <a:ext cx="1392493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REFERENCIA BIBLIOGRAFICAS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DAHBVCWvKxA</dc:identifier>
  <dcterms:modified xsi:type="dcterms:W3CDTF">2011-08-01T06:04:30Z</dcterms:modified>
  <cp:revision>1</cp:revision>
  <dc:title>1.1 Mapa Mental_Cynthia Jasmine Morales Torres</dc:title>
</cp:coreProperties>
</file>