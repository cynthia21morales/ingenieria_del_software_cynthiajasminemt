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64" r:id="rId2"/>
    <p:sldId id="257" r:id="rId3"/>
    <p:sldId id="258" r:id="rId4"/>
    <p:sldId id="265" r:id="rId5"/>
    <p:sldId id="266" r:id="rId6"/>
    <p:sldId id="267" r:id="rId7"/>
    <p:sldId id="268" r:id="rId8"/>
    <p:sldId id="269" r:id="rId9"/>
    <p:sldId id="270" r:id="rId10"/>
    <p:sldId id="271" r:id="rId11"/>
    <p:sldId id="2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29" autoAdjust="0"/>
    <p:restoredTop sz="94660"/>
  </p:normalViewPr>
  <p:slideViewPr>
    <p:cSldViewPr snapToGrid="0">
      <p:cViewPr varScale="1">
        <p:scale>
          <a:sx n="54" d="100"/>
          <a:sy n="54" d="100"/>
        </p:scale>
        <p:origin x="77" y="52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160EA64-D806-43AC-9DF2-F8C432F32B4C}"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3/25/2026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4F7D4976-E339-4826-83B7-FBD03F55ECF8}" type="datetimeFigureOut">
              <a:rPr lang="en-US" dirty="0"/>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D1BE4249-C0D0-4B06-8692-E8BB871AF643}" type="datetimeFigureOut">
              <a:rPr lang="en-US" dirty="0"/>
              <a:t>3/25/2026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3/25/2026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3/25/2026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I">
            <a:extLst>
              <a:ext uri="{FF2B5EF4-FFF2-40B4-BE49-F238E27FC236}">
                <a16:creationId xmlns:a16="http://schemas.microsoft.com/office/drawing/2014/main" id="{3C284BE7-3B5C-43AE-B41F-E68BB136B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306" y="291913"/>
            <a:ext cx="7182411" cy="6538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stituto Tecnológico de Frontera Comalapa">
            <a:extLst>
              <a:ext uri="{FF2B5EF4-FFF2-40B4-BE49-F238E27FC236}">
                <a16:creationId xmlns:a16="http://schemas.microsoft.com/office/drawing/2014/main" id="{82DECFBA-82B5-4E8A-8365-9E6991C47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4047" y="135031"/>
            <a:ext cx="2653553" cy="967628"/>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AA6F307-5FBE-47F1-BCE9-7D52AADC3408}"/>
              </a:ext>
            </a:extLst>
          </p:cNvPr>
          <p:cNvSpPr txBox="1"/>
          <p:nvPr/>
        </p:nvSpPr>
        <p:spPr>
          <a:xfrm>
            <a:off x="-130409" y="1119468"/>
            <a:ext cx="12452818" cy="6524863"/>
          </a:xfrm>
          <a:prstGeom prst="rect">
            <a:avLst/>
          </a:prstGeom>
          <a:noFill/>
        </p:spPr>
        <p:txBody>
          <a:bodyPr wrap="square" rtlCol="0">
            <a:spAutoFit/>
          </a:bodyPr>
          <a:lstStyle/>
          <a:p>
            <a:pPr algn="ctr"/>
            <a:r>
              <a:rPr lang="es-MX" sz="2400" dirty="0">
                <a:latin typeface="Century Gothic" panose="020B0502020202020204" pitchFamily="34" charset="0"/>
              </a:rPr>
              <a:t>INSTITUTO TECNOLOGICO DE FRONTERA COMALAPA</a:t>
            </a:r>
          </a:p>
          <a:p>
            <a:pPr algn="ctr"/>
            <a:endParaRPr lang="es-MX" sz="3200" dirty="0">
              <a:latin typeface="Century Gothic" panose="020B0502020202020204" pitchFamily="34" charset="0"/>
            </a:endParaRPr>
          </a:p>
          <a:p>
            <a:pPr algn="ctr"/>
            <a:r>
              <a:rPr lang="es-MX" sz="1600" dirty="0">
                <a:latin typeface="Century Gothic" panose="020B0502020202020204" pitchFamily="34" charset="0"/>
              </a:rPr>
              <a:t>Modalidad:</a:t>
            </a:r>
          </a:p>
          <a:p>
            <a:pPr algn="ctr"/>
            <a:r>
              <a:rPr lang="es-MX" sz="1600" dirty="0">
                <a:latin typeface="Century Gothic" panose="020B0502020202020204" pitchFamily="34" charset="0"/>
              </a:rPr>
              <a:t>Mixta </a:t>
            </a:r>
          </a:p>
          <a:p>
            <a:pPr algn="ctr"/>
            <a:r>
              <a:rPr lang="es-MX" sz="1600" dirty="0">
                <a:latin typeface="Century Gothic" panose="020B0502020202020204" pitchFamily="34" charset="0"/>
              </a:rPr>
              <a:t>Materia:</a:t>
            </a:r>
          </a:p>
          <a:p>
            <a:pPr algn="ctr"/>
            <a:r>
              <a:rPr lang="es-MX" sz="1600" dirty="0" err="1">
                <a:latin typeface="Century Gothic" panose="020B0502020202020204" pitchFamily="34" charset="0"/>
              </a:rPr>
              <a:t>Ingenieria</a:t>
            </a:r>
            <a:r>
              <a:rPr lang="es-MX" sz="1600" dirty="0">
                <a:latin typeface="Century Gothic" panose="020B0502020202020204" pitchFamily="34" charset="0"/>
              </a:rPr>
              <a:t> en software </a:t>
            </a:r>
          </a:p>
          <a:p>
            <a:pPr algn="ctr"/>
            <a:r>
              <a:rPr lang="es-MX" sz="1600" dirty="0">
                <a:latin typeface="Century Gothic" panose="020B0502020202020204" pitchFamily="34" charset="0"/>
              </a:rPr>
              <a:t>Semestre:</a:t>
            </a:r>
          </a:p>
          <a:p>
            <a:pPr algn="ctr"/>
            <a:r>
              <a:rPr lang="es-MX" sz="1600" dirty="0">
                <a:latin typeface="Century Gothic" panose="020B0502020202020204" pitchFamily="34" charset="0"/>
              </a:rPr>
              <a:t>Sexto  semestre</a:t>
            </a:r>
          </a:p>
          <a:p>
            <a:pPr algn="ctr"/>
            <a:r>
              <a:rPr lang="es-MX" sz="1600" dirty="0">
                <a:latin typeface="Century Gothic" panose="020B0502020202020204" pitchFamily="34" charset="0"/>
              </a:rPr>
              <a:t>Especialidad:</a:t>
            </a:r>
          </a:p>
          <a:p>
            <a:pPr algn="ctr"/>
            <a:r>
              <a:rPr lang="es-MX" sz="1600" dirty="0" err="1">
                <a:latin typeface="Century Gothic" panose="020B0502020202020204" pitchFamily="34" charset="0"/>
              </a:rPr>
              <a:t>Ingenieria</a:t>
            </a:r>
            <a:r>
              <a:rPr lang="es-MX" sz="1600" dirty="0">
                <a:latin typeface="Century Gothic" panose="020B0502020202020204" pitchFamily="34" charset="0"/>
              </a:rPr>
              <a:t> en sistemas computacionales </a:t>
            </a:r>
          </a:p>
          <a:p>
            <a:pPr algn="ctr"/>
            <a:r>
              <a:rPr lang="es-MX" sz="1600" dirty="0">
                <a:latin typeface="Century Gothic" panose="020B0502020202020204" pitchFamily="34" charset="0"/>
              </a:rPr>
              <a:t>Nombre  del equipo:</a:t>
            </a:r>
          </a:p>
          <a:p>
            <a:pPr algn="ctr"/>
            <a:r>
              <a:rPr lang="es-MX" sz="1600" dirty="0">
                <a:latin typeface="Century Gothic" panose="020B0502020202020204" pitchFamily="34" charset="0"/>
              </a:rPr>
              <a:t>Luis </a:t>
            </a:r>
            <a:r>
              <a:rPr lang="es-MX" sz="1600" dirty="0" err="1">
                <a:latin typeface="Century Gothic" panose="020B0502020202020204" pitchFamily="34" charset="0"/>
              </a:rPr>
              <a:t>daniel</a:t>
            </a:r>
            <a:r>
              <a:rPr lang="es-MX" sz="1600" dirty="0">
                <a:latin typeface="Century Gothic" panose="020B0502020202020204" pitchFamily="34" charset="0"/>
              </a:rPr>
              <a:t> </a:t>
            </a:r>
            <a:r>
              <a:rPr lang="es-MX" sz="1600" dirty="0" err="1">
                <a:latin typeface="Century Gothic" panose="020B0502020202020204" pitchFamily="34" charset="0"/>
              </a:rPr>
              <a:t>gomez</a:t>
            </a:r>
            <a:r>
              <a:rPr lang="es-MX" sz="1600" dirty="0">
                <a:latin typeface="Century Gothic" panose="020B0502020202020204" pitchFamily="34" charset="0"/>
              </a:rPr>
              <a:t> </a:t>
            </a:r>
            <a:r>
              <a:rPr lang="es-MX" sz="1600" dirty="0" err="1">
                <a:latin typeface="Century Gothic" panose="020B0502020202020204" pitchFamily="34" charset="0"/>
              </a:rPr>
              <a:t>santizo</a:t>
            </a:r>
            <a:r>
              <a:rPr lang="es-MX" sz="1600" dirty="0">
                <a:latin typeface="Century Gothic" panose="020B0502020202020204" pitchFamily="34" charset="0"/>
              </a:rPr>
              <a:t> 231260017</a:t>
            </a:r>
          </a:p>
          <a:p>
            <a:pPr algn="ctr"/>
            <a:r>
              <a:rPr lang="es-MX" sz="1600" dirty="0">
                <a:latin typeface="Century Gothic" panose="020B0502020202020204" pitchFamily="34" charset="0"/>
              </a:rPr>
              <a:t>Cynthia </a:t>
            </a:r>
            <a:r>
              <a:rPr lang="es-MX" sz="1600" dirty="0" err="1">
                <a:latin typeface="Century Gothic" panose="020B0502020202020204" pitchFamily="34" charset="0"/>
              </a:rPr>
              <a:t>jasmine</a:t>
            </a:r>
            <a:r>
              <a:rPr lang="es-MX" sz="1600" dirty="0">
                <a:latin typeface="Century Gothic" panose="020B0502020202020204" pitchFamily="34" charset="0"/>
              </a:rPr>
              <a:t>  morales torres 231260014</a:t>
            </a:r>
          </a:p>
          <a:p>
            <a:pPr algn="ctr"/>
            <a:r>
              <a:rPr lang="es-MX" sz="1600" dirty="0" err="1">
                <a:latin typeface="Century Gothic" panose="020B0502020202020204" pitchFamily="34" charset="0"/>
              </a:rPr>
              <a:t>Angel</a:t>
            </a:r>
            <a:r>
              <a:rPr lang="es-MX" sz="1600" dirty="0">
                <a:latin typeface="Century Gothic" panose="020B0502020202020204" pitchFamily="34" charset="0"/>
              </a:rPr>
              <a:t> de </a:t>
            </a:r>
            <a:r>
              <a:rPr lang="es-MX" sz="1600" dirty="0" err="1">
                <a:latin typeface="Century Gothic" panose="020B0502020202020204" pitchFamily="34" charset="0"/>
              </a:rPr>
              <a:t>jesus</a:t>
            </a:r>
            <a:r>
              <a:rPr lang="es-MX" sz="1600" dirty="0">
                <a:latin typeface="Century Gothic" panose="020B0502020202020204" pitchFamily="34" charset="0"/>
              </a:rPr>
              <a:t> </a:t>
            </a:r>
            <a:r>
              <a:rPr lang="es-MX" sz="1600" dirty="0" err="1">
                <a:latin typeface="Century Gothic" panose="020B0502020202020204" pitchFamily="34" charset="0"/>
              </a:rPr>
              <a:t>mazariegoz</a:t>
            </a:r>
            <a:r>
              <a:rPr lang="es-MX" sz="1600" dirty="0">
                <a:latin typeface="Century Gothic" panose="020B0502020202020204" pitchFamily="34" charset="0"/>
              </a:rPr>
              <a:t> </a:t>
            </a:r>
            <a:r>
              <a:rPr lang="es-MX" sz="1600" dirty="0" err="1">
                <a:latin typeface="Century Gothic" panose="020B0502020202020204" pitchFamily="34" charset="0"/>
              </a:rPr>
              <a:t>ortiz</a:t>
            </a:r>
            <a:r>
              <a:rPr lang="es-MX" sz="1600" dirty="0">
                <a:latin typeface="Century Gothic" panose="020B0502020202020204" pitchFamily="34" charset="0"/>
              </a:rPr>
              <a:t>  231260003</a:t>
            </a:r>
          </a:p>
          <a:p>
            <a:pPr algn="ctr"/>
            <a:r>
              <a:rPr lang="es-MX" sz="1600" dirty="0">
                <a:latin typeface="Century Gothic" panose="020B0502020202020204" pitchFamily="34" charset="0"/>
              </a:rPr>
              <a:t>Simone </a:t>
            </a:r>
            <a:r>
              <a:rPr lang="es-MX" sz="1600" dirty="0" err="1">
                <a:latin typeface="Century Gothic" panose="020B0502020202020204" pitchFamily="34" charset="0"/>
              </a:rPr>
              <a:t>belen</a:t>
            </a:r>
            <a:r>
              <a:rPr lang="es-MX" sz="1600" dirty="0">
                <a:latin typeface="Century Gothic" panose="020B0502020202020204" pitchFamily="34" charset="0"/>
              </a:rPr>
              <a:t> </a:t>
            </a:r>
            <a:r>
              <a:rPr lang="es-MX" sz="1600" dirty="0" err="1">
                <a:latin typeface="Century Gothic" panose="020B0502020202020204" pitchFamily="34" charset="0"/>
              </a:rPr>
              <a:t>lopez</a:t>
            </a:r>
            <a:r>
              <a:rPr lang="es-MX" sz="1600" dirty="0">
                <a:latin typeface="Century Gothic" panose="020B0502020202020204" pitchFamily="34" charset="0"/>
              </a:rPr>
              <a:t> </a:t>
            </a:r>
            <a:r>
              <a:rPr lang="es-MX" sz="1600" dirty="0" err="1">
                <a:latin typeface="Century Gothic" panose="020B0502020202020204" pitchFamily="34" charset="0"/>
              </a:rPr>
              <a:t>ramirez</a:t>
            </a:r>
            <a:r>
              <a:rPr lang="es-MX" sz="1600" dirty="0">
                <a:latin typeface="Century Gothic" panose="020B0502020202020204" pitchFamily="34" charset="0"/>
              </a:rPr>
              <a:t> 231260010</a:t>
            </a:r>
          </a:p>
          <a:p>
            <a:pPr algn="ctr"/>
            <a:r>
              <a:rPr lang="es-MX" sz="1600" dirty="0">
                <a:latin typeface="Century Gothic" panose="020B0502020202020204" pitchFamily="34" charset="0"/>
              </a:rPr>
              <a:t>Nombre del docente:</a:t>
            </a:r>
          </a:p>
          <a:p>
            <a:pPr algn="ctr"/>
            <a:r>
              <a:rPr lang="es-MX" sz="1600" dirty="0">
                <a:latin typeface="Century Gothic" panose="020B0502020202020204" pitchFamily="34" charset="0"/>
              </a:rPr>
              <a:t>Ing. Francisco </a:t>
            </a:r>
            <a:r>
              <a:rPr lang="es-MX" sz="1600" dirty="0" err="1">
                <a:latin typeface="Century Gothic" panose="020B0502020202020204" pitchFamily="34" charset="0"/>
              </a:rPr>
              <a:t>javier</a:t>
            </a:r>
            <a:r>
              <a:rPr lang="es-MX" sz="1600" dirty="0">
                <a:latin typeface="Century Gothic" panose="020B0502020202020204" pitchFamily="34" charset="0"/>
              </a:rPr>
              <a:t>  mingo </a:t>
            </a:r>
            <a:r>
              <a:rPr lang="es-MX" sz="1600" dirty="0" err="1">
                <a:latin typeface="Century Gothic" panose="020B0502020202020204" pitchFamily="34" charset="0"/>
              </a:rPr>
              <a:t>velazques</a:t>
            </a:r>
            <a:endParaRPr lang="es-MX" sz="1600" dirty="0">
              <a:latin typeface="Century Gothic" panose="020B0502020202020204" pitchFamily="34" charset="0"/>
            </a:endParaRPr>
          </a:p>
          <a:p>
            <a:pPr algn="ctr"/>
            <a:r>
              <a:rPr lang="es-MX" sz="1600" dirty="0">
                <a:latin typeface="Century Gothic" panose="020B0502020202020204" pitchFamily="34" charset="0"/>
              </a:rPr>
              <a:t>Nombre del trabajo:</a:t>
            </a:r>
          </a:p>
          <a:p>
            <a:pPr algn="ctr"/>
            <a:r>
              <a:rPr lang="es-MX" sz="1600" dirty="0">
                <a:latin typeface="Century Gothic" panose="020B0502020202020204" pitchFamily="34" charset="0"/>
              </a:rPr>
              <a:t>2.3 Ejercicio de la interfaz del sistema</a:t>
            </a:r>
          </a:p>
          <a:p>
            <a:pPr algn="ctr"/>
            <a:r>
              <a:rPr lang="es-MX" sz="1600" dirty="0">
                <a:latin typeface="Century Gothic" panose="020B0502020202020204" pitchFamily="34" charset="0"/>
              </a:rPr>
              <a:t>Fecha de </a:t>
            </a:r>
            <a:r>
              <a:rPr lang="es-MX" sz="1600" dirty="0" err="1">
                <a:latin typeface="Century Gothic" panose="020B0502020202020204" pitchFamily="34" charset="0"/>
              </a:rPr>
              <a:t>entraga</a:t>
            </a:r>
            <a:r>
              <a:rPr lang="es-MX" sz="1600" dirty="0">
                <a:latin typeface="Century Gothic" panose="020B0502020202020204" pitchFamily="34" charset="0"/>
              </a:rPr>
              <a:t>: 22/02/2026</a:t>
            </a:r>
          </a:p>
          <a:p>
            <a:pPr algn="ctr"/>
            <a:endParaRPr lang="es-MX" sz="1600" dirty="0">
              <a:latin typeface="Century Gothic" panose="020B0502020202020204" pitchFamily="34" charset="0"/>
            </a:endParaRPr>
          </a:p>
          <a:p>
            <a:pPr algn="ctr"/>
            <a:endParaRPr lang="es-MX" sz="1400" dirty="0">
              <a:latin typeface="Century Gothic" panose="020B0502020202020204" pitchFamily="34" charset="0"/>
            </a:endParaRPr>
          </a:p>
          <a:p>
            <a:pPr algn="ctr"/>
            <a:endParaRPr lang="es-MX" dirty="0">
              <a:latin typeface="Century Gothic" panose="020B0502020202020204" pitchFamily="34" charset="0"/>
            </a:endParaRPr>
          </a:p>
          <a:p>
            <a:pPr algn="ctr"/>
            <a:endParaRPr lang="es-MX" dirty="0">
              <a:latin typeface="Century Gothic" panose="020B0502020202020204" pitchFamily="34" charset="0"/>
            </a:endParaRPr>
          </a:p>
        </p:txBody>
      </p:sp>
    </p:spTree>
    <p:extLst>
      <p:ext uri="{BB962C8B-B14F-4D97-AF65-F5344CB8AC3E}">
        <p14:creationId xmlns:p14="http://schemas.microsoft.com/office/powerpoint/2010/main" val="2540397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4BCDF9-876D-0667-782B-8D18E2292B0E}"/>
              </a:ext>
            </a:extLst>
          </p:cNvPr>
          <p:cNvSpPr>
            <a:spLocks noGrp="1"/>
          </p:cNvSpPr>
          <p:nvPr>
            <p:ph type="ctrTitle"/>
          </p:nvPr>
        </p:nvSpPr>
        <p:spPr>
          <a:xfrm>
            <a:off x="1352550" y="212711"/>
            <a:ext cx="8940669" cy="1063640"/>
          </a:xfrm>
          <a:solidFill>
            <a:schemeClr val="tx1"/>
          </a:solidFill>
          <a:ln>
            <a:noFill/>
          </a:ln>
        </p:spPr>
        <p:txBody>
          <a:bodyPr>
            <a:normAutofit/>
          </a:bodyPr>
          <a:lstStyle/>
          <a:p>
            <a:r>
              <a:rPr lang="es-MX" dirty="0">
                <a:latin typeface="Arial Black" panose="020B0A04020102020204" pitchFamily="34" charset="0"/>
              </a:rPr>
              <a:t>INTRODUCCION</a:t>
            </a:r>
          </a:p>
        </p:txBody>
      </p:sp>
      <p:sp>
        <p:nvSpPr>
          <p:cNvPr id="3" name="Subtítulo 2">
            <a:extLst>
              <a:ext uri="{FF2B5EF4-FFF2-40B4-BE49-F238E27FC236}">
                <a16:creationId xmlns:a16="http://schemas.microsoft.com/office/drawing/2014/main" id="{9F4B091B-6AEC-6204-5D51-21DBD5BFC763}"/>
              </a:ext>
            </a:extLst>
          </p:cNvPr>
          <p:cNvSpPr>
            <a:spLocks noGrp="1"/>
          </p:cNvSpPr>
          <p:nvPr>
            <p:ph type="subTitle" idx="1"/>
          </p:nvPr>
        </p:nvSpPr>
        <p:spPr>
          <a:xfrm>
            <a:off x="582706" y="1713678"/>
            <a:ext cx="11250706" cy="2648772"/>
          </a:xfrm>
        </p:spPr>
        <p:txBody>
          <a:bodyPr>
            <a:normAutofit/>
          </a:bodyPr>
          <a:lstStyle/>
          <a:p>
            <a:pPr algn="just"/>
            <a:r>
              <a:rPr lang="es-MX" sz="1600" dirty="0">
                <a:solidFill>
                  <a:schemeClr val="bg2"/>
                </a:solidFill>
                <a:latin typeface="Arial" panose="020B0604020202020204" pitchFamily="34" charset="0"/>
                <a:cs typeface="Arial" panose="020B0604020202020204" pitchFamily="34" charset="0"/>
              </a:rPr>
              <a:t>En la actualidad, la tecnología ha permitido mejorar y automatizar muchos procesos dentro de instituciones educativas y empresas. Uno de estos procesos es el control de asistencia, el cual tradicionalmente se realizaba de forma manual mediante listas o firmas. Sin embargo, estos métodos pueden ser lentos y propensos a errores.</a:t>
            </a:r>
          </a:p>
          <a:p>
            <a:pPr algn="just"/>
            <a:r>
              <a:rPr lang="es-MX" sz="1600" dirty="0">
                <a:solidFill>
                  <a:schemeClr val="bg2"/>
                </a:solidFill>
                <a:latin typeface="Arial" panose="020B0604020202020204" pitchFamily="34" charset="0"/>
                <a:cs typeface="Arial" panose="020B0604020202020204" pitchFamily="34" charset="0"/>
              </a:rPr>
              <a:t>En este proyecto se diseñó un prototipo de sistema llamado ASISTEC, cuyo objetivo es registrar la asistencia de los usuarios mediante el reconocimiento facial. Para ello se desarrollaron diferentes interfaces que permiten iniciar sesión, registrar nuevos usuarios, escanear el rostro para registrar asistencia y visualizar la lista de asistencias registradas. Este sistema busca facilitar el control de asistencia de manera más rápida, segura y automatizada.</a:t>
            </a:r>
          </a:p>
        </p:txBody>
      </p:sp>
    </p:spTree>
    <p:extLst>
      <p:ext uri="{BB962C8B-B14F-4D97-AF65-F5344CB8AC3E}">
        <p14:creationId xmlns:p14="http://schemas.microsoft.com/office/powerpoint/2010/main" val="2223239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4BCDF9-876D-0667-782B-8D18E2292B0E}"/>
              </a:ext>
            </a:extLst>
          </p:cNvPr>
          <p:cNvSpPr>
            <a:spLocks noGrp="1"/>
          </p:cNvSpPr>
          <p:nvPr>
            <p:ph type="ctrTitle"/>
          </p:nvPr>
        </p:nvSpPr>
        <p:spPr>
          <a:xfrm>
            <a:off x="1301620" y="212711"/>
            <a:ext cx="8991600" cy="1006489"/>
          </a:xfrm>
          <a:solidFill>
            <a:schemeClr val="tx1"/>
          </a:solidFill>
          <a:ln>
            <a:noFill/>
          </a:ln>
        </p:spPr>
        <p:txBody>
          <a:bodyPr/>
          <a:lstStyle/>
          <a:p>
            <a:r>
              <a:rPr lang="es-MX" dirty="0">
                <a:latin typeface="Arial Black" panose="020B0A04020102020204" pitchFamily="34" charset="0"/>
              </a:rPr>
              <a:t>JUSTIFICACION</a:t>
            </a:r>
          </a:p>
        </p:txBody>
      </p:sp>
      <p:sp>
        <p:nvSpPr>
          <p:cNvPr id="4" name="Rectangle 1">
            <a:extLst>
              <a:ext uri="{FF2B5EF4-FFF2-40B4-BE49-F238E27FC236}">
                <a16:creationId xmlns:a16="http://schemas.microsoft.com/office/drawing/2014/main" id="{8F22C829-E863-40F3-8021-4F48BFA8305D}"/>
              </a:ext>
            </a:extLst>
          </p:cNvPr>
          <p:cNvSpPr>
            <a:spLocks noGrp="1" noChangeArrowheads="1"/>
          </p:cNvSpPr>
          <p:nvPr>
            <p:ph type="subTitle" idx="1"/>
          </p:nvPr>
        </p:nvSpPr>
        <p:spPr bwMode="auto">
          <a:xfrm>
            <a:off x="717176" y="1778825"/>
            <a:ext cx="1021276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bg1"/>
                </a:solidFill>
                <a:latin typeface="Arial" panose="020B0604020202020204" pitchFamily="34" charset="0"/>
                <a:cs typeface="Arial" panose="020B0604020202020204" pitchFamily="34" charset="0"/>
              </a:rPr>
              <a:t>La creación de un sistema de asistencia mediante reconocimiento facial surge como una solución tecnológica para mejorar la eficiencia en el registro de asistencia. Los métodos tradicionales pueden presentar problemas como suplantación de identidad, pérdida de registros o retraso en el proceso de control. </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bg1"/>
                </a:solidFill>
                <a:latin typeface="Arial" panose="020B0604020202020204" pitchFamily="34" charset="0"/>
                <a:cs typeface="Arial" panose="020B0604020202020204" pitchFamily="34" charset="0"/>
              </a:rPr>
              <a:t>Mediante el uso del reconocimiento facial se garantiza una mayor seguridad, ya que cada persona es identificada a través de sus características biométricas. Además, permite registrar la fecha y la hora exacta de entrada de cada usuario. </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bg1"/>
                </a:solidFill>
                <a:latin typeface="Arial" panose="020B0604020202020204" pitchFamily="34" charset="0"/>
                <a:cs typeface="Arial" panose="020B0604020202020204" pitchFamily="34" charset="0"/>
              </a:rPr>
              <a:t>Este tipo de sistemas puede ser implementado en escuelas, empresas u organizaciones donde sea necesario llevar un control preciso de asistencia, reduciendo errores humanos y optimizando el tiempo.</a:t>
            </a:r>
          </a:p>
        </p:txBody>
      </p:sp>
    </p:spTree>
    <p:extLst>
      <p:ext uri="{BB962C8B-B14F-4D97-AF65-F5344CB8AC3E}">
        <p14:creationId xmlns:p14="http://schemas.microsoft.com/office/powerpoint/2010/main" val="2072528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2276B6-7B72-4DB5-9B06-958D3A45915F}"/>
              </a:ext>
            </a:extLst>
          </p:cNvPr>
          <p:cNvSpPr>
            <a:spLocks noGrp="1"/>
          </p:cNvSpPr>
          <p:nvPr>
            <p:ph type="title"/>
          </p:nvPr>
        </p:nvSpPr>
        <p:spPr>
          <a:xfrm>
            <a:off x="2231136" y="164592"/>
            <a:ext cx="7729728" cy="1188720"/>
          </a:xfrm>
          <a:solidFill>
            <a:schemeClr val="bg1"/>
          </a:solidFill>
          <a:ln>
            <a:noFill/>
          </a:ln>
        </p:spPr>
        <p:txBody>
          <a:bodyPr>
            <a:normAutofit/>
          </a:bodyPr>
          <a:lstStyle/>
          <a:p>
            <a:r>
              <a:rPr lang="es-MX" sz="3800" dirty="0">
                <a:latin typeface="Arial Black" panose="020B0A04020102020204" pitchFamily="34" charset="0"/>
                <a:cs typeface="Arial" panose="020B0604020202020204" pitchFamily="34" charset="0"/>
              </a:rPr>
              <a:t>Pre-pantalla 1</a:t>
            </a:r>
          </a:p>
        </p:txBody>
      </p:sp>
      <p:pic>
        <p:nvPicPr>
          <p:cNvPr id="5" name="Marcador de contenido 4">
            <a:extLst>
              <a:ext uri="{FF2B5EF4-FFF2-40B4-BE49-F238E27FC236}">
                <a16:creationId xmlns:a16="http://schemas.microsoft.com/office/drawing/2014/main" id="{05F79A1F-19DE-494F-A731-49709801DA3C}"/>
              </a:ext>
            </a:extLst>
          </p:cNvPr>
          <p:cNvPicPr>
            <a:picLocks noGrp="1" noChangeAspect="1"/>
          </p:cNvPicPr>
          <p:nvPr>
            <p:ph idx="1"/>
          </p:nvPr>
        </p:nvPicPr>
        <p:blipFill>
          <a:blip r:embed="rId2"/>
          <a:stretch>
            <a:fillRect/>
          </a:stretch>
        </p:blipFill>
        <p:spPr>
          <a:xfrm>
            <a:off x="295276" y="1158927"/>
            <a:ext cx="6322188" cy="4540145"/>
          </a:xfrm>
        </p:spPr>
      </p:pic>
      <p:sp>
        <p:nvSpPr>
          <p:cNvPr id="6" name="CuadroTexto 5">
            <a:extLst>
              <a:ext uri="{FF2B5EF4-FFF2-40B4-BE49-F238E27FC236}">
                <a16:creationId xmlns:a16="http://schemas.microsoft.com/office/drawing/2014/main" id="{74E2D93B-AEE7-483C-8BEC-434150F7DB56}"/>
              </a:ext>
            </a:extLst>
          </p:cNvPr>
          <p:cNvSpPr txBox="1"/>
          <p:nvPr/>
        </p:nvSpPr>
        <p:spPr>
          <a:xfrm>
            <a:off x="6943725" y="1504950"/>
            <a:ext cx="5038725" cy="5078313"/>
          </a:xfrm>
          <a:prstGeom prst="rect">
            <a:avLst/>
          </a:prstGeom>
          <a:noFill/>
        </p:spPr>
        <p:txBody>
          <a:bodyPr wrap="square" rtlCol="0">
            <a:spAutoFit/>
          </a:bodyPr>
          <a:lstStyle/>
          <a:p>
            <a:r>
              <a:rPr lang="es-MX" b="1" dirty="0"/>
              <a:t>Pantalla de inicio del sistema</a:t>
            </a:r>
          </a:p>
          <a:p>
            <a:r>
              <a:rPr lang="es-MX" dirty="0"/>
              <a:t>En esta primera interfaz aparece el inicio del sistema llamado ASISTEC – Sistema de Asistencia Facial.</a:t>
            </a:r>
          </a:p>
          <a:p>
            <a:r>
              <a:rPr lang="es-MX" b="1" dirty="0"/>
              <a:t>Elementos que contiene:</a:t>
            </a:r>
          </a:p>
          <a:p>
            <a:r>
              <a:rPr lang="es-MX" dirty="0"/>
              <a:t>•Título del sistema.	</a:t>
            </a:r>
          </a:p>
          <a:p>
            <a:endParaRPr lang="es-MX" dirty="0"/>
          </a:p>
          <a:p>
            <a:r>
              <a:rPr lang="es-MX" b="1" dirty="0"/>
              <a:t>•Descripción: </a:t>
            </a:r>
            <a:r>
              <a:rPr lang="es-MX" dirty="0"/>
              <a:t>indica que es un sistema de control de asistencia mediante reconocimiento facial.</a:t>
            </a:r>
          </a:p>
          <a:p>
            <a:endParaRPr lang="es-MX" dirty="0"/>
          </a:p>
          <a:p>
            <a:r>
              <a:rPr lang="es-MX" dirty="0"/>
              <a:t>•</a:t>
            </a:r>
            <a:r>
              <a:rPr lang="es-MX" b="1" dirty="0"/>
              <a:t>Botón “Iniciar sesión”: </a:t>
            </a:r>
            <a:r>
              <a:rPr lang="es-MX" dirty="0"/>
              <a:t>permite que un usuario que ya tiene cuenta entre al sistema.	</a:t>
            </a:r>
          </a:p>
          <a:p>
            <a:endParaRPr lang="es-MX" dirty="0"/>
          </a:p>
          <a:p>
            <a:r>
              <a:rPr lang="es-MX" dirty="0"/>
              <a:t>•</a:t>
            </a:r>
            <a:r>
              <a:rPr lang="es-MX" b="1" dirty="0"/>
              <a:t>Botón “Registrar usuario”: </a:t>
            </a:r>
            <a:r>
              <a:rPr lang="es-MX" dirty="0"/>
              <a:t>sirve para crear una cuenta nueva.</a:t>
            </a:r>
          </a:p>
          <a:p>
            <a:endParaRPr lang="es-MX" dirty="0"/>
          </a:p>
          <a:p>
            <a:r>
              <a:rPr lang="es-MX" b="1" dirty="0"/>
              <a:t>Función: </a:t>
            </a:r>
            <a:r>
              <a:rPr lang="es-MX" dirty="0"/>
              <a:t>Es la pantalla principal desde donde el usuario puede acceder al sistema o registrarse.</a:t>
            </a:r>
          </a:p>
          <a:p>
            <a:pPr marL="342900" indent="-342900">
              <a:buAutoNum type="arabicPeriod"/>
            </a:pPr>
            <a:endParaRPr lang="es-MX" dirty="0"/>
          </a:p>
        </p:txBody>
      </p:sp>
    </p:spTree>
    <p:extLst>
      <p:ext uri="{BB962C8B-B14F-4D97-AF65-F5344CB8AC3E}">
        <p14:creationId xmlns:p14="http://schemas.microsoft.com/office/powerpoint/2010/main" val="1554641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CBFDB2-9288-4517-8514-D39AD7DE4248}"/>
              </a:ext>
            </a:extLst>
          </p:cNvPr>
          <p:cNvSpPr>
            <a:spLocks noGrp="1"/>
          </p:cNvSpPr>
          <p:nvPr>
            <p:ph type="title"/>
          </p:nvPr>
        </p:nvSpPr>
        <p:spPr>
          <a:xfrm>
            <a:off x="2231136" y="0"/>
            <a:ext cx="7729728" cy="1188720"/>
          </a:xfrm>
          <a:solidFill>
            <a:schemeClr val="bg1"/>
          </a:solidFill>
          <a:ln>
            <a:noFill/>
          </a:ln>
        </p:spPr>
        <p:txBody>
          <a:bodyPr/>
          <a:lstStyle/>
          <a:p>
            <a:r>
              <a:rPr lang="es-MX" dirty="0">
                <a:latin typeface="Arial Black" panose="020B0A04020102020204" pitchFamily="34" charset="0"/>
              </a:rPr>
              <a:t>pre-pantalla 2 </a:t>
            </a:r>
          </a:p>
        </p:txBody>
      </p:sp>
      <p:pic>
        <p:nvPicPr>
          <p:cNvPr id="5" name="Marcador de contenido 4">
            <a:extLst>
              <a:ext uri="{FF2B5EF4-FFF2-40B4-BE49-F238E27FC236}">
                <a16:creationId xmlns:a16="http://schemas.microsoft.com/office/drawing/2014/main" id="{564F917C-6B96-40C4-BD35-6285D8C9D260}"/>
              </a:ext>
            </a:extLst>
          </p:cNvPr>
          <p:cNvPicPr>
            <a:picLocks noGrp="1" noChangeAspect="1"/>
          </p:cNvPicPr>
          <p:nvPr>
            <p:ph idx="1"/>
          </p:nvPr>
        </p:nvPicPr>
        <p:blipFill>
          <a:blip r:embed="rId2"/>
          <a:stretch>
            <a:fillRect/>
          </a:stretch>
        </p:blipFill>
        <p:spPr>
          <a:xfrm>
            <a:off x="1" y="1038225"/>
            <a:ext cx="6096000" cy="4610100"/>
          </a:xfrm>
        </p:spPr>
      </p:pic>
      <p:sp>
        <p:nvSpPr>
          <p:cNvPr id="6" name="CuadroTexto 5">
            <a:extLst>
              <a:ext uri="{FF2B5EF4-FFF2-40B4-BE49-F238E27FC236}">
                <a16:creationId xmlns:a16="http://schemas.microsoft.com/office/drawing/2014/main" id="{7C1898C6-2EA5-40D6-BCFC-BB3943B9D23E}"/>
              </a:ext>
            </a:extLst>
          </p:cNvPr>
          <p:cNvSpPr txBox="1"/>
          <p:nvPr/>
        </p:nvSpPr>
        <p:spPr>
          <a:xfrm>
            <a:off x="6010275" y="1150620"/>
            <a:ext cx="6181724" cy="3693319"/>
          </a:xfrm>
          <a:prstGeom prst="rect">
            <a:avLst/>
          </a:prstGeom>
          <a:noFill/>
        </p:spPr>
        <p:txBody>
          <a:bodyPr wrap="square" rtlCol="0">
            <a:spAutoFit/>
          </a:bodyPr>
          <a:lstStyle/>
          <a:p>
            <a:r>
              <a:rPr lang="es-MX" b="1" dirty="0"/>
              <a:t>Pantalla de cámara / reconocimiento</a:t>
            </a:r>
          </a:p>
          <a:p>
            <a:r>
              <a:rPr lang="es-MX" b="1" dirty="0"/>
              <a:t>Facial  Esta interfaz corresponde al proceso de escaneo facial.</a:t>
            </a:r>
          </a:p>
          <a:p>
            <a:r>
              <a:rPr lang="es-MX" b="1" dirty="0"/>
              <a:t>Elementos que contiene:</a:t>
            </a:r>
          </a:p>
          <a:p>
            <a:r>
              <a:rPr lang="es-MX" dirty="0"/>
              <a:t>•Título “Cámara”.</a:t>
            </a:r>
          </a:p>
          <a:p>
            <a:r>
              <a:rPr lang="es-MX" dirty="0"/>
              <a:t>•Imagen simulando el escaneo del rostro.</a:t>
            </a:r>
          </a:p>
          <a:p>
            <a:r>
              <a:rPr lang="es-MX" dirty="0"/>
              <a:t>•Botón “Iniciar reconocimiento”.	</a:t>
            </a:r>
          </a:p>
          <a:p>
            <a:r>
              <a:rPr lang="es-MX" dirty="0"/>
              <a:t>•Botón “Volver a intentarlo”.</a:t>
            </a:r>
          </a:p>
          <a:p>
            <a:r>
              <a:rPr lang="es-MX" dirty="0"/>
              <a:t>•</a:t>
            </a:r>
            <a:r>
              <a:rPr lang="es-MX" b="1" dirty="0"/>
              <a:t>Instrucciones:	</a:t>
            </a:r>
          </a:p>
          <a:p>
            <a:r>
              <a:rPr lang="es-MX" dirty="0"/>
              <a:t>•Colocar el rostro dentro del marco.</a:t>
            </a:r>
          </a:p>
          <a:p>
            <a:r>
              <a:rPr lang="es-MX" dirty="0"/>
              <a:t>•Tener buena iluminación.</a:t>
            </a:r>
          </a:p>
          <a:p>
            <a:r>
              <a:rPr lang="es-MX" b="1" dirty="0"/>
              <a:t>Función: </a:t>
            </a:r>
            <a:r>
              <a:rPr lang="es-MX" dirty="0"/>
              <a:t>Permite que el sistema reconozca el rostro del usuario para identificarlo.</a:t>
            </a:r>
          </a:p>
        </p:txBody>
      </p:sp>
    </p:spTree>
    <p:extLst>
      <p:ext uri="{BB962C8B-B14F-4D97-AF65-F5344CB8AC3E}">
        <p14:creationId xmlns:p14="http://schemas.microsoft.com/office/powerpoint/2010/main" val="1777262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94612B-0783-4DEB-8E20-55138F929FE2}"/>
              </a:ext>
            </a:extLst>
          </p:cNvPr>
          <p:cNvSpPr>
            <a:spLocks noGrp="1"/>
          </p:cNvSpPr>
          <p:nvPr>
            <p:ph type="title"/>
          </p:nvPr>
        </p:nvSpPr>
        <p:spPr>
          <a:xfrm>
            <a:off x="2231136" y="0"/>
            <a:ext cx="7729728" cy="1188720"/>
          </a:xfrm>
          <a:solidFill>
            <a:schemeClr val="bg1"/>
          </a:solidFill>
          <a:ln>
            <a:noFill/>
          </a:ln>
        </p:spPr>
        <p:txBody>
          <a:bodyPr/>
          <a:lstStyle/>
          <a:p>
            <a:r>
              <a:rPr lang="es-MX" dirty="0">
                <a:latin typeface="Arial Black" panose="020B0A04020102020204" pitchFamily="34" charset="0"/>
              </a:rPr>
              <a:t>PRE-PANTALLA 3</a:t>
            </a:r>
          </a:p>
        </p:txBody>
      </p:sp>
      <p:pic>
        <p:nvPicPr>
          <p:cNvPr id="5" name="Marcador de contenido 4">
            <a:extLst>
              <a:ext uri="{FF2B5EF4-FFF2-40B4-BE49-F238E27FC236}">
                <a16:creationId xmlns:a16="http://schemas.microsoft.com/office/drawing/2014/main" id="{F6486F8F-4344-460F-83A8-370F0B404985}"/>
              </a:ext>
            </a:extLst>
          </p:cNvPr>
          <p:cNvPicPr>
            <a:picLocks noGrp="1" noChangeAspect="1"/>
          </p:cNvPicPr>
          <p:nvPr>
            <p:ph idx="1"/>
          </p:nvPr>
        </p:nvPicPr>
        <p:blipFill>
          <a:blip r:embed="rId2"/>
          <a:stretch>
            <a:fillRect/>
          </a:stretch>
        </p:blipFill>
        <p:spPr>
          <a:xfrm>
            <a:off x="97596" y="1095375"/>
            <a:ext cx="7150929" cy="5105400"/>
          </a:xfrm>
        </p:spPr>
      </p:pic>
      <p:sp>
        <p:nvSpPr>
          <p:cNvPr id="6" name="CuadroTexto 5">
            <a:extLst>
              <a:ext uri="{FF2B5EF4-FFF2-40B4-BE49-F238E27FC236}">
                <a16:creationId xmlns:a16="http://schemas.microsoft.com/office/drawing/2014/main" id="{0DE630D8-FE62-4AB4-9475-8C1C9C5BB862}"/>
              </a:ext>
            </a:extLst>
          </p:cNvPr>
          <p:cNvSpPr txBox="1"/>
          <p:nvPr/>
        </p:nvSpPr>
        <p:spPr>
          <a:xfrm>
            <a:off x="6496049" y="1859339"/>
            <a:ext cx="5169729" cy="3416320"/>
          </a:xfrm>
          <a:prstGeom prst="rect">
            <a:avLst/>
          </a:prstGeom>
          <a:noFill/>
        </p:spPr>
        <p:txBody>
          <a:bodyPr wrap="square" rtlCol="0">
            <a:spAutoFit/>
          </a:bodyPr>
          <a:lstStyle/>
          <a:p>
            <a:r>
              <a:rPr lang="es-MX" dirty="0"/>
              <a:t> </a:t>
            </a:r>
            <a:r>
              <a:rPr lang="es-MX" b="1" dirty="0"/>
              <a:t>Pantalla de registro de nuevo usuario</a:t>
            </a:r>
          </a:p>
          <a:p>
            <a:r>
              <a:rPr lang="es-MX" b="1" dirty="0"/>
              <a:t>Esta pantalla permite crear una cuenta en el sistema.</a:t>
            </a:r>
          </a:p>
          <a:p>
            <a:r>
              <a:rPr lang="es-MX" b="1" dirty="0"/>
              <a:t>Campos que contiene:	</a:t>
            </a:r>
          </a:p>
          <a:p>
            <a:r>
              <a:rPr lang="es-MX" dirty="0"/>
              <a:t>•Nombre completo</a:t>
            </a:r>
          </a:p>
          <a:p>
            <a:r>
              <a:rPr lang="es-MX" dirty="0"/>
              <a:t>•Correo electrónico	</a:t>
            </a:r>
          </a:p>
          <a:p>
            <a:r>
              <a:rPr lang="es-MX" dirty="0"/>
              <a:t>•Contraseña</a:t>
            </a:r>
          </a:p>
          <a:p>
            <a:r>
              <a:rPr lang="es-MX" dirty="0"/>
              <a:t>•Botón Registrar</a:t>
            </a:r>
          </a:p>
          <a:p>
            <a:r>
              <a:rPr lang="es-MX" dirty="0"/>
              <a:t>•Opción Iniciar sesión si ya se tiene una cuenta.</a:t>
            </a:r>
          </a:p>
          <a:p>
            <a:r>
              <a:rPr lang="es-MX" b="1" dirty="0"/>
              <a:t>Función: </a:t>
            </a:r>
            <a:r>
              <a:rPr lang="es-MX" dirty="0"/>
              <a:t>Guardar los datos del usuario para que después pueda registrar su asistencia mediante reconocimiento facial.</a:t>
            </a:r>
          </a:p>
        </p:txBody>
      </p:sp>
    </p:spTree>
    <p:extLst>
      <p:ext uri="{BB962C8B-B14F-4D97-AF65-F5344CB8AC3E}">
        <p14:creationId xmlns:p14="http://schemas.microsoft.com/office/powerpoint/2010/main" val="472158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094051-7524-4529-88C4-9A59E77C97F8}"/>
              </a:ext>
            </a:extLst>
          </p:cNvPr>
          <p:cNvSpPr>
            <a:spLocks noGrp="1"/>
          </p:cNvSpPr>
          <p:nvPr>
            <p:ph type="title"/>
          </p:nvPr>
        </p:nvSpPr>
        <p:spPr>
          <a:xfrm>
            <a:off x="2231136" y="0"/>
            <a:ext cx="7729728" cy="1188720"/>
          </a:xfrm>
          <a:ln>
            <a:noFill/>
          </a:ln>
        </p:spPr>
        <p:txBody>
          <a:bodyPr/>
          <a:lstStyle/>
          <a:p>
            <a:r>
              <a:rPr lang="es-MX" dirty="0">
                <a:latin typeface="Arial Black" panose="020B0A04020102020204" pitchFamily="34" charset="0"/>
              </a:rPr>
              <a:t>PRE-PANTALLA 4</a:t>
            </a:r>
          </a:p>
        </p:txBody>
      </p:sp>
      <p:pic>
        <p:nvPicPr>
          <p:cNvPr id="5" name="Marcador de contenido 4">
            <a:extLst>
              <a:ext uri="{FF2B5EF4-FFF2-40B4-BE49-F238E27FC236}">
                <a16:creationId xmlns:a16="http://schemas.microsoft.com/office/drawing/2014/main" id="{9E892E58-94A0-4103-8E17-C909C443119C}"/>
              </a:ext>
            </a:extLst>
          </p:cNvPr>
          <p:cNvPicPr>
            <a:picLocks noGrp="1" noChangeAspect="1"/>
          </p:cNvPicPr>
          <p:nvPr>
            <p:ph idx="1"/>
          </p:nvPr>
        </p:nvPicPr>
        <p:blipFill>
          <a:blip r:embed="rId2"/>
          <a:stretch>
            <a:fillRect/>
          </a:stretch>
        </p:blipFill>
        <p:spPr>
          <a:xfrm>
            <a:off x="92816" y="1504949"/>
            <a:ext cx="6298460" cy="4810125"/>
          </a:xfrm>
        </p:spPr>
      </p:pic>
      <p:sp>
        <p:nvSpPr>
          <p:cNvPr id="6" name="CuadroTexto 5">
            <a:extLst>
              <a:ext uri="{FF2B5EF4-FFF2-40B4-BE49-F238E27FC236}">
                <a16:creationId xmlns:a16="http://schemas.microsoft.com/office/drawing/2014/main" id="{2D49E8BD-5D06-4F69-BE40-6B53A326211A}"/>
              </a:ext>
            </a:extLst>
          </p:cNvPr>
          <p:cNvSpPr txBox="1"/>
          <p:nvPr/>
        </p:nvSpPr>
        <p:spPr>
          <a:xfrm>
            <a:off x="6629400" y="1609725"/>
            <a:ext cx="5298334" cy="3139321"/>
          </a:xfrm>
          <a:prstGeom prst="rect">
            <a:avLst/>
          </a:prstGeom>
          <a:noFill/>
        </p:spPr>
        <p:txBody>
          <a:bodyPr wrap="square" rtlCol="0">
            <a:spAutoFit/>
          </a:bodyPr>
          <a:lstStyle/>
          <a:p>
            <a:r>
              <a:rPr lang="es-MX" b="1" dirty="0"/>
              <a:t>Menú principal del sistema Después de iniciar sesión aparece el menú principal del sistema ASISTEC.</a:t>
            </a:r>
          </a:p>
          <a:p>
            <a:r>
              <a:rPr lang="es-MX" b="1" dirty="0"/>
              <a:t>Opciones que contiene:	</a:t>
            </a:r>
          </a:p>
          <a:p>
            <a:r>
              <a:rPr lang="es-MX" dirty="0"/>
              <a:t>•Registrar asistencia: abre la cámara para registrar entrada.	</a:t>
            </a:r>
          </a:p>
          <a:p>
            <a:r>
              <a:rPr lang="es-MX" dirty="0"/>
              <a:t>•Ver asistencia: muestra la lista de registros.</a:t>
            </a:r>
          </a:p>
          <a:p>
            <a:r>
              <a:rPr lang="es-MX" dirty="0"/>
              <a:t>•Usuarios : permite ver o administrar usuarios.</a:t>
            </a:r>
          </a:p>
          <a:p>
            <a:r>
              <a:rPr lang="es-MX" dirty="0"/>
              <a:t>•Cerrar sesión :s </a:t>
            </a:r>
            <a:r>
              <a:rPr lang="es-MX" dirty="0" err="1"/>
              <a:t>alir</a:t>
            </a:r>
            <a:r>
              <a:rPr lang="es-MX" dirty="0"/>
              <a:t> del sistema.</a:t>
            </a:r>
          </a:p>
          <a:p>
            <a:r>
              <a:rPr lang="es-MX" b="1" dirty="0"/>
              <a:t>Función: </a:t>
            </a:r>
            <a:r>
              <a:rPr lang="es-MX" dirty="0"/>
              <a:t>Es el panel de control principal desde donde se gestionan todas las funciones</a:t>
            </a:r>
          </a:p>
        </p:txBody>
      </p:sp>
    </p:spTree>
    <p:extLst>
      <p:ext uri="{BB962C8B-B14F-4D97-AF65-F5344CB8AC3E}">
        <p14:creationId xmlns:p14="http://schemas.microsoft.com/office/powerpoint/2010/main" val="2192716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DAC70-0103-4220-8E93-76861B8B0FCF}"/>
              </a:ext>
            </a:extLst>
          </p:cNvPr>
          <p:cNvSpPr>
            <a:spLocks noGrp="1"/>
          </p:cNvSpPr>
          <p:nvPr>
            <p:ph type="title"/>
          </p:nvPr>
        </p:nvSpPr>
        <p:spPr>
          <a:xfrm>
            <a:off x="2231136" y="0"/>
            <a:ext cx="7729728" cy="1188720"/>
          </a:xfrm>
          <a:ln>
            <a:noFill/>
          </a:ln>
        </p:spPr>
        <p:txBody>
          <a:bodyPr/>
          <a:lstStyle/>
          <a:p>
            <a:r>
              <a:rPr lang="es-MX" dirty="0">
                <a:latin typeface="Arial Black" panose="020B0A04020102020204" pitchFamily="34" charset="0"/>
              </a:rPr>
              <a:t>Pre-pantalla 5 </a:t>
            </a:r>
          </a:p>
        </p:txBody>
      </p:sp>
      <p:pic>
        <p:nvPicPr>
          <p:cNvPr id="5" name="Marcador de contenido 4">
            <a:extLst>
              <a:ext uri="{FF2B5EF4-FFF2-40B4-BE49-F238E27FC236}">
                <a16:creationId xmlns:a16="http://schemas.microsoft.com/office/drawing/2014/main" id="{10E727EF-97D6-4F85-B67C-DBFB7F90B42E}"/>
              </a:ext>
            </a:extLst>
          </p:cNvPr>
          <p:cNvPicPr>
            <a:picLocks noGrp="1" noChangeAspect="1"/>
          </p:cNvPicPr>
          <p:nvPr>
            <p:ph idx="1"/>
          </p:nvPr>
        </p:nvPicPr>
        <p:blipFill>
          <a:blip r:embed="rId2"/>
          <a:stretch>
            <a:fillRect/>
          </a:stretch>
        </p:blipFill>
        <p:spPr>
          <a:xfrm>
            <a:off x="142875" y="1114425"/>
            <a:ext cx="5953125" cy="4933950"/>
          </a:xfrm>
        </p:spPr>
      </p:pic>
      <p:sp>
        <p:nvSpPr>
          <p:cNvPr id="6" name="CuadroTexto 5">
            <a:extLst>
              <a:ext uri="{FF2B5EF4-FFF2-40B4-BE49-F238E27FC236}">
                <a16:creationId xmlns:a16="http://schemas.microsoft.com/office/drawing/2014/main" id="{D3AB2CFA-8919-40CF-847C-BF2C14EC4EFC}"/>
              </a:ext>
            </a:extLst>
          </p:cNvPr>
          <p:cNvSpPr txBox="1"/>
          <p:nvPr/>
        </p:nvSpPr>
        <p:spPr>
          <a:xfrm>
            <a:off x="6562725" y="1285875"/>
            <a:ext cx="5029199" cy="3139321"/>
          </a:xfrm>
          <a:prstGeom prst="rect">
            <a:avLst/>
          </a:prstGeom>
          <a:noFill/>
        </p:spPr>
        <p:txBody>
          <a:bodyPr wrap="square" rtlCol="0">
            <a:spAutoFit/>
          </a:bodyPr>
          <a:lstStyle/>
          <a:p>
            <a:r>
              <a:rPr lang="es-MX" b="1" dirty="0"/>
              <a:t>Pantalla de registro de asistencia  Aquí el usuario escanea su rostro para marcar asistencia.</a:t>
            </a:r>
          </a:p>
          <a:p>
            <a:r>
              <a:rPr lang="es-MX" b="1" dirty="0"/>
              <a:t>Elementos:</a:t>
            </a:r>
            <a:r>
              <a:rPr lang="es-MX" dirty="0"/>
              <a:t>	</a:t>
            </a:r>
          </a:p>
          <a:p>
            <a:r>
              <a:rPr lang="es-MX" dirty="0"/>
              <a:t>•Imagen del reconocimiento facial.</a:t>
            </a:r>
          </a:p>
          <a:p>
            <a:r>
              <a:rPr lang="es-MX" dirty="0"/>
              <a:t>•Texto: Escanea tu rostro para registrar asistencia.</a:t>
            </a:r>
          </a:p>
          <a:p>
            <a:r>
              <a:rPr lang="es-MX" dirty="0"/>
              <a:t>•Botón Registrar asistencia.	</a:t>
            </a:r>
          </a:p>
          <a:p>
            <a:r>
              <a:rPr lang="es-MX" dirty="0"/>
              <a:t>•Botón Volver.</a:t>
            </a:r>
          </a:p>
          <a:p>
            <a:r>
              <a:rPr lang="es-MX" b="1" dirty="0"/>
              <a:t>Función: </a:t>
            </a:r>
            <a:r>
              <a:rPr lang="es-MX" dirty="0"/>
              <a:t>El sistema verifica la identidad del usuario y registra automáticamente su asistencia con fecha y hora.</a:t>
            </a:r>
          </a:p>
        </p:txBody>
      </p:sp>
    </p:spTree>
    <p:extLst>
      <p:ext uri="{BB962C8B-B14F-4D97-AF65-F5344CB8AC3E}">
        <p14:creationId xmlns:p14="http://schemas.microsoft.com/office/powerpoint/2010/main" val="3968632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6B03D2-4C01-4AD3-8211-3C6413E16319}"/>
              </a:ext>
            </a:extLst>
          </p:cNvPr>
          <p:cNvSpPr>
            <a:spLocks noGrp="1"/>
          </p:cNvSpPr>
          <p:nvPr>
            <p:ph type="title"/>
          </p:nvPr>
        </p:nvSpPr>
        <p:spPr>
          <a:xfrm>
            <a:off x="2154936" y="0"/>
            <a:ext cx="7729728" cy="1188720"/>
          </a:xfrm>
          <a:ln>
            <a:noFill/>
          </a:ln>
        </p:spPr>
        <p:txBody>
          <a:bodyPr/>
          <a:lstStyle/>
          <a:p>
            <a:r>
              <a:rPr lang="es-MX" dirty="0">
                <a:latin typeface="Arial Black" panose="020B0A04020102020204" pitchFamily="34" charset="0"/>
              </a:rPr>
              <a:t>Pre-pantalla 6</a:t>
            </a:r>
          </a:p>
        </p:txBody>
      </p:sp>
      <p:sp>
        <p:nvSpPr>
          <p:cNvPr id="3" name="Marcador de contenido 2">
            <a:extLst>
              <a:ext uri="{FF2B5EF4-FFF2-40B4-BE49-F238E27FC236}">
                <a16:creationId xmlns:a16="http://schemas.microsoft.com/office/drawing/2014/main" id="{2FAD5491-D160-4E97-AA75-651AF7FE582A}"/>
              </a:ext>
            </a:extLst>
          </p:cNvPr>
          <p:cNvSpPr>
            <a:spLocks noGrp="1"/>
          </p:cNvSpPr>
          <p:nvPr>
            <p:ph idx="1"/>
          </p:nvPr>
        </p:nvSpPr>
        <p:spPr>
          <a:xfrm>
            <a:off x="6827139" y="1752807"/>
            <a:ext cx="4914900" cy="3101983"/>
          </a:xfrm>
        </p:spPr>
        <p:txBody>
          <a:bodyPr>
            <a:normAutofit fontScale="92500" lnSpcReduction="20000"/>
          </a:bodyPr>
          <a:lstStyle/>
          <a:p>
            <a:pPr marL="0" indent="0">
              <a:buNone/>
            </a:pPr>
            <a:r>
              <a:rPr lang="es-MX" b="1" dirty="0"/>
              <a:t>Pantalla de asistencia registrada </a:t>
            </a:r>
          </a:p>
          <a:p>
            <a:pPr marL="0" indent="0">
              <a:buNone/>
            </a:pPr>
            <a:r>
              <a:rPr lang="es-MX" dirty="0"/>
              <a:t>Esta pantalla aparece cuando la asistencia se registró correctamente.</a:t>
            </a:r>
          </a:p>
          <a:p>
            <a:pPr marL="0" indent="0">
              <a:buNone/>
            </a:pPr>
            <a:r>
              <a:rPr lang="es-MX" b="1" dirty="0"/>
              <a:t>Información que muestra:</a:t>
            </a:r>
            <a:r>
              <a:rPr lang="es-MX" dirty="0"/>
              <a:t>	</a:t>
            </a:r>
          </a:p>
          <a:p>
            <a:pPr marL="0" indent="0">
              <a:buNone/>
            </a:pPr>
            <a:r>
              <a:rPr lang="es-MX" dirty="0"/>
              <a:t>•Nombre del usuario	</a:t>
            </a:r>
          </a:p>
          <a:p>
            <a:pPr marL="0" indent="0">
              <a:buNone/>
            </a:pPr>
            <a:r>
              <a:rPr lang="es-MX" dirty="0"/>
              <a:t>•Fecha	</a:t>
            </a:r>
          </a:p>
          <a:p>
            <a:pPr marL="0" indent="0">
              <a:buNone/>
            </a:pPr>
            <a:r>
              <a:rPr lang="es-MX" dirty="0"/>
              <a:t>•Hora	</a:t>
            </a:r>
          </a:p>
          <a:p>
            <a:pPr marL="0" indent="0">
              <a:buNone/>
            </a:pPr>
            <a:r>
              <a:rPr lang="es-MX" dirty="0"/>
              <a:t>•Botón Volver al menú</a:t>
            </a:r>
          </a:p>
          <a:p>
            <a:pPr marL="0" indent="0">
              <a:buNone/>
            </a:pPr>
            <a:r>
              <a:rPr lang="es-MX" b="1" dirty="0"/>
              <a:t>Función: </a:t>
            </a:r>
            <a:r>
              <a:rPr lang="es-MX" dirty="0"/>
              <a:t>Confirmar que la asistencia fue guardada en el sistema.</a:t>
            </a:r>
          </a:p>
        </p:txBody>
      </p:sp>
      <p:pic>
        <p:nvPicPr>
          <p:cNvPr id="5" name="Imagen 4">
            <a:extLst>
              <a:ext uri="{FF2B5EF4-FFF2-40B4-BE49-F238E27FC236}">
                <a16:creationId xmlns:a16="http://schemas.microsoft.com/office/drawing/2014/main" id="{E9C3F76D-59DA-4F77-A6DD-41C9AB723DA7}"/>
              </a:ext>
            </a:extLst>
          </p:cNvPr>
          <p:cNvPicPr>
            <a:picLocks noChangeAspect="1"/>
          </p:cNvPicPr>
          <p:nvPr/>
        </p:nvPicPr>
        <p:blipFill>
          <a:blip r:embed="rId2"/>
          <a:stretch>
            <a:fillRect/>
          </a:stretch>
        </p:blipFill>
        <p:spPr>
          <a:xfrm>
            <a:off x="0" y="1117973"/>
            <a:ext cx="6591300" cy="5537950"/>
          </a:xfrm>
          <a:prstGeom prst="rect">
            <a:avLst/>
          </a:prstGeom>
        </p:spPr>
      </p:pic>
    </p:spTree>
    <p:extLst>
      <p:ext uri="{BB962C8B-B14F-4D97-AF65-F5344CB8AC3E}">
        <p14:creationId xmlns:p14="http://schemas.microsoft.com/office/powerpoint/2010/main" val="425096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A2EEBD-1A92-46C9-A640-65D3AD08FE2A}"/>
              </a:ext>
            </a:extLst>
          </p:cNvPr>
          <p:cNvSpPr>
            <a:spLocks noGrp="1"/>
          </p:cNvSpPr>
          <p:nvPr>
            <p:ph type="title"/>
          </p:nvPr>
        </p:nvSpPr>
        <p:spPr>
          <a:xfrm>
            <a:off x="2231136" y="0"/>
            <a:ext cx="7729728" cy="1188720"/>
          </a:xfrm>
          <a:ln>
            <a:noFill/>
          </a:ln>
        </p:spPr>
        <p:txBody>
          <a:bodyPr/>
          <a:lstStyle/>
          <a:p>
            <a:r>
              <a:rPr lang="es-MX" dirty="0">
                <a:latin typeface="Arial Black" panose="020B0A04020102020204" pitchFamily="34" charset="0"/>
              </a:rPr>
              <a:t>pre-pantalla 7</a:t>
            </a:r>
          </a:p>
        </p:txBody>
      </p:sp>
      <p:pic>
        <p:nvPicPr>
          <p:cNvPr id="5" name="Marcador de contenido 4">
            <a:extLst>
              <a:ext uri="{FF2B5EF4-FFF2-40B4-BE49-F238E27FC236}">
                <a16:creationId xmlns:a16="http://schemas.microsoft.com/office/drawing/2014/main" id="{401D967B-5DE0-4D75-A559-FB09C77567EF}"/>
              </a:ext>
            </a:extLst>
          </p:cNvPr>
          <p:cNvPicPr>
            <a:picLocks noGrp="1" noChangeAspect="1"/>
          </p:cNvPicPr>
          <p:nvPr>
            <p:ph idx="1"/>
          </p:nvPr>
        </p:nvPicPr>
        <p:blipFill>
          <a:blip r:embed="rId2"/>
          <a:stretch>
            <a:fillRect/>
          </a:stretch>
        </p:blipFill>
        <p:spPr>
          <a:xfrm>
            <a:off x="257176" y="1285875"/>
            <a:ext cx="5608384" cy="4781550"/>
          </a:xfrm>
        </p:spPr>
      </p:pic>
      <p:sp>
        <p:nvSpPr>
          <p:cNvPr id="6" name="CuadroTexto 5">
            <a:extLst>
              <a:ext uri="{FF2B5EF4-FFF2-40B4-BE49-F238E27FC236}">
                <a16:creationId xmlns:a16="http://schemas.microsoft.com/office/drawing/2014/main" id="{E0091656-7FE2-46BD-9DF5-C816C24C771F}"/>
              </a:ext>
            </a:extLst>
          </p:cNvPr>
          <p:cNvSpPr txBox="1"/>
          <p:nvPr/>
        </p:nvSpPr>
        <p:spPr>
          <a:xfrm>
            <a:off x="6477000" y="1495425"/>
            <a:ext cx="5715000" cy="3416320"/>
          </a:xfrm>
          <a:prstGeom prst="rect">
            <a:avLst/>
          </a:prstGeom>
          <a:noFill/>
        </p:spPr>
        <p:txBody>
          <a:bodyPr wrap="square" rtlCol="0">
            <a:spAutoFit/>
          </a:bodyPr>
          <a:lstStyle/>
          <a:p>
            <a:r>
              <a:rPr lang="es-MX" dirty="0"/>
              <a:t> </a:t>
            </a:r>
            <a:r>
              <a:rPr lang="es-MX" b="1" dirty="0"/>
              <a:t>Lista de asistencias</a:t>
            </a:r>
          </a:p>
          <a:p>
            <a:r>
              <a:rPr lang="es-MX" dirty="0"/>
              <a:t>En esta pantalla se muestra un historial de todas las asistencias registradas.</a:t>
            </a:r>
          </a:p>
          <a:p>
            <a:r>
              <a:rPr lang="es-MX" b="1" dirty="0"/>
              <a:t>La tabla contiene:</a:t>
            </a:r>
            <a:r>
              <a:rPr lang="es-MX" dirty="0"/>
              <a:t>	</a:t>
            </a:r>
          </a:p>
          <a:p>
            <a:r>
              <a:rPr lang="es-MX" dirty="0"/>
              <a:t>•Nombre</a:t>
            </a:r>
          </a:p>
          <a:p>
            <a:r>
              <a:rPr lang="es-MX" dirty="0"/>
              <a:t>•Fecha	</a:t>
            </a:r>
          </a:p>
          <a:p>
            <a:r>
              <a:rPr lang="es-MX" dirty="0"/>
              <a:t>•Hora Ejemplo:	</a:t>
            </a:r>
          </a:p>
          <a:p>
            <a:r>
              <a:rPr lang="es-MX" dirty="0"/>
              <a:t>•Cynthia Morales – 22/02/2026 – 7:00 AM	</a:t>
            </a:r>
          </a:p>
          <a:p>
            <a:r>
              <a:rPr lang="es-MX" dirty="0"/>
              <a:t>•Luis Gómez – 22/02/2026 – 8:00 AM	</a:t>
            </a:r>
          </a:p>
          <a:p>
            <a:r>
              <a:rPr lang="es-MX" dirty="0"/>
              <a:t>•Belen Lopez – 22/02/2026 – 10:00 AM	</a:t>
            </a:r>
          </a:p>
          <a:p>
            <a:r>
              <a:rPr lang="es-MX" dirty="0"/>
              <a:t>•Ángel de Jesús – 22/02/2026 – 9:00 AM</a:t>
            </a:r>
          </a:p>
          <a:p>
            <a:r>
              <a:rPr lang="es-MX" b="1" dirty="0"/>
              <a:t>Función: </a:t>
            </a:r>
            <a:r>
              <a:rPr lang="es-MX" dirty="0"/>
              <a:t>Permite consultar quién asistió y a qué hora.</a:t>
            </a:r>
          </a:p>
        </p:txBody>
      </p:sp>
    </p:spTree>
    <p:extLst>
      <p:ext uri="{BB962C8B-B14F-4D97-AF65-F5344CB8AC3E}">
        <p14:creationId xmlns:p14="http://schemas.microsoft.com/office/powerpoint/2010/main" val="2544636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4A5492-EE67-438D-B9CB-56E0B03A9DE2}"/>
              </a:ext>
            </a:extLst>
          </p:cNvPr>
          <p:cNvSpPr>
            <a:spLocks noGrp="1"/>
          </p:cNvSpPr>
          <p:nvPr>
            <p:ph type="title"/>
          </p:nvPr>
        </p:nvSpPr>
        <p:spPr>
          <a:xfrm>
            <a:off x="2231136" y="0"/>
            <a:ext cx="7729728" cy="1188720"/>
          </a:xfrm>
          <a:ln>
            <a:noFill/>
          </a:ln>
        </p:spPr>
        <p:txBody>
          <a:bodyPr/>
          <a:lstStyle/>
          <a:p>
            <a:r>
              <a:rPr lang="es-MX" dirty="0">
                <a:latin typeface="Arial Black" panose="020B0A04020102020204" pitchFamily="34" charset="0"/>
              </a:rPr>
              <a:t>CONCLUSION </a:t>
            </a:r>
          </a:p>
        </p:txBody>
      </p:sp>
      <p:sp>
        <p:nvSpPr>
          <p:cNvPr id="3" name="Marcador de contenido 2">
            <a:extLst>
              <a:ext uri="{FF2B5EF4-FFF2-40B4-BE49-F238E27FC236}">
                <a16:creationId xmlns:a16="http://schemas.microsoft.com/office/drawing/2014/main" id="{CD020E09-387F-4500-93FF-CE81E73B7FC7}"/>
              </a:ext>
            </a:extLst>
          </p:cNvPr>
          <p:cNvSpPr>
            <a:spLocks noGrp="1"/>
          </p:cNvSpPr>
          <p:nvPr>
            <p:ph idx="1"/>
          </p:nvPr>
        </p:nvSpPr>
        <p:spPr>
          <a:xfrm>
            <a:off x="942975" y="1304544"/>
            <a:ext cx="10829925" cy="3101983"/>
          </a:xfrm>
        </p:spPr>
        <p:txBody>
          <a:bodyPr/>
          <a:lstStyle/>
          <a:p>
            <a:pPr marL="0" indent="0" algn="just">
              <a:buNone/>
            </a:pPr>
            <a:r>
              <a:rPr lang="es-MX" dirty="0">
                <a:latin typeface="Arial" panose="020B0604020202020204" pitchFamily="34" charset="0"/>
                <a:cs typeface="Arial" panose="020B0604020202020204" pitchFamily="34" charset="0"/>
              </a:rPr>
              <a:t>La práctica permitió comprender el diseño y funcionamiento de un sistema de control de asistencia basado en reconocimiento facial. A través del desarrollo de las diferentes pantallas del sistema, como el registro de usuario, el escaneo facial y la visualización de asistencias, se pudo observar cómo la tecnología puede facilitar procesos administrativos.</a:t>
            </a:r>
          </a:p>
          <a:p>
            <a:pPr marL="0" indent="0" algn="just">
              <a:buNone/>
            </a:pPr>
            <a:r>
              <a:rPr lang="es-MX" dirty="0">
                <a:latin typeface="Arial" panose="020B0604020202020204" pitchFamily="34" charset="0"/>
                <a:cs typeface="Arial" panose="020B0604020202020204" pitchFamily="34" charset="0"/>
              </a:rPr>
              <a:t>Este tipo de sistemas representa una alternativa moderna y eficiente para el registro de asistencia, ya que mejora la seguridad, reduce errores y agiliza el proceso. Además, demuestra la importancia del desarrollo de interfaces claras y funcionales para garantizar una buena experiencia de usuario.</a:t>
            </a:r>
          </a:p>
        </p:txBody>
      </p:sp>
    </p:spTree>
    <p:extLst>
      <p:ext uri="{BB962C8B-B14F-4D97-AF65-F5344CB8AC3E}">
        <p14:creationId xmlns:p14="http://schemas.microsoft.com/office/powerpoint/2010/main" val="663859073"/>
      </p:ext>
    </p:extLst>
  </p:cSld>
  <p:clrMapOvr>
    <a:masterClrMapping/>
  </p:clrMapOvr>
</p:sld>
</file>

<file path=ppt/theme/theme1.xml><?xml version="1.0" encoding="utf-8"?>
<a:theme xmlns:a="http://schemas.openxmlformats.org/drawingml/2006/main" name="Paquete">
  <a:themeElements>
    <a:clrScheme name="Amaril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{7D3604F3-E3A4-4374-AC47-B4116DE5539C}TFfb9a325e-b4a8-473d-b025-df086f5ae49338eece30-bcbfd3f0f3e8</Template>
  <TotalTime>278</TotalTime>
  <Words>946</Words>
  <Application>Microsoft Office PowerPoint</Application>
  <PresentationFormat>Panorámica</PresentationFormat>
  <Paragraphs>104</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Arial Black</vt:lpstr>
      <vt:lpstr>Century Gothic</vt:lpstr>
      <vt:lpstr>Gill Sans MT</vt:lpstr>
      <vt:lpstr>Paquete</vt:lpstr>
      <vt:lpstr>Presentación de PowerPoint</vt:lpstr>
      <vt:lpstr>INTRODUCCION</vt:lpstr>
      <vt:lpstr>JUSTIFICACION</vt:lpstr>
      <vt:lpstr>Pre-pantalla 1</vt:lpstr>
      <vt:lpstr>pre-pantalla 2 </vt:lpstr>
      <vt:lpstr>PRE-PANTALLA 3</vt:lpstr>
      <vt:lpstr>PRE-PANTALLA 4</vt:lpstr>
      <vt:lpstr>Pre-pantalla 5 </vt:lpstr>
      <vt:lpstr>Pre-pantalla 6</vt:lpstr>
      <vt:lpstr>pre-pantalla 7</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eddi castillo</dc:creator>
  <cp:lastModifiedBy>HP 840 G5</cp:lastModifiedBy>
  <cp:revision>17</cp:revision>
  <dcterms:created xsi:type="dcterms:W3CDTF">2026-02-16T03:00:16Z</dcterms:created>
  <dcterms:modified xsi:type="dcterms:W3CDTF">2026-03-25T20:51:06Z</dcterms:modified>
</cp:coreProperties>
</file>