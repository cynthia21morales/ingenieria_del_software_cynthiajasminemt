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82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147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8521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7588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415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0586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067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906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408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8562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0128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9693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8792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8555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8950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3815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381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FD197-F771-4349-90F5-B11FD657AFA2}" type="datetimeFigureOut">
              <a:rPr lang="es-MX" smtClean="0"/>
              <a:t>25/03/2026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BEDC0DD-1239-482F-87E4-BC1CAE0DF3A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908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93642C3F-355A-869E-3D2E-7832A117E1F3}"/>
              </a:ext>
            </a:extLst>
          </p:cNvPr>
          <p:cNvSpPr txBox="1"/>
          <p:nvPr/>
        </p:nvSpPr>
        <p:spPr>
          <a:xfrm>
            <a:off x="2478832" y="1706571"/>
            <a:ext cx="7644625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Ingenieria del software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r>
              <a:rPr lang="es-MX" sz="1600" dirty="0"/>
              <a:t>Luis </a:t>
            </a:r>
            <a:r>
              <a:rPr lang="es-MX" sz="1600" dirty="0" err="1"/>
              <a:t>daniel</a:t>
            </a:r>
            <a:r>
              <a:rPr lang="es-MX" sz="1600" dirty="0"/>
              <a:t> </a:t>
            </a:r>
            <a:r>
              <a:rPr lang="es-MX" sz="1600" dirty="0" err="1"/>
              <a:t>gomez</a:t>
            </a:r>
            <a:r>
              <a:rPr lang="es-MX" sz="1600" dirty="0"/>
              <a:t> </a:t>
            </a:r>
            <a:r>
              <a:rPr lang="es-MX" sz="1600" dirty="0" err="1"/>
              <a:t>santizo</a:t>
            </a:r>
            <a:r>
              <a:rPr lang="es-MX" sz="1600" dirty="0"/>
              <a:t> / 231260017</a:t>
            </a:r>
          </a:p>
          <a:p>
            <a:pPr algn="ctr"/>
            <a:r>
              <a:rPr lang="es-MX" sz="1600" dirty="0" err="1"/>
              <a:t>Angel</a:t>
            </a:r>
            <a:r>
              <a:rPr lang="es-MX" sz="1600" dirty="0"/>
              <a:t> de </a:t>
            </a:r>
            <a:r>
              <a:rPr lang="es-MX" sz="1600" dirty="0" err="1"/>
              <a:t>jesus</a:t>
            </a:r>
            <a:r>
              <a:rPr lang="es-MX" sz="1600" dirty="0"/>
              <a:t> </a:t>
            </a:r>
            <a:r>
              <a:rPr lang="es-MX" sz="1600" dirty="0" err="1"/>
              <a:t>mazariegoz</a:t>
            </a:r>
            <a:r>
              <a:rPr lang="es-MX" sz="1600" dirty="0"/>
              <a:t> </a:t>
            </a:r>
            <a:r>
              <a:rPr lang="es-MX" sz="1600" dirty="0" err="1"/>
              <a:t>ortiz</a:t>
            </a:r>
            <a:r>
              <a:rPr lang="es-MX" sz="1600" dirty="0"/>
              <a:t> / 231260003</a:t>
            </a:r>
          </a:p>
          <a:p>
            <a:pPr algn="ctr"/>
            <a:r>
              <a:rPr lang="es-MX" sz="1600" dirty="0"/>
              <a:t>Simone </a:t>
            </a:r>
            <a:r>
              <a:rPr lang="es-MX" sz="1600" dirty="0" err="1"/>
              <a:t>belen</a:t>
            </a:r>
            <a:r>
              <a:rPr lang="es-MX" sz="1600" dirty="0"/>
              <a:t> </a:t>
            </a:r>
            <a:r>
              <a:rPr lang="es-MX" sz="1600" dirty="0" err="1"/>
              <a:t>lopez</a:t>
            </a:r>
            <a:r>
              <a:rPr lang="es-MX" sz="1600" dirty="0"/>
              <a:t> </a:t>
            </a:r>
            <a:r>
              <a:rPr lang="es-MX" sz="1600" dirty="0" err="1"/>
              <a:t>ramirez</a:t>
            </a:r>
            <a:r>
              <a:rPr lang="es-MX" sz="1600" dirty="0"/>
              <a:t> / 231260010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2.2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18 de febrero del 2026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3937513E-943D-3A64-FEFD-4F3E8473BB62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3F45EC1B-634E-07DD-DDF3-347D3B83BFC1}"/>
              </a:ext>
            </a:extLst>
          </p:cNvPr>
          <p:cNvGrpSpPr/>
          <p:nvPr/>
        </p:nvGrpSpPr>
        <p:grpSpPr>
          <a:xfrm>
            <a:off x="828135" y="31119"/>
            <a:ext cx="2709599" cy="119817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50BC8BBF-A05C-91D5-9293-EC105BBDAA75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B302F008-1648-AC49-6C6A-B774C510CD35}"/>
              </a:ext>
            </a:extLst>
          </p:cNvPr>
          <p:cNvGrpSpPr/>
          <p:nvPr/>
        </p:nvGrpSpPr>
        <p:grpSpPr>
          <a:xfrm>
            <a:off x="9187322" y="87627"/>
            <a:ext cx="1872270" cy="124524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5A4DC97-9DB3-7C1C-EB9A-3224706F1298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85185561-7BCA-7C2F-1C38-7D617EFC50B4}"/>
              </a:ext>
            </a:extLst>
          </p:cNvPr>
          <p:cNvGrpSpPr/>
          <p:nvPr/>
        </p:nvGrpSpPr>
        <p:grpSpPr>
          <a:xfrm>
            <a:off x="4318815" y="269788"/>
            <a:ext cx="3812814" cy="70923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4C235EDA-B6AA-46B9-B3EB-D9C9D4E03E6C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019075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25AEC-3B63-4FEE-08CC-A64C0EEEF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69D920-180E-F692-72E6-56A20F452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El diseño en la ingeniería del software es una etapa fundamental dentro del desarrollo de sistemas, ya que permite transformar los requerimientos en una estructura organizada y funcional. A través de la aplicación de técnicas y principios, se define cómo se construirá un sistema, considerando aspectos como los datos, la arquitectura, la interfaz y la validación mediante prototipos. Este proceso no solo facilita la comprensión del sistema, sino que también guía su implementación y asegura que cumpla con las necesidades del usuario.</a:t>
            </a:r>
          </a:p>
        </p:txBody>
      </p:sp>
    </p:spTree>
    <p:extLst>
      <p:ext uri="{BB962C8B-B14F-4D97-AF65-F5344CB8AC3E}">
        <p14:creationId xmlns:p14="http://schemas.microsoft.com/office/powerpoint/2010/main" val="413207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DF765-E244-4EC9-8CD6-2D9C1197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822D43-2EAB-1179-90CD-197250934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La importancia del diseño en la ingeniería del software radica en que establece las bases para un desarrollo eficiente, organizado y de calidad. Sin un diseño adecuado, es más probable que surjan errores, inconsistencias y dificultades durante la programación y las pruebas. Además, permite anticipar problemas, mejorar la comunicación entre los componentes del sistema y garantizar una experiencia de usuario adecuada. Cada uno de sus elementos, diseño de datos, diseño arquitectónico, diseño de interfaz y prototipado, cumple un papel clave para lograr un producto final funcional y confiable.</a:t>
            </a:r>
          </a:p>
        </p:txBody>
      </p:sp>
    </p:spTree>
    <p:extLst>
      <p:ext uri="{BB962C8B-B14F-4D97-AF65-F5344CB8AC3E}">
        <p14:creationId xmlns:p14="http://schemas.microsoft.com/office/powerpoint/2010/main" val="391009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8E158-09C1-C948-878C-84288E3AF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005" y="440566"/>
            <a:ext cx="8911687" cy="1280890"/>
          </a:xfrm>
        </p:spPr>
        <p:txBody>
          <a:bodyPr/>
          <a:lstStyle/>
          <a:p>
            <a:r>
              <a:rPr lang="es-MX" dirty="0"/>
              <a:t>Crear el proyecto/diagrama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E02BA-7DE4-DA09-7621-79804F44B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348" y="1894845"/>
            <a:ext cx="8915400" cy="3777622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dirty="0"/>
              <a:t>Abrir Bizagi </a:t>
            </a:r>
            <a:r>
              <a:rPr lang="es-MX" dirty="0" err="1"/>
              <a:t>Modeler</a:t>
            </a:r>
            <a:r>
              <a:rPr lang="es-MX" dirty="0"/>
              <a:t>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s-MX" dirty="0"/>
          </a:p>
          <a:p>
            <a:pPr lvl="0">
              <a:lnSpc>
                <a:spcPct val="107000"/>
              </a:lnSpc>
              <a:spcAft>
                <a:spcPts val="800"/>
              </a:spcAft>
              <a:buAutoNum type="arabicPeriod" startAt="2"/>
              <a:tabLst>
                <a:tab pos="457200" algn="l"/>
              </a:tabLst>
            </a:pPr>
            <a:r>
              <a:rPr lang="es-MX" dirty="0"/>
              <a:t>Ir a Archivo → Nuevo (New </a:t>
            </a:r>
            <a:r>
              <a:rPr lang="es-MX" dirty="0" err="1"/>
              <a:t>Diagram</a:t>
            </a:r>
            <a:r>
              <a:rPr lang="es-MX" dirty="0"/>
              <a:t>).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s-MX" dirty="0"/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s-MX" dirty="0"/>
              <a:t>3. Seleccionar BPMN </a:t>
            </a:r>
            <a:r>
              <a:rPr lang="es-MX" dirty="0" err="1"/>
              <a:t>Diagram</a:t>
            </a:r>
            <a:r>
              <a:rPr lang="es-MX" dirty="0"/>
              <a:t> para iniciar el modelado.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63700B-BCD9-E653-4F98-DF613ABFB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923" y="1256546"/>
            <a:ext cx="1483958" cy="12808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6528FB8-1DB9-B87F-22D8-6A9776BF6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90789"/>
            <a:ext cx="1648055" cy="43821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22416B7-38E8-C80C-19D3-19BDFCB73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884" y="2750120"/>
            <a:ext cx="2495808" cy="85552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BB12371-E6F1-D3F7-E5EF-315ABB224D5C}"/>
              </a:ext>
            </a:extLst>
          </p:cNvPr>
          <p:cNvSpPr txBox="1"/>
          <p:nvPr/>
        </p:nvSpPr>
        <p:spPr>
          <a:xfrm>
            <a:off x="821307" y="5002027"/>
            <a:ext cx="6098720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dirty="0"/>
              <a:t>Función: iniciar un lienzo BPMN donde se construye el flujo del proceso.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2177B89-5F0E-16E8-B88E-FC9E71F2C5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169" y="4363493"/>
            <a:ext cx="3841630" cy="205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55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5BAC8-92AA-1B6B-C88F-662B7304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Insertar el proceso principal (Pool)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7198EE-03A5-9AC6-B6AB-3A3A2F67F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2540" y="1264555"/>
            <a:ext cx="7338560" cy="5326745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dirty="0"/>
              <a:t>En la paleta izquierda seleccionar Pool/Lane.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dirty="0"/>
              <a:t>Arrastrar el Pool al lienzo.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dirty="0"/>
              <a:t>Renombrar el Pool como:</a:t>
            </a:r>
            <a:br>
              <a:rPr lang="es-MX" dirty="0"/>
            </a:br>
            <a:r>
              <a:rPr lang="es-MX" dirty="0"/>
              <a:t>“Sistema </a:t>
            </a:r>
            <a:r>
              <a:rPr lang="es-MX" dirty="0" err="1"/>
              <a:t>AsistecFacial</a:t>
            </a:r>
            <a:r>
              <a:rPr lang="es-MX" dirty="0"/>
              <a:t> – Registro de Asistencia”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MX" dirty="0"/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MX" dirty="0"/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MX" dirty="0"/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MX" dirty="0"/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s-MX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dirty="0"/>
              <a:t>Función: el Pool representa el proceso completo que se está modelando.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748EE9B-CFDD-B1AD-0362-5F29A6C14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050" y="1457881"/>
            <a:ext cx="2098435" cy="160005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59B4AD0-A4CA-0D77-DEB0-0AEF495BB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885" y="3057937"/>
            <a:ext cx="2254995" cy="267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70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B3524-4D08-376A-6BA5-96EB277CF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14165"/>
          </a:xfrm>
        </p:spPr>
        <p:txBody>
          <a:bodyPr>
            <a:normAutofit fontScale="90000"/>
          </a:bodyPr>
          <a:lstStyle/>
          <a:p>
            <a:r>
              <a:rPr lang="es-MX" dirty="0"/>
              <a:t>Crear carriles (</a:t>
            </a:r>
            <a:r>
              <a:rPr lang="es-MX" dirty="0" err="1"/>
              <a:t>Lanes</a:t>
            </a:r>
            <a:r>
              <a:rPr lang="es-MX" dirty="0"/>
              <a:t>)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09F4EC-B0B7-8336-BE88-A73762DD5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2037" y="1438275"/>
            <a:ext cx="8915400" cy="3777622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dirty="0"/>
              <a:t>En el panel izquierdo arrastra el Lane.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dirty="0"/>
              <a:t>Crear carriles para organizar responsabilidades.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dirty="0"/>
              <a:t>Función: cada Lane muestra “quién hace qué” (Usuario, Sistema, </a:t>
            </a:r>
            <a:r>
              <a:rPr lang="es-MX" dirty="0" err="1"/>
              <a:t>Admin</a:t>
            </a:r>
            <a:r>
              <a:rPr lang="es-MX" dirty="0"/>
              <a:t>, BD). Esto hace el diagrama más claro y profesional.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955B80-A484-0AB2-F273-772C50D8C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3266439"/>
            <a:ext cx="3324688" cy="296745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C16E9A8-3876-D37A-FB2B-24FB574FE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737" y="3242622"/>
            <a:ext cx="581106" cy="2991268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D4CC53-9667-7A91-21C4-7A12DE795CCF}"/>
              </a:ext>
            </a:extLst>
          </p:cNvPr>
          <p:cNvCxnSpPr/>
          <p:nvPr/>
        </p:nvCxnSpPr>
        <p:spPr>
          <a:xfrm flipV="1">
            <a:off x="4953000" y="4572000"/>
            <a:ext cx="1676400" cy="1781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92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021C34-83F9-7E9A-DE98-C0BF5F64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Pasos del proceso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503C86-E5D0-1D86-20CC-FD4149346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41" y="1747437"/>
            <a:ext cx="3788439" cy="551727"/>
          </a:xfrm>
        </p:spPr>
        <p:txBody>
          <a:bodyPr/>
          <a:lstStyle/>
          <a:p>
            <a:pPr marL="0" indent="0">
              <a:buNone/>
            </a:pP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Paso 1: Inicio – Registrar asistencia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DEA1F1-D8C9-94BB-B4AB-5829136A0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41" y="2299164"/>
            <a:ext cx="1838582" cy="15051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FAFF30B-0A6B-D30C-1CD6-2A38E1B68011}"/>
              </a:ext>
            </a:extLst>
          </p:cNvPr>
          <p:cNvSpPr txBox="1"/>
          <p:nvPr/>
        </p:nvSpPr>
        <p:spPr>
          <a:xfrm>
            <a:off x="548141" y="3981974"/>
            <a:ext cx="3788439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Paso 2: Iniciar sesión en el sistema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DB4347A-8418-F366-A38D-0C0A29197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41" y="4549021"/>
            <a:ext cx="3544576" cy="148984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EBB2337-38D2-8EEA-536E-CEA2589F72C0}"/>
              </a:ext>
            </a:extLst>
          </p:cNvPr>
          <p:cNvSpPr txBox="1"/>
          <p:nvPr/>
        </p:nvSpPr>
        <p:spPr>
          <a:xfrm>
            <a:off x="4336580" y="1747437"/>
            <a:ext cx="3461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Paso 3: Sistema valida usuario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E464F43-EDDE-98BA-FDF0-34177A920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458" y="2119683"/>
            <a:ext cx="2529310" cy="186412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44ACAA85-B84F-D4AC-7B8A-E9CA48131CEA}"/>
              </a:ext>
            </a:extLst>
          </p:cNvPr>
          <p:cNvSpPr txBox="1"/>
          <p:nvPr/>
        </p:nvSpPr>
        <p:spPr>
          <a:xfrm>
            <a:off x="4336580" y="3961170"/>
            <a:ext cx="3788439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Paso 4: Decisión “¿Usuario válido?”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8750B7B-F70C-7852-C21C-9D974EF89544}"/>
              </a:ext>
            </a:extLst>
          </p:cNvPr>
          <p:cNvSpPr txBox="1"/>
          <p:nvPr/>
        </p:nvSpPr>
        <p:spPr>
          <a:xfrm>
            <a:off x="7688083" y="1760291"/>
            <a:ext cx="3999407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Paso 5: Seleccionar registrar asistencia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45FDB5C-B24E-2CED-E288-D2D1E641A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553" y="4335247"/>
            <a:ext cx="2764447" cy="1580822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130A68FF-EC46-780B-2D5C-4D140330B0A9}"/>
              </a:ext>
            </a:extLst>
          </p:cNvPr>
          <p:cNvSpPr txBox="1"/>
          <p:nvPr/>
        </p:nvSpPr>
        <p:spPr>
          <a:xfrm>
            <a:off x="8307897" y="3896869"/>
            <a:ext cx="265176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Paso 6: Activar cámara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685AB00A-726F-D587-FFF3-DCF051153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2000" y="4335247"/>
            <a:ext cx="1610815" cy="198433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D75EB66-5653-7A88-01B9-7F19908D35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7806" y="2146569"/>
            <a:ext cx="2071940" cy="162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30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D1536D-87B5-12C2-096B-0EE913123803}"/>
              </a:ext>
            </a:extLst>
          </p:cNvPr>
          <p:cNvSpPr txBox="1"/>
          <p:nvPr/>
        </p:nvSpPr>
        <p:spPr>
          <a:xfrm>
            <a:off x="381000" y="1253142"/>
            <a:ext cx="275844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Paso 7: Capturar rostro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019A540-E1EC-A590-92F8-15B775C84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14940"/>
            <a:ext cx="2632446" cy="101971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BA3E8E4-24EE-1C98-BA5A-5FA4D32AE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671" y="1177826"/>
            <a:ext cx="2632446" cy="165682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06DAA95-25EA-B7E5-889B-FC04C141AF1E}"/>
              </a:ext>
            </a:extLst>
          </p:cNvPr>
          <p:cNvSpPr txBox="1"/>
          <p:nvPr/>
        </p:nvSpPr>
        <p:spPr>
          <a:xfrm>
            <a:off x="152400" y="3056415"/>
            <a:ext cx="3161535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Paso 8: Comparar rostro con base de datos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6F59577-6EB4-42E1-8077-FE7C2A99F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10" y="3909945"/>
            <a:ext cx="2695951" cy="1991003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5B0195E8-3801-56C4-6FD4-F6E9F3A63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4390" y="419718"/>
            <a:ext cx="6325410" cy="1256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>
                <a:latin typeface="Book Antiqua" panose="02040602050305030304" pitchFamily="18" charset="0"/>
              </a:rPr>
              <a:t>Paso 10: Obtener hora actual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>
                <a:latin typeface="Book Antiqua" panose="02040602050305030304" pitchFamily="18" charset="0"/>
              </a:rPr>
              <a:t> el sistema consulta la hora del sistema y la compara con el horario del usuario.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>
              <a:latin typeface="Book Antiqua" panose="020406020503050303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759A9F0-8688-6528-4B92-1FAC985ED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791" y="1643459"/>
            <a:ext cx="116870" cy="369332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396001D3-EEB9-6DA5-EC25-0E0902775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128" y="3080070"/>
            <a:ext cx="5347939" cy="291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latin typeface="Book Antiqua" panose="02040602050305030304" pitchFamily="18" charset="0"/>
              </a:rPr>
              <a:t>Paso 11: Decisión </a:t>
            </a:r>
            <a:r>
              <a:rPr lang="es-MX" altLang="es-MX" dirty="0">
                <a:latin typeface="Book Antiqua" panose="02040602050305030304" pitchFamily="18" charset="0"/>
              </a:rPr>
              <a:t>“¿Dentro de tolerancia 10 min?”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>
                <a:latin typeface="Book Antiqua" panose="02040602050305030304" pitchFamily="18" charset="0"/>
              </a:rPr>
              <a:t>Determina si el usuario llega a tiempo o tarde.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>
                <a:latin typeface="Book Antiqua" panose="02040602050305030304" pitchFamily="18" charset="0"/>
              </a:rPr>
              <a:t>SÍ está dentro: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>
                <a:latin typeface="Book Antiqua" panose="02040602050305030304" pitchFamily="18" charset="0"/>
              </a:rPr>
              <a:t>Registrar asistencia normal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>
                <a:latin typeface="Book Antiqua" panose="02040602050305030304" pitchFamily="18" charset="0"/>
              </a:rPr>
              <a:t>Fin (Asistencia registrada)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dirty="0">
                <a:latin typeface="Book Antiqua" panose="02040602050305030304" pitchFamily="18" charset="0"/>
              </a:rPr>
              <a:t>Si NO está dentro: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>
                <a:latin typeface="Book Antiqua" panose="02040602050305030304" pitchFamily="18" charset="0"/>
              </a:rPr>
              <a:t>Registrar asistencia tardía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>
                <a:latin typeface="Book Antiqua" panose="02040602050305030304" pitchFamily="18" charset="0"/>
              </a:rPr>
              <a:t>Mostrar advertencia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dirty="0">
                <a:latin typeface="Book Antiqua" panose="02040602050305030304" pitchFamily="18" charset="0"/>
              </a:rPr>
              <a:t>Solicitar justificante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>
              <a:latin typeface="Book Antiqua" panose="02040602050305030304" pitchFamily="18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A664643-5A74-95C4-2137-89F1AB28F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4267" y="3130522"/>
            <a:ext cx="2647764" cy="159441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3BCA284-2D3A-524F-8324-D0F3EFE87E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067" y="4837541"/>
            <a:ext cx="2852089" cy="170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496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3677F65-BA0E-89AF-8744-69058A4FD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55" y="1307120"/>
            <a:ext cx="5190445" cy="1256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latin typeface="Book Antiqua" panose="02040602050305030304" pitchFamily="18" charset="0"/>
              </a:rPr>
              <a:t>12.Usuario sube justificante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>
                <a:latin typeface="Book Antiqua" panose="02040602050305030304" pitchFamily="18" charset="0"/>
              </a:rPr>
              <a:t>El usuario adjunta un documento/foto que prueba el motivo de la tardanza.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>
              <a:latin typeface="Book Antiqua" panose="0204060205030503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D186FC6-08CE-25D5-0B06-2A812A9B8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60" y="2407668"/>
            <a:ext cx="3791479" cy="378195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070451C-D90E-E5F5-1AC9-F9600EE68C45}"/>
              </a:ext>
            </a:extLst>
          </p:cNvPr>
          <p:cNvSpPr txBox="1"/>
          <p:nvPr/>
        </p:nvSpPr>
        <p:spPr>
          <a:xfrm>
            <a:off x="4998720" y="414942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Paso 13: Administrador revisa justificante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3404552-94F6-E807-515A-04250A65A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789019"/>
            <a:ext cx="2972215" cy="138131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F1A8642-55E1-2AFB-A522-C334AB874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687664"/>
            <a:ext cx="3603268" cy="1947529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FAF09D2-8166-A117-4656-940E2EB9FBCE}"/>
              </a:ext>
            </a:extLst>
          </p:cNvPr>
          <p:cNvSpPr txBox="1"/>
          <p:nvPr/>
        </p:nvSpPr>
        <p:spPr>
          <a:xfrm>
            <a:off x="4671866" y="2053975"/>
            <a:ext cx="5676094" cy="2914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14. Decisión “¿Justificante aprobado?”</a:t>
            </a:r>
            <a:endParaRPr lang="es-MX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 </a:t>
            </a:r>
            <a:r>
              <a:rPr lang="es-MX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SÍ: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 – Justificante aprobado</a:t>
            </a:r>
            <a:b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Resultado: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el tardío se acepta como justificado.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 NO: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 – Justificante rechazado</a:t>
            </a:r>
            <a:b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Resultado: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se mantiene como falta o tardanza no justificada.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3261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C25A21-5A59-8DE4-6B76-F53906DE5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 finales del proceso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48DCCF7-5742-C489-34E5-1548AD6BF67D}"/>
              </a:ext>
            </a:extLst>
          </p:cNvPr>
          <p:cNvSpPr txBox="1"/>
          <p:nvPr/>
        </p:nvSpPr>
        <p:spPr>
          <a:xfrm>
            <a:off x="687388" y="1561694"/>
            <a:ext cx="6096000" cy="376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proceso puede terminar en 3 escenarios: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 – Asistencia registrada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(puntual)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MX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 – Justificante aprobado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(tarde pero aceptado)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MX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MX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 – Justificante rechazado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(tarde no aceptado → falta o sanción)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65EB4AC-369F-5B88-D272-61F81EDBE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973" y="1804214"/>
            <a:ext cx="6115904" cy="10383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9E4A794-1124-4D76-0FB7-1C9D65439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497" y="3786996"/>
            <a:ext cx="5163271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84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FDC0D-B7AD-2598-A5EB-582EB914C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3C8072-92B4-F0FC-5F99-DAF7B90F2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n conclusión, el diseño en la ingeniería del software es una etapa esencial que influye directamente en el éxito del producto final. Gracias a este proceso, se logra una mejor organización del sistema, se optimizan los recursos y se asegura el cumplimiento de los requerimientos establecidos. Asimismo, facilita las fases posteriores como la programación, pruebas y despliegue. Por lo tanto, invertir tiempo y esfuerzo en un buen diseño no solo mejora la calidad del software, sino que también reduce riesgos y costos a largo plazo.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43186379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Espiral</Template>
  <TotalTime>167</TotalTime>
  <Words>755</Words>
  <Application>Microsoft Office PowerPoint</Application>
  <PresentationFormat>Panorámica</PresentationFormat>
  <Paragraphs>88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Book Antiqua</vt:lpstr>
      <vt:lpstr>Calibri</vt:lpstr>
      <vt:lpstr>Century Gothic</vt:lpstr>
      <vt:lpstr>Times New Roman</vt:lpstr>
      <vt:lpstr>Wingdings 3</vt:lpstr>
      <vt:lpstr>Espiral</vt:lpstr>
      <vt:lpstr>Presentación de PowerPoint</vt:lpstr>
      <vt:lpstr>Introducción </vt:lpstr>
      <vt:lpstr>Justificación </vt:lpstr>
      <vt:lpstr>Crear el proyecto/diagrama</vt:lpstr>
      <vt:lpstr>Insertar el proceso principal (Pool) </vt:lpstr>
      <vt:lpstr>Crear carriles (Lanes) </vt:lpstr>
      <vt:lpstr>Pasos del proceso </vt:lpstr>
      <vt:lpstr>Presentación de PowerPoint</vt:lpstr>
      <vt:lpstr>Presentación de PowerPoint</vt:lpstr>
      <vt:lpstr>Resultados finales del proceso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7</cp:revision>
  <dcterms:created xsi:type="dcterms:W3CDTF">2026-03-05T00:56:15Z</dcterms:created>
  <dcterms:modified xsi:type="dcterms:W3CDTF">2026-03-25T20:56:58Z</dcterms:modified>
</cp:coreProperties>
</file>