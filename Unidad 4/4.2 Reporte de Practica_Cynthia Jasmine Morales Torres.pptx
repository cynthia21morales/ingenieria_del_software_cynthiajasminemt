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8" r:id="rId3"/>
    <p:sldId id="257" r:id="rId4"/>
    <p:sldId id="259" r:id="rId5"/>
    <p:sldId id="260" r:id="rId6"/>
    <p:sldId id="261" r:id="rId7"/>
    <p:sldId id="262" r:id="rId8"/>
    <p:sldId id="263" r:id="rId9"/>
    <p:sldId id="264" r:id="rId10"/>
    <p:sldId id="265" r:id="rId11"/>
    <p:sldId id="266" r:id="rId12"/>
    <p:sldId id="268" r:id="rId13"/>
    <p:sldId id="267"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946" y="1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85ED20-647B-4B06-8214-C318FCA76076}" type="datetimeFigureOut">
              <a:rPr lang="es-MX" smtClean="0"/>
              <a:t>27/03/2026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5CCA69-577D-4BA0-A449-FA265218ED43}" type="slidenum">
              <a:rPr lang="es-MX" smtClean="0"/>
              <a:t>‹Nº›</a:t>
            </a:fld>
            <a:endParaRPr lang="es-MX"/>
          </a:p>
        </p:txBody>
      </p:sp>
    </p:spTree>
    <p:extLst>
      <p:ext uri="{BB962C8B-B14F-4D97-AF65-F5344CB8AC3E}">
        <p14:creationId xmlns:p14="http://schemas.microsoft.com/office/powerpoint/2010/main" val="3297637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6D5CCA69-577D-4BA0-A449-FA265218ED43}" type="slidenum">
              <a:rPr lang="es-MX" smtClean="0"/>
              <a:t>7</a:t>
            </a:fld>
            <a:endParaRPr lang="es-MX"/>
          </a:p>
        </p:txBody>
      </p:sp>
    </p:spTree>
    <p:extLst>
      <p:ext uri="{BB962C8B-B14F-4D97-AF65-F5344CB8AC3E}">
        <p14:creationId xmlns:p14="http://schemas.microsoft.com/office/powerpoint/2010/main" val="15998088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E83AAA4-13A9-3BD3-910A-7DD53FB9863D}"/>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9F9B6BCB-4F4A-690F-9E7E-E0DBD909D0B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CFA0AC88-2AE8-7176-149A-BB082BA3912E}"/>
              </a:ext>
            </a:extLst>
          </p:cNvPr>
          <p:cNvSpPr>
            <a:spLocks noGrp="1"/>
          </p:cNvSpPr>
          <p:nvPr>
            <p:ph type="dt" sz="half" idx="10"/>
          </p:nvPr>
        </p:nvSpPr>
        <p:spPr/>
        <p:txBody>
          <a:bodyPr/>
          <a:lstStyle/>
          <a:p>
            <a:fld id="{66FC1197-AA47-443B-9E61-4314C1E06351}" type="datetimeFigureOut">
              <a:rPr lang="es-MX" smtClean="0"/>
              <a:t>27/03/2026</a:t>
            </a:fld>
            <a:endParaRPr lang="es-MX"/>
          </a:p>
        </p:txBody>
      </p:sp>
      <p:sp>
        <p:nvSpPr>
          <p:cNvPr id="5" name="Marcador de pie de página 4">
            <a:extLst>
              <a:ext uri="{FF2B5EF4-FFF2-40B4-BE49-F238E27FC236}">
                <a16:creationId xmlns:a16="http://schemas.microsoft.com/office/drawing/2014/main" id="{E3D9FD5A-0F2E-8688-B4BF-5785AA1EC7E9}"/>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5254570E-EE0E-815A-066A-68131169C7A7}"/>
              </a:ext>
            </a:extLst>
          </p:cNvPr>
          <p:cNvSpPr>
            <a:spLocks noGrp="1"/>
          </p:cNvSpPr>
          <p:nvPr>
            <p:ph type="sldNum" sz="quarter" idx="12"/>
          </p:nvPr>
        </p:nvSpPr>
        <p:spPr/>
        <p:txBody>
          <a:bodyPr/>
          <a:lstStyle/>
          <a:p>
            <a:fld id="{1313FEF1-54BE-4024-A383-2E49D5585A83}" type="slidenum">
              <a:rPr lang="es-MX" smtClean="0"/>
              <a:t>‹Nº›</a:t>
            </a:fld>
            <a:endParaRPr lang="es-MX"/>
          </a:p>
        </p:txBody>
      </p:sp>
    </p:spTree>
    <p:extLst>
      <p:ext uri="{BB962C8B-B14F-4D97-AF65-F5344CB8AC3E}">
        <p14:creationId xmlns:p14="http://schemas.microsoft.com/office/powerpoint/2010/main" val="1487500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C0CD5A-6C89-CA5F-4062-8394CDF5A02C}"/>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BC0F7E6B-13F4-7A60-3E2F-CA986652C218}"/>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3C9D928B-54FE-F3AB-4B9B-79FCE89D5AAC}"/>
              </a:ext>
            </a:extLst>
          </p:cNvPr>
          <p:cNvSpPr>
            <a:spLocks noGrp="1"/>
          </p:cNvSpPr>
          <p:nvPr>
            <p:ph type="dt" sz="half" idx="10"/>
          </p:nvPr>
        </p:nvSpPr>
        <p:spPr/>
        <p:txBody>
          <a:bodyPr/>
          <a:lstStyle/>
          <a:p>
            <a:fld id="{66FC1197-AA47-443B-9E61-4314C1E06351}" type="datetimeFigureOut">
              <a:rPr lang="es-MX" smtClean="0"/>
              <a:t>27/03/2026</a:t>
            </a:fld>
            <a:endParaRPr lang="es-MX"/>
          </a:p>
        </p:txBody>
      </p:sp>
      <p:sp>
        <p:nvSpPr>
          <p:cNvPr id="5" name="Marcador de pie de página 4">
            <a:extLst>
              <a:ext uri="{FF2B5EF4-FFF2-40B4-BE49-F238E27FC236}">
                <a16:creationId xmlns:a16="http://schemas.microsoft.com/office/drawing/2014/main" id="{76A7FD5D-79B0-B8BA-9560-E0EDC611833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E4B3B007-6104-4FDB-1360-4B5179647DBF}"/>
              </a:ext>
            </a:extLst>
          </p:cNvPr>
          <p:cNvSpPr>
            <a:spLocks noGrp="1"/>
          </p:cNvSpPr>
          <p:nvPr>
            <p:ph type="sldNum" sz="quarter" idx="12"/>
          </p:nvPr>
        </p:nvSpPr>
        <p:spPr/>
        <p:txBody>
          <a:bodyPr/>
          <a:lstStyle/>
          <a:p>
            <a:fld id="{1313FEF1-54BE-4024-A383-2E49D5585A83}" type="slidenum">
              <a:rPr lang="es-MX" smtClean="0"/>
              <a:t>‹Nº›</a:t>
            </a:fld>
            <a:endParaRPr lang="es-MX"/>
          </a:p>
        </p:txBody>
      </p:sp>
    </p:spTree>
    <p:extLst>
      <p:ext uri="{BB962C8B-B14F-4D97-AF65-F5344CB8AC3E}">
        <p14:creationId xmlns:p14="http://schemas.microsoft.com/office/powerpoint/2010/main" val="32058549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9BB9D7-CADA-18CC-D380-FD5A314BAF67}"/>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D1A840C6-1E04-6FF6-6AE0-C0559A2A91B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636BACFA-3D80-1FA3-D911-89A1217B742E}"/>
              </a:ext>
            </a:extLst>
          </p:cNvPr>
          <p:cNvSpPr>
            <a:spLocks noGrp="1"/>
          </p:cNvSpPr>
          <p:nvPr>
            <p:ph type="dt" sz="half" idx="10"/>
          </p:nvPr>
        </p:nvSpPr>
        <p:spPr/>
        <p:txBody>
          <a:bodyPr/>
          <a:lstStyle/>
          <a:p>
            <a:fld id="{66FC1197-AA47-443B-9E61-4314C1E06351}" type="datetimeFigureOut">
              <a:rPr lang="es-MX" smtClean="0"/>
              <a:t>27/03/2026</a:t>
            </a:fld>
            <a:endParaRPr lang="es-MX"/>
          </a:p>
        </p:txBody>
      </p:sp>
      <p:sp>
        <p:nvSpPr>
          <p:cNvPr id="5" name="Marcador de pie de página 4">
            <a:extLst>
              <a:ext uri="{FF2B5EF4-FFF2-40B4-BE49-F238E27FC236}">
                <a16:creationId xmlns:a16="http://schemas.microsoft.com/office/drawing/2014/main" id="{CA4C2F99-3FF6-4A9A-692D-0F47AAF434C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752989E-86DE-D9E1-43EF-D6ED574FC619}"/>
              </a:ext>
            </a:extLst>
          </p:cNvPr>
          <p:cNvSpPr>
            <a:spLocks noGrp="1"/>
          </p:cNvSpPr>
          <p:nvPr>
            <p:ph type="sldNum" sz="quarter" idx="12"/>
          </p:nvPr>
        </p:nvSpPr>
        <p:spPr/>
        <p:txBody>
          <a:bodyPr/>
          <a:lstStyle/>
          <a:p>
            <a:fld id="{1313FEF1-54BE-4024-A383-2E49D5585A83}" type="slidenum">
              <a:rPr lang="es-MX" smtClean="0"/>
              <a:t>‹Nº›</a:t>
            </a:fld>
            <a:endParaRPr lang="es-MX"/>
          </a:p>
        </p:txBody>
      </p:sp>
    </p:spTree>
    <p:extLst>
      <p:ext uri="{BB962C8B-B14F-4D97-AF65-F5344CB8AC3E}">
        <p14:creationId xmlns:p14="http://schemas.microsoft.com/office/powerpoint/2010/main" val="24195798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1CF713-9131-9469-5320-E1017DA1D3C6}"/>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119450CD-1EF3-048B-59BC-BD5243EED1A5}"/>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1E1A94EE-DC54-4B8A-EA31-3D53F347E7E9}"/>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5C715C37-13E2-5132-BCEB-07AFA516D141}"/>
              </a:ext>
            </a:extLst>
          </p:cNvPr>
          <p:cNvSpPr>
            <a:spLocks noGrp="1"/>
          </p:cNvSpPr>
          <p:nvPr>
            <p:ph type="dt" sz="half" idx="10"/>
          </p:nvPr>
        </p:nvSpPr>
        <p:spPr/>
        <p:txBody>
          <a:bodyPr/>
          <a:lstStyle/>
          <a:p>
            <a:fld id="{66FC1197-AA47-443B-9E61-4314C1E06351}" type="datetimeFigureOut">
              <a:rPr lang="es-MX" smtClean="0"/>
              <a:t>27/03/2026</a:t>
            </a:fld>
            <a:endParaRPr lang="es-MX"/>
          </a:p>
        </p:txBody>
      </p:sp>
      <p:sp>
        <p:nvSpPr>
          <p:cNvPr id="6" name="Marcador de pie de página 5">
            <a:extLst>
              <a:ext uri="{FF2B5EF4-FFF2-40B4-BE49-F238E27FC236}">
                <a16:creationId xmlns:a16="http://schemas.microsoft.com/office/drawing/2014/main" id="{646DC8D6-A590-E64B-1AE8-E21C849A620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478757A6-711E-7BEF-7534-C310637ECDF6}"/>
              </a:ext>
            </a:extLst>
          </p:cNvPr>
          <p:cNvSpPr>
            <a:spLocks noGrp="1"/>
          </p:cNvSpPr>
          <p:nvPr>
            <p:ph type="sldNum" sz="quarter" idx="12"/>
          </p:nvPr>
        </p:nvSpPr>
        <p:spPr/>
        <p:txBody>
          <a:bodyPr/>
          <a:lstStyle/>
          <a:p>
            <a:fld id="{1313FEF1-54BE-4024-A383-2E49D5585A83}" type="slidenum">
              <a:rPr lang="es-MX" smtClean="0"/>
              <a:t>‹Nº›</a:t>
            </a:fld>
            <a:endParaRPr lang="es-MX"/>
          </a:p>
        </p:txBody>
      </p:sp>
    </p:spTree>
    <p:extLst>
      <p:ext uri="{BB962C8B-B14F-4D97-AF65-F5344CB8AC3E}">
        <p14:creationId xmlns:p14="http://schemas.microsoft.com/office/powerpoint/2010/main" val="8255025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521FCB8-D48A-3F24-9607-3B8FD20174F9}"/>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23F0980F-3B61-4468-A0C4-DE0B95E9CF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F86E682F-B74E-40C6-54CE-860E13320E53}"/>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88C25397-913F-AD50-5A6D-E561522E32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22FB7EC9-EAB5-F129-8DF5-8FE6D7524306}"/>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C7F11F49-BB37-793F-358C-9E4ABF791B65}"/>
              </a:ext>
            </a:extLst>
          </p:cNvPr>
          <p:cNvSpPr>
            <a:spLocks noGrp="1"/>
          </p:cNvSpPr>
          <p:nvPr>
            <p:ph type="dt" sz="half" idx="10"/>
          </p:nvPr>
        </p:nvSpPr>
        <p:spPr/>
        <p:txBody>
          <a:bodyPr/>
          <a:lstStyle/>
          <a:p>
            <a:fld id="{66FC1197-AA47-443B-9E61-4314C1E06351}" type="datetimeFigureOut">
              <a:rPr lang="es-MX" smtClean="0"/>
              <a:t>27/03/2026</a:t>
            </a:fld>
            <a:endParaRPr lang="es-MX"/>
          </a:p>
        </p:txBody>
      </p:sp>
      <p:sp>
        <p:nvSpPr>
          <p:cNvPr id="8" name="Marcador de pie de página 7">
            <a:extLst>
              <a:ext uri="{FF2B5EF4-FFF2-40B4-BE49-F238E27FC236}">
                <a16:creationId xmlns:a16="http://schemas.microsoft.com/office/drawing/2014/main" id="{058ED825-94CC-DE4B-89C5-459EE297DFDC}"/>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0B2A0E16-40DA-40D8-BA90-93339D1D5E41}"/>
              </a:ext>
            </a:extLst>
          </p:cNvPr>
          <p:cNvSpPr>
            <a:spLocks noGrp="1"/>
          </p:cNvSpPr>
          <p:nvPr>
            <p:ph type="sldNum" sz="quarter" idx="12"/>
          </p:nvPr>
        </p:nvSpPr>
        <p:spPr/>
        <p:txBody>
          <a:bodyPr/>
          <a:lstStyle/>
          <a:p>
            <a:fld id="{1313FEF1-54BE-4024-A383-2E49D5585A83}" type="slidenum">
              <a:rPr lang="es-MX" smtClean="0"/>
              <a:t>‹Nº›</a:t>
            </a:fld>
            <a:endParaRPr lang="es-MX"/>
          </a:p>
        </p:txBody>
      </p:sp>
    </p:spTree>
    <p:extLst>
      <p:ext uri="{BB962C8B-B14F-4D97-AF65-F5344CB8AC3E}">
        <p14:creationId xmlns:p14="http://schemas.microsoft.com/office/powerpoint/2010/main" val="1850287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F8CA8F-C92B-E265-D668-203A436F61E1}"/>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5C13CAA2-6631-B663-ED58-6C24FC22C62B}"/>
              </a:ext>
            </a:extLst>
          </p:cNvPr>
          <p:cNvSpPr>
            <a:spLocks noGrp="1"/>
          </p:cNvSpPr>
          <p:nvPr>
            <p:ph type="dt" sz="half" idx="10"/>
          </p:nvPr>
        </p:nvSpPr>
        <p:spPr/>
        <p:txBody>
          <a:bodyPr/>
          <a:lstStyle/>
          <a:p>
            <a:fld id="{66FC1197-AA47-443B-9E61-4314C1E06351}" type="datetimeFigureOut">
              <a:rPr lang="es-MX" smtClean="0"/>
              <a:t>27/03/2026</a:t>
            </a:fld>
            <a:endParaRPr lang="es-MX"/>
          </a:p>
        </p:txBody>
      </p:sp>
      <p:sp>
        <p:nvSpPr>
          <p:cNvPr id="4" name="Marcador de pie de página 3">
            <a:extLst>
              <a:ext uri="{FF2B5EF4-FFF2-40B4-BE49-F238E27FC236}">
                <a16:creationId xmlns:a16="http://schemas.microsoft.com/office/drawing/2014/main" id="{0DEFDBAB-680C-C45D-DF11-3E7C98ADFFD0}"/>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C6AAFB43-9AB6-7266-8C88-4C307D36B65A}"/>
              </a:ext>
            </a:extLst>
          </p:cNvPr>
          <p:cNvSpPr>
            <a:spLocks noGrp="1"/>
          </p:cNvSpPr>
          <p:nvPr>
            <p:ph type="sldNum" sz="quarter" idx="12"/>
          </p:nvPr>
        </p:nvSpPr>
        <p:spPr/>
        <p:txBody>
          <a:bodyPr/>
          <a:lstStyle/>
          <a:p>
            <a:fld id="{1313FEF1-54BE-4024-A383-2E49D5585A83}" type="slidenum">
              <a:rPr lang="es-MX" smtClean="0"/>
              <a:t>‹Nº›</a:t>
            </a:fld>
            <a:endParaRPr lang="es-MX"/>
          </a:p>
        </p:txBody>
      </p:sp>
    </p:spTree>
    <p:extLst>
      <p:ext uri="{BB962C8B-B14F-4D97-AF65-F5344CB8AC3E}">
        <p14:creationId xmlns:p14="http://schemas.microsoft.com/office/powerpoint/2010/main" val="10103488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A6235CA0-1107-F5BE-7600-5B7006443348}"/>
              </a:ext>
            </a:extLst>
          </p:cNvPr>
          <p:cNvSpPr>
            <a:spLocks noGrp="1"/>
          </p:cNvSpPr>
          <p:nvPr>
            <p:ph type="dt" sz="half" idx="10"/>
          </p:nvPr>
        </p:nvSpPr>
        <p:spPr/>
        <p:txBody>
          <a:bodyPr/>
          <a:lstStyle/>
          <a:p>
            <a:fld id="{66FC1197-AA47-443B-9E61-4314C1E06351}" type="datetimeFigureOut">
              <a:rPr lang="es-MX" smtClean="0"/>
              <a:t>27/03/2026</a:t>
            </a:fld>
            <a:endParaRPr lang="es-MX"/>
          </a:p>
        </p:txBody>
      </p:sp>
      <p:sp>
        <p:nvSpPr>
          <p:cNvPr id="3" name="Marcador de pie de página 2">
            <a:extLst>
              <a:ext uri="{FF2B5EF4-FFF2-40B4-BE49-F238E27FC236}">
                <a16:creationId xmlns:a16="http://schemas.microsoft.com/office/drawing/2014/main" id="{46EECFB3-CF08-ED6B-66F9-408BD65E7FC7}"/>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4AFCF372-45E2-8371-C77C-2D75AD1365E0}"/>
              </a:ext>
            </a:extLst>
          </p:cNvPr>
          <p:cNvSpPr>
            <a:spLocks noGrp="1"/>
          </p:cNvSpPr>
          <p:nvPr>
            <p:ph type="sldNum" sz="quarter" idx="12"/>
          </p:nvPr>
        </p:nvSpPr>
        <p:spPr/>
        <p:txBody>
          <a:bodyPr/>
          <a:lstStyle/>
          <a:p>
            <a:fld id="{1313FEF1-54BE-4024-A383-2E49D5585A83}" type="slidenum">
              <a:rPr lang="es-MX" smtClean="0"/>
              <a:t>‹Nº›</a:t>
            </a:fld>
            <a:endParaRPr lang="es-MX"/>
          </a:p>
        </p:txBody>
      </p:sp>
    </p:spTree>
    <p:extLst>
      <p:ext uri="{BB962C8B-B14F-4D97-AF65-F5344CB8AC3E}">
        <p14:creationId xmlns:p14="http://schemas.microsoft.com/office/powerpoint/2010/main" val="212678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6E42F2-D247-F3F1-8CAE-82171D78E48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CE9F279E-6849-504E-CE11-842097389A0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8373D47E-DE1E-FCC1-A6D9-E6D001B436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93B10BF-067A-FF86-27EA-DE6840DFAF6D}"/>
              </a:ext>
            </a:extLst>
          </p:cNvPr>
          <p:cNvSpPr>
            <a:spLocks noGrp="1"/>
          </p:cNvSpPr>
          <p:nvPr>
            <p:ph type="dt" sz="half" idx="10"/>
          </p:nvPr>
        </p:nvSpPr>
        <p:spPr/>
        <p:txBody>
          <a:bodyPr/>
          <a:lstStyle/>
          <a:p>
            <a:fld id="{66FC1197-AA47-443B-9E61-4314C1E06351}" type="datetimeFigureOut">
              <a:rPr lang="es-MX" smtClean="0"/>
              <a:t>27/03/2026</a:t>
            </a:fld>
            <a:endParaRPr lang="es-MX"/>
          </a:p>
        </p:txBody>
      </p:sp>
      <p:sp>
        <p:nvSpPr>
          <p:cNvPr id="6" name="Marcador de pie de página 5">
            <a:extLst>
              <a:ext uri="{FF2B5EF4-FFF2-40B4-BE49-F238E27FC236}">
                <a16:creationId xmlns:a16="http://schemas.microsoft.com/office/drawing/2014/main" id="{1FD24335-CBC6-4523-4A34-0147916FEE9E}"/>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C317B75-A42B-03EB-D929-055CFEE00714}"/>
              </a:ext>
            </a:extLst>
          </p:cNvPr>
          <p:cNvSpPr>
            <a:spLocks noGrp="1"/>
          </p:cNvSpPr>
          <p:nvPr>
            <p:ph type="sldNum" sz="quarter" idx="12"/>
          </p:nvPr>
        </p:nvSpPr>
        <p:spPr/>
        <p:txBody>
          <a:bodyPr/>
          <a:lstStyle/>
          <a:p>
            <a:fld id="{1313FEF1-54BE-4024-A383-2E49D5585A83}" type="slidenum">
              <a:rPr lang="es-MX" smtClean="0"/>
              <a:t>‹Nº›</a:t>
            </a:fld>
            <a:endParaRPr lang="es-MX"/>
          </a:p>
        </p:txBody>
      </p:sp>
    </p:spTree>
    <p:extLst>
      <p:ext uri="{BB962C8B-B14F-4D97-AF65-F5344CB8AC3E}">
        <p14:creationId xmlns:p14="http://schemas.microsoft.com/office/powerpoint/2010/main" val="1580784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BEE493-E644-2977-6821-B7E659C3E41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5DEF7634-7093-2604-E80D-890BA37364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53E35931-1545-16D1-27E2-5B65D86184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DA66EC1-5B71-1B97-E830-585ED54D99A7}"/>
              </a:ext>
            </a:extLst>
          </p:cNvPr>
          <p:cNvSpPr>
            <a:spLocks noGrp="1"/>
          </p:cNvSpPr>
          <p:nvPr>
            <p:ph type="dt" sz="half" idx="10"/>
          </p:nvPr>
        </p:nvSpPr>
        <p:spPr/>
        <p:txBody>
          <a:bodyPr/>
          <a:lstStyle/>
          <a:p>
            <a:fld id="{66FC1197-AA47-443B-9E61-4314C1E06351}" type="datetimeFigureOut">
              <a:rPr lang="es-MX" smtClean="0"/>
              <a:t>27/03/2026</a:t>
            </a:fld>
            <a:endParaRPr lang="es-MX"/>
          </a:p>
        </p:txBody>
      </p:sp>
      <p:sp>
        <p:nvSpPr>
          <p:cNvPr id="6" name="Marcador de pie de página 5">
            <a:extLst>
              <a:ext uri="{FF2B5EF4-FFF2-40B4-BE49-F238E27FC236}">
                <a16:creationId xmlns:a16="http://schemas.microsoft.com/office/drawing/2014/main" id="{9477486D-E73E-B8CE-AF1C-1B4140697B10}"/>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990A5671-57A8-9C74-4BB2-46CD0ECDE8C8}"/>
              </a:ext>
            </a:extLst>
          </p:cNvPr>
          <p:cNvSpPr>
            <a:spLocks noGrp="1"/>
          </p:cNvSpPr>
          <p:nvPr>
            <p:ph type="sldNum" sz="quarter" idx="12"/>
          </p:nvPr>
        </p:nvSpPr>
        <p:spPr/>
        <p:txBody>
          <a:bodyPr/>
          <a:lstStyle/>
          <a:p>
            <a:fld id="{1313FEF1-54BE-4024-A383-2E49D5585A83}" type="slidenum">
              <a:rPr lang="es-MX" smtClean="0"/>
              <a:t>‹Nº›</a:t>
            </a:fld>
            <a:endParaRPr lang="es-MX"/>
          </a:p>
        </p:txBody>
      </p:sp>
    </p:spTree>
    <p:extLst>
      <p:ext uri="{BB962C8B-B14F-4D97-AF65-F5344CB8AC3E}">
        <p14:creationId xmlns:p14="http://schemas.microsoft.com/office/powerpoint/2010/main" val="2200192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953221-359B-7DCE-3519-11D1FAB91753}"/>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BE23EACC-A675-9FA1-1EB9-16C789B28954}"/>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18954BD-9313-C677-A5E9-4C1359B7BDC3}"/>
              </a:ext>
            </a:extLst>
          </p:cNvPr>
          <p:cNvSpPr>
            <a:spLocks noGrp="1"/>
          </p:cNvSpPr>
          <p:nvPr>
            <p:ph type="dt" sz="half" idx="10"/>
          </p:nvPr>
        </p:nvSpPr>
        <p:spPr/>
        <p:txBody>
          <a:bodyPr/>
          <a:lstStyle/>
          <a:p>
            <a:fld id="{66FC1197-AA47-443B-9E61-4314C1E06351}" type="datetimeFigureOut">
              <a:rPr lang="es-MX" smtClean="0"/>
              <a:t>27/03/2026</a:t>
            </a:fld>
            <a:endParaRPr lang="es-MX"/>
          </a:p>
        </p:txBody>
      </p:sp>
      <p:sp>
        <p:nvSpPr>
          <p:cNvPr id="5" name="Marcador de pie de página 4">
            <a:extLst>
              <a:ext uri="{FF2B5EF4-FFF2-40B4-BE49-F238E27FC236}">
                <a16:creationId xmlns:a16="http://schemas.microsoft.com/office/drawing/2014/main" id="{5FF334B3-EBB2-D475-0562-D9C5B13BA2D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253F7A8F-EE7B-495D-337F-66E7FCE73997}"/>
              </a:ext>
            </a:extLst>
          </p:cNvPr>
          <p:cNvSpPr>
            <a:spLocks noGrp="1"/>
          </p:cNvSpPr>
          <p:nvPr>
            <p:ph type="sldNum" sz="quarter" idx="12"/>
          </p:nvPr>
        </p:nvSpPr>
        <p:spPr/>
        <p:txBody>
          <a:bodyPr/>
          <a:lstStyle/>
          <a:p>
            <a:fld id="{1313FEF1-54BE-4024-A383-2E49D5585A83}" type="slidenum">
              <a:rPr lang="es-MX" smtClean="0"/>
              <a:t>‹Nº›</a:t>
            </a:fld>
            <a:endParaRPr lang="es-MX"/>
          </a:p>
        </p:txBody>
      </p:sp>
    </p:spTree>
    <p:extLst>
      <p:ext uri="{BB962C8B-B14F-4D97-AF65-F5344CB8AC3E}">
        <p14:creationId xmlns:p14="http://schemas.microsoft.com/office/powerpoint/2010/main" val="1661487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A378938-2251-C932-3783-C327193A60A3}"/>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8BC36154-EECB-5A8D-7C05-F154184E7B82}"/>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BB42955F-456E-0E07-D65B-2A10F9EA4C11}"/>
              </a:ext>
            </a:extLst>
          </p:cNvPr>
          <p:cNvSpPr>
            <a:spLocks noGrp="1"/>
          </p:cNvSpPr>
          <p:nvPr>
            <p:ph type="dt" sz="half" idx="10"/>
          </p:nvPr>
        </p:nvSpPr>
        <p:spPr/>
        <p:txBody>
          <a:bodyPr/>
          <a:lstStyle/>
          <a:p>
            <a:fld id="{66FC1197-AA47-443B-9E61-4314C1E06351}" type="datetimeFigureOut">
              <a:rPr lang="es-MX" smtClean="0"/>
              <a:t>27/03/2026</a:t>
            </a:fld>
            <a:endParaRPr lang="es-MX"/>
          </a:p>
        </p:txBody>
      </p:sp>
      <p:sp>
        <p:nvSpPr>
          <p:cNvPr id="5" name="Marcador de pie de página 4">
            <a:extLst>
              <a:ext uri="{FF2B5EF4-FFF2-40B4-BE49-F238E27FC236}">
                <a16:creationId xmlns:a16="http://schemas.microsoft.com/office/drawing/2014/main" id="{9CAEA527-623A-E40E-A316-DB136C9FFE1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21BD779F-F38B-4484-DA09-7BE460E08183}"/>
              </a:ext>
            </a:extLst>
          </p:cNvPr>
          <p:cNvSpPr>
            <a:spLocks noGrp="1"/>
          </p:cNvSpPr>
          <p:nvPr>
            <p:ph type="sldNum" sz="quarter" idx="12"/>
          </p:nvPr>
        </p:nvSpPr>
        <p:spPr/>
        <p:txBody>
          <a:bodyPr/>
          <a:lstStyle/>
          <a:p>
            <a:fld id="{1313FEF1-54BE-4024-A383-2E49D5585A83}" type="slidenum">
              <a:rPr lang="es-MX" smtClean="0"/>
              <a:t>‹Nº›</a:t>
            </a:fld>
            <a:endParaRPr lang="es-MX"/>
          </a:p>
        </p:txBody>
      </p:sp>
    </p:spTree>
    <p:extLst>
      <p:ext uri="{BB962C8B-B14F-4D97-AF65-F5344CB8AC3E}">
        <p14:creationId xmlns:p14="http://schemas.microsoft.com/office/powerpoint/2010/main" val="20836828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EA084D3C-EE6F-AAA8-2ABD-F629B31E6E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3328318C-E789-C240-F6CF-05D010C8DB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F8DE8DA9-DD0C-59E3-7162-58FB5E4F94A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FC1197-AA47-443B-9E61-4314C1E06351}" type="datetimeFigureOut">
              <a:rPr lang="es-MX" smtClean="0"/>
              <a:t>27/03/2026</a:t>
            </a:fld>
            <a:endParaRPr lang="es-MX"/>
          </a:p>
        </p:txBody>
      </p:sp>
      <p:sp>
        <p:nvSpPr>
          <p:cNvPr id="5" name="Marcador de pie de página 4">
            <a:extLst>
              <a:ext uri="{FF2B5EF4-FFF2-40B4-BE49-F238E27FC236}">
                <a16:creationId xmlns:a16="http://schemas.microsoft.com/office/drawing/2014/main" id="{0C2202BE-C615-9A83-2D4C-8B607B8C7B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A1C9504A-25DC-102D-1133-5F87693058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13FEF1-54BE-4024-A383-2E49D5585A83}" type="slidenum">
              <a:rPr lang="es-MX" smtClean="0"/>
              <a:t>‹Nº›</a:t>
            </a:fld>
            <a:endParaRPr lang="es-MX"/>
          </a:p>
        </p:txBody>
      </p:sp>
    </p:spTree>
    <p:extLst>
      <p:ext uri="{BB962C8B-B14F-4D97-AF65-F5344CB8AC3E}">
        <p14:creationId xmlns:p14="http://schemas.microsoft.com/office/powerpoint/2010/main" val="33559617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localhost:3001/" TargetMode="External"/><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9">
            <a:extLst>
              <a:ext uri="{FF2B5EF4-FFF2-40B4-BE49-F238E27FC236}">
                <a16:creationId xmlns:a16="http://schemas.microsoft.com/office/drawing/2014/main" id="{C2805109-83A0-CD4E-4F10-B64088928B26}"/>
              </a:ext>
            </a:extLst>
          </p:cNvPr>
          <p:cNvSpPr txBox="1"/>
          <p:nvPr/>
        </p:nvSpPr>
        <p:spPr>
          <a:xfrm>
            <a:off x="2402908" y="1880767"/>
            <a:ext cx="7644625" cy="4924425"/>
          </a:xfrm>
          <a:prstGeom prst="rect">
            <a:avLst/>
          </a:prstGeom>
        </p:spPr>
        <p:txBody>
          <a:bodyPr wrap="square" lIns="0" tIns="0" rIns="0" bIns="0" rtlCol="0" anchor="t">
            <a:spAutoFit/>
          </a:bodyPr>
          <a:lstStyle/>
          <a:p>
            <a:pPr algn="ctr"/>
            <a:r>
              <a:rPr lang="en-US" sz="1600" dirty="0">
                <a:solidFill>
                  <a:srgbClr val="000000"/>
                </a:solidFill>
                <a:latin typeface="Century Gothic" panose="020B0502020202020204" pitchFamily="34" charset="0"/>
                <a:ea typeface="Glacial Indifference"/>
                <a:cs typeface="Glacial Indifference"/>
                <a:sym typeface="Glacial Indifference"/>
              </a:rPr>
              <a:t>Materia:</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Ingenieria del software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Semestre: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Sexto Semestre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Especialidad:</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Ingeniería en Sistemas Computacionales.</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alumno:</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Cynthia Jasmine Morales Torres / 231260014</a:t>
            </a:r>
          </a:p>
          <a:p>
            <a:pPr algn="ctr"/>
            <a:r>
              <a:rPr lang="es-MX" sz="1600" dirty="0">
                <a:latin typeface="Century Gothic" panose="020B0502020202020204" pitchFamily="34" charset="0"/>
              </a:rPr>
              <a:t>Luis Daniel Gómez Santizo / 231260017</a:t>
            </a:r>
          </a:p>
          <a:p>
            <a:pPr algn="ctr"/>
            <a:r>
              <a:rPr lang="es-MX" sz="1600" dirty="0">
                <a:latin typeface="Century Gothic" panose="020B0502020202020204" pitchFamily="34" charset="0"/>
              </a:rPr>
              <a:t>Ángel de Jesús Mazariegos Ortiz / 231260003</a:t>
            </a:r>
          </a:p>
          <a:p>
            <a:pPr algn="ctr"/>
            <a:r>
              <a:rPr lang="es-MX" sz="1600" dirty="0">
                <a:latin typeface="Century Gothic" panose="020B0502020202020204" pitchFamily="34" charset="0"/>
              </a:rPr>
              <a:t>Simone belén López Ramírez / 231260010</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Nombre del docente: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Ing. Francisco Javier Mingo Velazquez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trabajo:</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4.2 Reporte de practica</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Frontera Comalapa, Chiapas. A 24 de Marzo del 2026</a:t>
            </a:r>
          </a:p>
        </p:txBody>
      </p:sp>
      <p:grpSp>
        <p:nvGrpSpPr>
          <p:cNvPr id="5" name="Group 2">
            <a:extLst>
              <a:ext uri="{FF2B5EF4-FFF2-40B4-BE49-F238E27FC236}">
                <a16:creationId xmlns:a16="http://schemas.microsoft.com/office/drawing/2014/main" id="{5B1EAA32-A003-74F9-A7F8-46434A210294}"/>
              </a:ext>
            </a:extLst>
          </p:cNvPr>
          <p:cNvGrpSpPr/>
          <p:nvPr/>
        </p:nvGrpSpPr>
        <p:grpSpPr>
          <a:xfrm>
            <a:off x="523335" y="31119"/>
            <a:ext cx="2709599" cy="1198176"/>
            <a:chOff x="0" y="0"/>
            <a:chExt cx="3073400" cy="1308100"/>
          </a:xfrm>
        </p:grpSpPr>
        <p:sp>
          <p:nvSpPr>
            <p:cNvPr id="6" name="Freeform 3">
              <a:extLst>
                <a:ext uri="{FF2B5EF4-FFF2-40B4-BE49-F238E27FC236}">
                  <a16:creationId xmlns:a16="http://schemas.microsoft.com/office/drawing/2014/main" id="{1AA9EB4F-84CE-C7FD-9850-CA438AEFC3A6}"/>
                </a:ext>
              </a:extLst>
            </p:cNvPr>
            <p:cNvSpPr/>
            <p:nvPr/>
          </p:nvSpPr>
          <p:spPr>
            <a:xfrm>
              <a:off x="0" y="0"/>
              <a:ext cx="3073400" cy="1308100"/>
            </a:xfrm>
            <a:custGeom>
              <a:avLst/>
              <a:gdLst/>
              <a:ahLst/>
              <a:cxnLst/>
              <a:rect l="l" t="t" r="r" b="b"/>
              <a:pathLst>
                <a:path w="3073400" h="1308100">
                  <a:moveTo>
                    <a:pt x="0" y="0"/>
                  </a:moveTo>
                  <a:lnTo>
                    <a:pt x="3073400" y="0"/>
                  </a:lnTo>
                  <a:lnTo>
                    <a:pt x="3073400" y="1308100"/>
                  </a:lnTo>
                  <a:lnTo>
                    <a:pt x="0" y="1308100"/>
                  </a:lnTo>
                  <a:lnTo>
                    <a:pt x="0" y="0"/>
                  </a:lnTo>
                  <a:close/>
                </a:path>
              </a:pathLst>
            </a:custGeom>
            <a:blipFill>
              <a:blip r:embed="rId2"/>
              <a:stretch>
                <a:fillRect/>
              </a:stretch>
            </a:blipFill>
          </p:spPr>
        </p:sp>
      </p:grpSp>
      <p:grpSp>
        <p:nvGrpSpPr>
          <p:cNvPr id="7" name="Group 4">
            <a:extLst>
              <a:ext uri="{FF2B5EF4-FFF2-40B4-BE49-F238E27FC236}">
                <a16:creationId xmlns:a16="http://schemas.microsoft.com/office/drawing/2014/main" id="{3AFEF480-3F7C-514C-750B-CC1DD3B6B759}"/>
              </a:ext>
            </a:extLst>
          </p:cNvPr>
          <p:cNvGrpSpPr/>
          <p:nvPr/>
        </p:nvGrpSpPr>
        <p:grpSpPr>
          <a:xfrm>
            <a:off x="9187322" y="106714"/>
            <a:ext cx="1872270" cy="1245240"/>
            <a:chOff x="0" y="0"/>
            <a:chExt cx="1981200" cy="1625600"/>
          </a:xfrm>
        </p:grpSpPr>
        <p:sp>
          <p:nvSpPr>
            <p:cNvPr id="8" name="Freeform 5">
              <a:extLst>
                <a:ext uri="{FF2B5EF4-FFF2-40B4-BE49-F238E27FC236}">
                  <a16:creationId xmlns:a16="http://schemas.microsoft.com/office/drawing/2014/main" id="{B84E5C5A-AC42-1BF3-6F60-6556E17C7145}"/>
                </a:ext>
              </a:extLst>
            </p:cNvPr>
            <p:cNvSpPr/>
            <p:nvPr/>
          </p:nvSpPr>
          <p:spPr>
            <a:xfrm>
              <a:off x="0" y="0"/>
              <a:ext cx="1981200" cy="1625600"/>
            </a:xfrm>
            <a:custGeom>
              <a:avLst/>
              <a:gdLst/>
              <a:ahLst/>
              <a:cxnLst/>
              <a:rect l="l" t="t" r="r" b="b"/>
              <a:pathLst>
                <a:path w="1981200" h="1625600">
                  <a:moveTo>
                    <a:pt x="0" y="0"/>
                  </a:moveTo>
                  <a:lnTo>
                    <a:pt x="1981200" y="0"/>
                  </a:lnTo>
                  <a:lnTo>
                    <a:pt x="1981200" y="1625600"/>
                  </a:lnTo>
                  <a:lnTo>
                    <a:pt x="0" y="1625600"/>
                  </a:lnTo>
                  <a:lnTo>
                    <a:pt x="0" y="0"/>
                  </a:lnTo>
                  <a:close/>
                </a:path>
              </a:pathLst>
            </a:custGeom>
            <a:blipFill>
              <a:blip r:embed="rId3"/>
              <a:stretch>
                <a:fillRect/>
              </a:stretch>
            </a:blipFill>
          </p:spPr>
        </p:sp>
      </p:grpSp>
      <p:grpSp>
        <p:nvGrpSpPr>
          <p:cNvPr id="9" name="Group 6">
            <a:extLst>
              <a:ext uri="{FF2B5EF4-FFF2-40B4-BE49-F238E27FC236}">
                <a16:creationId xmlns:a16="http://schemas.microsoft.com/office/drawing/2014/main" id="{EAB66CE1-FEF4-B08C-AB05-7DCB357FC163}"/>
              </a:ext>
            </a:extLst>
          </p:cNvPr>
          <p:cNvGrpSpPr/>
          <p:nvPr/>
        </p:nvGrpSpPr>
        <p:grpSpPr>
          <a:xfrm>
            <a:off x="4014015" y="269788"/>
            <a:ext cx="3812814" cy="709234"/>
            <a:chOff x="0" y="0"/>
            <a:chExt cx="4343400" cy="901700"/>
          </a:xfrm>
        </p:grpSpPr>
        <p:sp>
          <p:nvSpPr>
            <p:cNvPr id="10" name="Freeform 7">
              <a:extLst>
                <a:ext uri="{FF2B5EF4-FFF2-40B4-BE49-F238E27FC236}">
                  <a16:creationId xmlns:a16="http://schemas.microsoft.com/office/drawing/2014/main" id="{7E768D43-13FF-1267-6AE4-6C84F6E0FA71}"/>
                </a:ext>
              </a:extLst>
            </p:cNvPr>
            <p:cNvSpPr/>
            <p:nvPr/>
          </p:nvSpPr>
          <p:spPr>
            <a:xfrm>
              <a:off x="0" y="0"/>
              <a:ext cx="4343400" cy="901700"/>
            </a:xfrm>
            <a:custGeom>
              <a:avLst/>
              <a:gdLst/>
              <a:ahLst/>
              <a:cxnLst/>
              <a:rect l="l" t="t" r="r" b="b"/>
              <a:pathLst>
                <a:path w="4343400" h="901700">
                  <a:moveTo>
                    <a:pt x="0" y="0"/>
                  </a:moveTo>
                  <a:lnTo>
                    <a:pt x="4343400" y="0"/>
                  </a:lnTo>
                  <a:lnTo>
                    <a:pt x="4343400" y="901700"/>
                  </a:lnTo>
                  <a:lnTo>
                    <a:pt x="0" y="901700"/>
                  </a:lnTo>
                  <a:lnTo>
                    <a:pt x="0" y="0"/>
                  </a:lnTo>
                  <a:close/>
                </a:path>
              </a:pathLst>
            </a:custGeom>
            <a:blipFill>
              <a:blip r:embed="rId4"/>
              <a:stretch>
                <a:fillRect/>
              </a:stretch>
            </a:blipFill>
          </p:spPr>
        </p:sp>
      </p:grpSp>
      <p:sp>
        <p:nvSpPr>
          <p:cNvPr id="11" name="CuadroTexto 10">
            <a:extLst>
              <a:ext uri="{FF2B5EF4-FFF2-40B4-BE49-F238E27FC236}">
                <a16:creationId xmlns:a16="http://schemas.microsoft.com/office/drawing/2014/main" id="{28595230-F10A-F0EA-1440-1E0CDA21C1CC}"/>
              </a:ext>
            </a:extLst>
          </p:cNvPr>
          <p:cNvSpPr txBox="1"/>
          <p:nvPr/>
        </p:nvSpPr>
        <p:spPr>
          <a:xfrm>
            <a:off x="2505075" y="1028788"/>
            <a:ext cx="7181850" cy="646331"/>
          </a:xfrm>
          <a:prstGeom prst="rect">
            <a:avLst/>
          </a:prstGeom>
          <a:noFill/>
        </p:spPr>
        <p:txBody>
          <a:bodyPr wrap="square" rtlCol="0">
            <a:spAutoFit/>
          </a:bodyPr>
          <a:lstStyle/>
          <a:p>
            <a:pPr algn="ctr"/>
            <a:r>
              <a:rPr lang="es-MX" b="1" dirty="0">
                <a:latin typeface="Century Gothic" panose="020B0502020202020204" pitchFamily="34" charset="0"/>
              </a:rPr>
              <a:t>Instituto tecnológico de frontera Comalapa</a:t>
            </a:r>
          </a:p>
          <a:p>
            <a:pPr algn="ctr"/>
            <a:r>
              <a:rPr lang="es-MX" b="1" dirty="0">
                <a:latin typeface="Century Gothic" panose="020B0502020202020204" pitchFamily="34" charset="0"/>
              </a:rPr>
              <a:t>Modalidad Mixta</a:t>
            </a:r>
          </a:p>
        </p:txBody>
      </p:sp>
    </p:spTree>
    <p:extLst>
      <p:ext uri="{BB962C8B-B14F-4D97-AF65-F5344CB8AC3E}">
        <p14:creationId xmlns:p14="http://schemas.microsoft.com/office/powerpoint/2010/main" val="19295303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0AC19806-FBD0-5ABF-608D-938867578F5A}"/>
              </a:ext>
            </a:extLst>
          </p:cNvPr>
          <p:cNvSpPr txBox="1"/>
          <p:nvPr/>
        </p:nvSpPr>
        <p:spPr>
          <a:xfrm>
            <a:off x="3048000" y="267385"/>
            <a:ext cx="6096000" cy="1569660"/>
          </a:xfrm>
          <a:prstGeom prst="rect">
            <a:avLst/>
          </a:prstGeom>
          <a:noFill/>
        </p:spPr>
        <p:txBody>
          <a:bodyPr wrap="square">
            <a:spAutoFit/>
          </a:bodyPr>
          <a:lstStyle/>
          <a:p>
            <a:pPr algn="ctr"/>
            <a:r>
              <a:rPr lang="es-MX" sz="3200" dirty="0">
                <a:ln w="0"/>
                <a:effectLst>
                  <a:outerShdw blurRad="38100" dist="19050" dir="2700000" algn="tl" rotWithShape="0">
                    <a:schemeClr val="dk1">
                      <a:alpha val="40000"/>
                    </a:schemeClr>
                  </a:outerShdw>
                </a:effectLst>
                <a:latin typeface="Century Gothic" panose="020B0502020202020204" pitchFamily="34" charset="0"/>
              </a:rPr>
              <a:t>Sistema de Reconocimiento Facial para Control de Asistencia de Docentes</a:t>
            </a:r>
          </a:p>
        </p:txBody>
      </p:sp>
      <p:pic>
        <p:nvPicPr>
          <p:cNvPr id="7" name="Imagen 6">
            <a:extLst>
              <a:ext uri="{FF2B5EF4-FFF2-40B4-BE49-F238E27FC236}">
                <a16:creationId xmlns:a16="http://schemas.microsoft.com/office/drawing/2014/main" id="{FA6D4EC1-E059-58F8-EF78-E5A2474306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6975" y="2182730"/>
            <a:ext cx="7019925" cy="4675270"/>
          </a:xfrm>
          <a:prstGeom prst="rect">
            <a:avLst/>
          </a:prstGeom>
        </p:spPr>
      </p:pic>
    </p:spTree>
    <p:extLst>
      <p:ext uri="{BB962C8B-B14F-4D97-AF65-F5344CB8AC3E}">
        <p14:creationId xmlns:p14="http://schemas.microsoft.com/office/powerpoint/2010/main" val="10902691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A6973B-E7CC-FFAC-4929-078F732A6669}"/>
              </a:ext>
            </a:extLst>
          </p:cNvPr>
          <p:cNvSpPr>
            <a:spLocks noGrp="1"/>
          </p:cNvSpPr>
          <p:nvPr>
            <p:ph type="title"/>
          </p:nvPr>
        </p:nvSpPr>
        <p:spPr/>
        <p:txBody>
          <a:bodyPr/>
          <a:lstStyle/>
          <a:p>
            <a:r>
              <a:rPr lang="es-MX" dirty="0">
                <a:latin typeface="Century Gothic" panose="020B0502020202020204" pitchFamily="34" charset="0"/>
              </a:rPr>
              <a:t>INTRODUCCIÓN </a:t>
            </a:r>
          </a:p>
        </p:txBody>
      </p:sp>
      <p:sp>
        <p:nvSpPr>
          <p:cNvPr id="3" name="Marcador de contenido 2">
            <a:extLst>
              <a:ext uri="{FF2B5EF4-FFF2-40B4-BE49-F238E27FC236}">
                <a16:creationId xmlns:a16="http://schemas.microsoft.com/office/drawing/2014/main" id="{6381440A-0D2F-77A3-EF77-4718B4C1968A}"/>
              </a:ext>
            </a:extLst>
          </p:cNvPr>
          <p:cNvSpPr>
            <a:spLocks noGrp="1"/>
          </p:cNvSpPr>
          <p:nvPr>
            <p:ph idx="1"/>
          </p:nvPr>
        </p:nvSpPr>
        <p:spPr/>
        <p:txBody>
          <a:bodyPr>
            <a:normAutofit/>
          </a:bodyPr>
          <a:lstStyle/>
          <a:p>
            <a:pPr marL="0" indent="0" algn="just">
              <a:buNone/>
            </a:pPr>
            <a:r>
              <a:rPr lang="es-MX" sz="2000" dirty="0">
                <a:latin typeface="Century Gothic" panose="020B0502020202020204" pitchFamily="34" charset="0"/>
              </a:rPr>
              <a:t>En la actualidad, el uso de tecnologías avanzadas como el reconocimiento facial ha permitido mejorar significativamente los sistemas de control de asistencia dentro de instituciones educativas. Este tipo de sistemas automatiza el registro de entrada y salida, reduciendo errores humanos y aumentando la eficiencia administrativa.</a:t>
            </a:r>
          </a:p>
          <a:p>
            <a:pPr marL="0" indent="0" algn="just">
              <a:buNone/>
            </a:pPr>
            <a:r>
              <a:rPr lang="es-MX" sz="2000" dirty="0">
                <a:latin typeface="Century Gothic" panose="020B0502020202020204" pitchFamily="34" charset="0"/>
              </a:rPr>
              <a:t>En la presente práctica se desarrolló e implementó un sistema de reconocimiento facial enfocado en el control de asistencia de docentes, el cual permite registrar horarios de entrada y salida mediante la detección automática del rostro. A lo largo de esta práctica se documentan las distintas etapas del sistema, desde la configuración inicial hasta su funcionamiento completo, apoyándose en capturas de pantalla que evidencian el proceso.</a:t>
            </a:r>
          </a:p>
          <a:p>
            <a:pPr marL="0" indent="0" algn="just">
              <a:buNone/>
            </a:pPr>
            <a:endParaRPr lang="es-MX" sz="2000" dirty="0">
              <a:latin typeface="Century Gothic" panose="020B0502020202020204" pitchFamily="34" charset="0"/>
            </a:endParaRPr>
          </a:p>
        </p:txBody>
      </p:sp>
    </p:spTree>
    <p:extLst>
      <p:ext uri="{BB962C8B-B14F-4D97-AF65-F5344CB8AC3E}">
        <p14:creationId xmlns:p14="http://schemas.microsoft.com/office/powerpoint/2010/main" val="21157064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517486-8FFF-155B-E362-013E5973E1B6}"/>
              </a:ext>
            </a:extLst>
          </p:cNvPr>
          <p:cNvSpPr>
            <a:spLocks noGrp="1"/>
          </p:cNvSpPr>
          <p:nvPr>
            <p:ph type="title"/>
          </p:nvPr>
        </p:nvSpPr>
        <p:spPr/>
        <p:txBody>
          <a:bodyPr/>
          <a:lstStyle/>
          <a:p>
            <a:r>
              <a:rPr lang="es-MX" dirty="0">
                <a:latin typeface="Century Gothic" panose="020B0502020202020204" pitchFamily="34" charset="0"/>
              </a:rPr>
              <a:t>JUSTIFICACIÓN</a:t>
            </a:r>
          </a:p>
        </p:txBody>
      </p:sp>
      <p:sp>
        <p:nvSpPr>
          <p:cNvPr id="3" name="Marcador de contenido 2">
            <a:extLst>
              <a:ext uri="{FF2B5EF4-FFF2-40B4-BE49-F238E27FC236}">
                <a16:creationId xmlns:a16="http://schemas.microsoft.com/office/drawing/2014/main" id="{7490705C-8E04-B17C-CC76-41A2C88A5738}"/>
              </a:ext>
            </a:extLst>
          </p:cNvPr>
          <p:cNvSpPr>
            <a:spLocks noGrp="1"/>
          </p:cNvSpPr>
          <p:nvPr>
            <p:ph idx="1"/>
          </p:nvPr>
        </p:nvSpPr>
        <p:spPr/>
        <p:txBody>
          <a:bodyPr>
            <a:normAutofit/>
          </a:bodyPr>
          <a:lstStyle/>
          <a:p>
            <a:pPr marL="0" indent="0" algn="just">
              <a:buNone/>
            </a:pPr>
            <a:r>
              <a:rPr lang="es-MX" sz="2000" dirty="0">
                <a:latin typeface="Century Gothic" panose="020B0502020202020204" pitchFamily="34" charset="0"/>
              </a:rPr>
              <a:t>El control manual de asistencia puede generar inconsistencias, pérdida de información y consumo excesivo de tiempo. Por ello, la implementación de un sistema basado en reconocimiento facial representa una solución innovadora que:</a:t>
            </a:r>
          </a:p>
          <a:p>
            <a:pPr algn="just"/>
            <a:r>
              <a:rPr lang="es-MX" sz="2000" dirty="0">
                <a:latin typeface="Century Gothic" panose="020B0502020202020204" pitchFamily="34" charset="0"/>
              </a:rPr>
              <a:t>Mejora la precisión en el registro de asistencia. </a:t>
            </a:r>
          </a:p>
          <a:p>
            <a:pPr algn="just"/>
            <a:r>
              <a:rPr lang="es-MX" sz="2000" dirty="0">
                <a:latin typeface="Century Gothic" panose="020B0502020202020204" pitchFamily="34" charset="0"/>
              </a:rPr>
              <a:t>Reduce la intervención humana. </a:t>
            </a:r>
          </a:p>
          <a:p>
            <a:pPr algn="just"/>
            <a:r>
              <a:rPr lang="es-MX" sz="2000" dirty="0">
                <a:latin typeface="Century Gothic" panose="020B0502020202020204" pitchFamily="34" charset="0"/>
              </a:rPr>
              <a:t>Aumenta la seguridad y confiabilidad de los datos. </a:t>
            </a:r>
          </a:p>
          <a:p>
            <a:pPr algn="just"/>
            <a:r>
              <a:rPr lang="es-MX" sz="2000" dirty="0">
                <a:latin typeface="Century Gothic" panose="020B0502020202020204" pitchFamily="34" charset="0"/>
              </a:rPr>
              <a:t>Permite un control más eficiente de los horarios de entrada y salida del personal docente. </a:t>
            </a:r>
          </a:p>
          <a:p>
            <a:pPr marL="0" indent="0" algn="just">
              <a:buNone/>
            </a:pPr>
            <a:r>
              <a:rPr lang="es-MX" sz="2000" dirty="0">
                <a:latin typeface="Century Gothic" panose="020B0502020202020204" pitchFamily="34" charset="0"/>
              </a:rPr>
              <a:t>Esta práctica tiene como finalidad aplicar conocimientos tecnológicos para resolver una problemática real en el ámbito educativo mediante herramientas modernas.</a:t>
            </a:r>
          </a:p>
          <a:p>
            <a:pPr marL="0" indent="0" algn="just">
              <a:buNone/>
            </a:pPr>
            <a:endParaRPr lang="es-MX" sz="2000" dirty="0">
              <a:latin typeface="Century Gothic" panose="020B0502020202020204" pitchFamily="34" charset="0"/>
            </a:endParaRPr>
          </a:p>
        </p:txBody>
      </p:sp>
    </p:spTree>
    <p:extLst>
      <p:ext uri="{BB962C8B-B14F-4D97-AF65-F5344CB8AC3E}">
        <p14:creationId xmlns:p14="http://schemas.microsoft.com/office/powerpoint/2010/main" val="39980039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5EB95C-6D13-B755-18A7-054CC6705BAD}"/>
              </a:ext>
            </a:extLst>
          </p:cNvPr>
          <p:cNvSpPr>
            <a:spLocks noGrp="1"/>
          </p:cNvSpPr>
          <p:nvPr>
            <p:ph type="title"/>
          </p:nvPr>
        </p:nvSpPr>
        <p:spPr>
          <a:xfrm>
            <a:off x="838200" y="245473"/>
            <a:ext cx="10515600" cy="1325563"/>
          </a:xfrm>
        </p:spPr>
        <p:txBody>
          <a:bodyPr/>
          <a:lstStyle/>
          <a:p>
            <a:r>
              <a:rPr lang="es-MX" dirty="0">
                <a:latin typeface="Century Gothic" panose="020B0502020202020204" pitchFamily="34" charset="0"/>
              </a:rPr>
              <a:t>1. INICIAMOS CON LA BASE DE DATOS (MySQL </a:t>
            </a:r>
            <a:r>
              <a:rPr lang="es-MX" dirty="0" err="1">
                <a:latin typeface="Century Gothic" panose="020B0502020202020204" pitchFamily="34" charset="0"/>
              </a:rPr>
              <a:t>Workbench</a:t>
            </a:r>
            <a:r>
              <a:rPr lang="es-MX" dirty="0">
                <a:latin typeface="Century Gothic" panose="020B0502020202020204" pitchFamily="34" charset="0"/>
              </a:rPr>
              <a:t>)</a:t>
            </a:r>
          </a:p>
        </p:txBody>
      </p:sp>
      <p:pic>
        <p:nvPicPr>
          <p:cNvPr id="5" name="Imagen 4">
            <a:extLst>
              <a:ext uri="{FF2B5EF4-FFF2-40B4-BE49-F238E27FC236}">
                <a16:creationId xmlns:a16="http://schemas.microsoft.com/office/drawing/2014/main" id="{403002D3-3F60-2E49-AE8C-24F2D8737E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37324" y="2216437"/>
            <a:ext cx="7067550" cy="3975497"/>
          </a:xfrm>
          <a:prstGeom prst="rect">
            <a:avLst/>
          </a:prstGeom>
        </p:spPr>
      </p:pic>
      <p:sp>
        <p:nvSpPr>
          <p:cNvPr id="8" name="Rectangle 1">
            <a:extLst>
              <a:ext uri="{FF2B5EF4-FFF2-40B4-BE49-F238E27FC236}">
                <a16:creationId xmlns:a16="http://schemas.microsoft.com/office/drawing/2014/main" id="{32098366-78B2-18D9-C021-3207307A0A96}"/>
              </a:ext>
            </a:extLst>
          </p:cNvPr>
          <p:cNvSpPr>
            <a:spLocks noGrp="1" noChangeArrowheads="1"/>
          </p:cNvSpPr>
          <p:nvPr>
            <p:ph idx="1"/>
          </p:nvPr>
        </p:nvSpPr>
        <p:spPr bwMode="auto">
          <a:xfrm>
            <a:off x="190018" y="1564991"/>
            <a:ext cx="10336484" cy="5047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dirty="0">
                <a:latin typeface="Century Gothic" panose="020B0502020202020204" pitchFamily="34" charset="0"/>
              </a:rPr>
              <a:t>Iniciamos la creación de la base de datos reconocimiento y posteriormente </a:t>
            </a:r>
            <a:r>
              <a:rPr lang="es-MX" altLang="es-MX" sz="1400" b="1" dirty="0">
                <a:latin typeface="Century Gothic" panose="020B0502020202020204" pitchFamily="34" charset="0"/>
              </a:rPr>
              <a:t>la tabla empresas.</a:t>
            </a:r>
          </a:p>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dirty="0">
                <a:latin typeface="Century Gothic" panose="020B0502020202020204" pitchFamily="34" charset="0"/>
              </a:rPr>
              <a:t>La tabla empresas contiene campos como:</a:t>
            </a: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1400" dirty="0">
              <a:latin typeface="Century Gothic" panose="020B0502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1400" dirty="0">
              <a:latin typeface="Century Gothic" panose="020B0502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1400" dirty="0">
              <a:latin typeface="Century Gothic" panose="020B0502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1400" dirty="0">
              <a:latin typeface="Century Gothic" panose="020B0502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1400" dirty="0">
              <a:latin typeface="Century Gothic" panose="020B0502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1400" dirty="0">
              <a:latin typeface="Century Gothic" panose="020B0502020202020204" pitchFamily="34" charset="0"/>
            </a:endParaRPr>
          </a:p>
          <a:p>
            <a:pPr eaLnBrk="0" fontAlgn="base" hangingPunct="0">
              <a:lnSpc>
                <a:spcPct val="100000"/>
              </a:lnSpc>
              <a:spcBef>
                <a:spcPct val="0"/>
              </a:spcBef>
              <a:spcAft>
                <a:spcPct val="0"/>
              </a:spcAft>
            </a:pPr>
            <a:r>
              <a:rPr lang="es-MX" altLang="es-MX" sz="1400" dirty="0">
                <a:latin typeface="Century Gothic" panose="020B0502020202020204" pitchFamily="34" charset="0"/>
              </a:rPr>
              <a:t>id: identificador principal </a:t>
            </a:r>
          </a:p>
          <a:p>
            <a:pPr eaLnBrk="0" fontAlgn="base" hangingPunct="0">
              <a:lnSpc>
                <a:spcPct val="100000"/>
              </a:lnSpc>
              <a:spcBef>
                <a:spcPct val="0"/>
              </a:spcBef>
              <a:spcAft>
                <a:spcPct val="0"/>
              </a:spcAft>
            </a:pPr>
            <a:r>
              <a:rPr lang="es-MX" altLang="es-MX" sz="1400" dirty="0">
                <a:latin typeface="Century Gothic" panose="020B0502020202020204" pitchFamily="34" charset="0"/>
              </a:rPr>
              <a:t>nombre: nombre de la empresa </a:t>
            </a:r>
          </a:p>
          <a:p>
            <a:pPr eaLnBrk="0" fontAlgn="base" hangingPunct="0">
              <a:lnSpc>
                <a:spcPct val="100000"/>
              </a:lnSpc>
              <a:spcBef>
                <a:spcPct val="0"/>
              </a:spcBef>
              <a:spcAft>
                <a:spcPct val="0"/>
              </a:spcAft>
            </a:pPr>
            <a:r>
              <a:rPr lang="es-MX" altLang="es-MX" sz="1400" dirty="0" err="1">
                <a:latin typeface="Century Gothic" panose="020B0502020202020204" pitchFamily="34" charset="0"/>
              </a:rPr>
              <a:t>nit</a:t>
            </a:r>
            <a:r>
              <a:rPr lang="es-MX" altLang="es-MX" sz="1400" dirty="0">
                <a:latin typeface="Century Gothic" panose="020B0502020202020204" pitchFamily="34" charset="0"/>
              </a:rPr>
              <a:t>: identificador fiscal </a:t>
            </a:r>
          </a:p>
          <a:p>
            <a:pPr eaLnBrk="0" fontAlgn="base" hangingPunct="0">
              <a:lnSpc>
                <a:spcPct val="100000"/>
              </a:lnSpc>
              <a:spcBef>
                <a:spcPct val="0"/>
              </a:spcBef>
              <a:spcAft>
                <a:spcPct val="0"/>
              </a:spcAft>
            </a:pPr>
            <a:r>
              <a:rPr lang="es-MX" altLang="es-MX" sz="1400" dirty="0" err="1">
                <a:latin typeface="Century Gothic" panose="020B0502020202020204" pitchFamily="34" charset="0"/>
              </a:rPr>
              <a:t>telefono</a:t>
            </a:r>
            <a:r>
              <a:rPr lang="es-MX" altLang="es-MX" sz="1400" dirty="0">
                <a:latin typeface="Century Gothic" panose="020B0502020202020204" pitchFamily="34" charset="0"/>
              </a:rPr>
              <a:t>, correo, </a:t>
            </a:r>
            <a:r>
              <a:rPr lang="es-MX" altLang="es-MX" sz="1400" dirty="0" err="1">
                <a:latin typeface="Century Gothic" panose="020B0502020202020204" pitchFamily="34" charset="0"/>
              </a:rPr>
              <a:t>direccion</a:t>
            </a:r>
            <a:r>
              <a:rPr lang="es-MX" altLang="es-MX" sz="1400" dirty="0">
                <a:latin typeface="Century Gothic" panose="020B0502020202020204" pitchFamily="34" charset="0"/>
              </a:rPr>
              <a:t> </a:t>
            </a:r>
          </a:p>
          <a:p>
            <a:pPr eaLnBrk="0" fontAlgn="base" hangingPunct="0">
              <a:lnSpc>
                <a:spcPct val="100000"/>
              </a:lnSpc>
              <a:spcBef>
                <a:spcPct val="0"/>
              </a:spcBef>
              <a:spcAft>
                <a:spcPct val="0"/>
              </a:spcAft>
            </a:pPr>
            <a:r>
              <a:rPr lang="es-MX" altLang="es-MX" sz="1400" dirty="0">
                <a:latin typeface="Century Gothic" panose="020B0502020202020204" pitchFamily="34" charset="0"/>
              </a:rPr>
              <a:t>comentario: información adicional </a:t>
            </a:r>
          </a:p>
          <a:p>
            <a:pPr eaLnBrk="0" fontAlgn="base" hangingPunct="0">
              <a:lnSpc>
                <a:spcPct val="100000"/>
              </a:lnSpc>
              <a:spcBef>
                <a:spcPct val="0"/>
              </a:spcBef>
              <a:spcAft>
                <a:spcPct val="0"/>
              </a:spcAft>
            </a:pPr>
            <a:r>
              <a:rPr lang="es-MX" altLang="es-MX" sz="1400" dirty="0">
                <a:latin typeface="Century Gothic" panose="020B0502020202020204" pitchFamily="34" charset="0"/>
              </a:rPr>
              <a:t>estado: tipo ENUM (activo o inactivo) </a:t>
            </a:r>
          </a:p>
          <a:p>
            <a:pPr eaLnBrk="0" fontAlgn="base" hangingPunct="0">
              <a:lnSpc>
                <a:spcPct val="100000"/>
              </a:lnSpc>
              <a:spcBef>
                <a:spcPct val="0"/>
              </a:spcBef>
              <a:spcAft>
                <a:spcPct val="0"/>
              </a:spcAft>
            </a:pPr>
            <a:r>
              <a:rPr lang="es-MX" altLang="es-MX" sz="1400" dirty="0" err="1">
                <a:latin typeface="Century Gothic" panose="020B0502020202020204" pitchFamily="34" charset="0"/>
              </a:rPr>
              <a:t>fecha_registro</a:t>
            </a:r>
            <a:r>
              <a:rPr lang="es-MX" altLang="es-MX" sz="1400" dirty="0">
                <a:latin typeface="Century Gothic" panose="020B0502020202020204" pitchFamily="34" charset="0"/>
              </a:rPr>
              <a:t>: fecha de registro </a:t>
            </a:r>
          </a:p>
          <a:p>
            <a:pPr eaLnBrk="0" fontAlgn="base" hangingPunct="0">
              <a:lnSpc>
                <a:spcPct val="100000"/>
              </a:lnSpc>
              <a:spcBef>
                <a:spcPct val="0"/>
              </a:spcBef>
              <a:spcAft>
                <a:spcPct val="0"/>
              </a:spcAft>
            </a:pPr>
            <a:r>
              <a:rPr lang="es-MX" altLang="es-MX" sz="1400" dirty="0" err="1">
                <a:latin typeface="Century Gothic" panose="020B0502020202020204" pitchFamily="34" charset="0"/>
              </a:rPr>
              <a:t>dia_de_pago</a:t>
            </a:r>
            <a:r>
              <a:rPr lang="es-MX" altLang="es-MX" sz="1400" dirty="0">
                <a:latin typeface="Century Gothic" panose="020B0502020202020204" pitchFamily="34" charset="0"/>
              </a:rPr>
              <a:t>, encargado, </a:t>
            </a:r>
            <a:r>
              <a:rPr lang="es-MX" altLang="es-MX" sz="1400" dirty="0" err="1">
                <a:latin typeface="Century Gothic" panose="020B0502020202020204" pitchFamily="34" charset="0"/>
              </a:rPr>
              <a:t>valor_de_pago</a:t>
            </a:r>
            <a:r>
              <a:rPr lang="es-MX" altLang="es-MX" sz="1400" dirty="0">
                <a:latin typeface="Century Gothic" panose="020B0502020202020204" pitchFamily="34" charset="0"/>
              </a:rPr>
              <a:t> </a:t>
            </a:r>
          </a:p>
          <a:p>
            <a:pPr eaLnBrk="0" fontAlgn="base" hangingPunct="0">
              <a:lnSpc>
                <a:spcPct val="100000"/>
              </a:lnSpc>
              <a:spcBef>
                <a:spcPct val="0"/>
              </a:spcBef>
              <a:spcAft>
                <a:spcPct val="0"/>
              </a:spcAft>
            </a:pPr>
            <a:endParaRPr lang="es-MX" altLang="es-MX" sz="1400" dirty="0">
              <a:latin typeface="Century Gothic" panose="020B0502020202020204" pitchFamily="34" charset="0"/>
            </a:endParaRPr>
          </a:p>
          <a:p>
            <a:pPr eaLnBrk="0" fontAlgn="base" hangingPunct="0">
              <a:lnSpc>
                <a:spcPct val="100000"/>
              </a:lnSpc>
              <a:spcBef>
                <a:spcPct val="0"/>
              </a:spcBef>
              <a:spcAft>
                <a:spcPct val="0"/>
              </a:spcAft>
            </a:pPr>
            <a:endParaRPr lang="es-MX" altLang="es-MX" sz="1400" dirty="0">
              <a:latin typeface="Century Gothic" panose="020B0502020202020204" pitchFamily="34" charset="0"/>
            </a:endParaRPr>
          </a:p>
          <a:p>
            <a:pPr marL="0" indent="0" eaLnBrk="0" fontAlgn="base" hangingPunct="0">
              <a:lnSpc>
                <a:spcPct val="100000"/>
              </a:lnSpc>
              <a:spcBef>
                <a:spcPct val="0"/>
              </a:spcBef>
              <a:spcAft>
                <a:spcPct val="0"/>
              </a:spcAft>
              <a:buNone/>
            </a:pPr>
            <a:endParaRPr lang="es-MX" altLang="es-MX" sz="1400" dirty="0">
              <a:latin typeface="Century Gothic" panose="020B0502020202020204" pitchFamily="34" charset="0"/>
            </a:endParaRPr>
          </a:p>
          <a:p>
            <a:pPr eaLnBrk="0" fontAlgn="base" hangingPunct="0">
              <a:lnSpc>
                <a:spcPct val="100000"/>
              </a:lnSpc>
              <a:spcBef>
                <a:spcPct val="0"/>
              </a:spcBef>
              <a:spcAft>
                <a:spcPct val="0"/>
              </a:spcAft>
            </a:pPr>
            <a:endParaRPr lang="es-MX" altLang="es-MX" sz="1400" dirty="0">
              <a:latin typeface="Century Gothic" panose="020B0502020202020204" pitchFamily="34" charset="0"/>
            </a:endParaRPr>
          </a:p>
          <a:p>
            <a:pPr eaLnBrk="0" fontAlgn="base" hangingPunct="0">
              <a:lnSpc>
                <a:spcPct val="100000"/>
              </a:lnSpc>
              <a:spcBef>
                <a:spcPct val="0"/>
              </a:spcBef>
              <a:spcAft>
                <a:spcPct val="0"/>
              </a:spcAft>
            </a:pPr>
            <a:endParaRPr lang="es-MX" altLang="es-MX" sz="1400" dirty="0">
              <a:latin typeface="Century Gothic" panose="020B0502020202020204" pitchFamily="34" charset="0"/>
            </a:endParaRPr>
          </a:p>
          <a:p>
            <a:pPr eaLnBrk="0" fontAlgn="base" hangingPunct="0">
              <a:lnSpc>
                <a:spcPct val="100000"/>
              </a:lnSpc>
              <a:spcBef>
                <a:spcPct val="0"/>
              </a:spcBef>
              <a:spcAft>
                <a:spcPct val="0"/>
              </a:spcAft>
            </a:pPr>
            <a:endParaRPr lang="es-MX" altLang="es-MX" sz="1400" dirty="0">
              <a:latin typeface="Century Gothic" panose="020B0502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dirty="0">
                <a:latin typeface="Century Gothic" panose="020B0502020202020204" pitchFamily="34" charset="0"/>
              </a:rPr>
              <a:t>Esta tabla es importante porque permite almacenar la información de las instituciones donde trabajan los docentes.</a:t>
            </a:r>
          </a:p>
        </p:txBody>
      </p:sp>
    </p:spTree>
    <p:extLst>
      <p:ext uri="{BB962C8B-B14F-4D97-AF65-F5344CB8AC3E}">
        <p14:creationId xmlns:p14="http://schemas.microsoft.com/office/powerpoint/2010/main" val="13636231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85A4F8E2-0250-817E-1969-338FDD24267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26671" y="2370932"/>
            <a:ext cx="6092896" cy="3427254"/>
          </a:xfrm>
        </p:spPr>
      </p:pic>
      <p:sp>
        <p:nvSpPr>
          <p:cNvPr id="6" name="Rectangle 1">
            <a:extLst>
              <a:ext uri="{FF2B5EF4-FFF2-40B4-BE49-F238E27FC236}">
                <a16:creationId xmlns:a16="http://schemas.microsoft.com/office/drawing/2014/main" id="{1AD57C55-0089-84A1-AF81-CAEB78AE88AF}"/>
              </a:ext>
            </a:extLst>
          </p:cNvPr>
          <p:cNvSpPr>
            <a:spLocks noChangeArrowheads="1"/>
          </p:cNvSpPr>
          <p:nvPr/>
        </p:nvSpPr>
        <p:spPr bwMode="auto">
          <a:xfrm>
            <a:off x="795584" y="0"/>
            <a:ext cx="9598096" cy="6986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dirty="0">
                <a:latin typeface="Century Gothic" panose="020B0502020202020204" pitchFamily="34" charset="0"/>
              </a:rPr>
              <a:t>Aquí se muestra la creación de la tabla “</a:t>
            </a:r>
            <a:r>
              <a:rPr lang="es-MX" altLang="es-MX" sz="1400" b="1" dirty="0" err="1">
                <a:latin typeface="Century Gothic" panose="020B0502020202020204" pitchFamily="34" charset="0"/>
              </a:rPr>
              <a:t>tabla_usuarios</a:t>
            </a:r>
            <a:r>
              <a:rPr lang="es-MX" altLang="es-MX" sz="1400" b="1" dirty="0">
                <a:latin typeface="Century Gothic" panose="020B0502020202020204" pitchFamily="34" charset="0"/>
              </a:rPr>
              <a:t>”</a:t>
            </a:r>
            <a:r>
              <a:rPr lang="es-MX" altLang="es-MX" sz="1400" dirty="0">
                <a:latin typeface="Century Gothic" panose="020B0502020202020204" pitchFamily="34" charset="0"/>
              </a:rPr>
              <a:t>, la cual almacena información de los docentes.</a:t>
            </a:r>
          </a:p>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dirty="0">
                <a:latin typeface="Century Gothic" panose="020B0502020202020204" pitchFamily="34" charset="0"/>
              </a:rPr>
              <a:t>Los campos incluyen:</a:t>
            </a: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1400" dirty="0">
              <a:latin typeface="Century Gothic" panose="020B0502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1400" dirty="0">
              <a:latin typeface="Century Gothic" panose="020B0502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a:latin typeface="Century Gothic" panose="020B0502020202020204" pitchFamily="34" charset="0"/>
              </a:rPr>
              <a:t>id: identificador único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a:latin typeface="Century Gothic" panose="020B0502020202020204" pitchFamily="34" charset="0"/>
              </a:rPr>
              <a:t>nombre: nombre del docente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a:latin typeface="Century Gothic" panose="020B0502020202020204" pitchFamily="34" charset="0"/>
              </a:rPr>
              <a:t>cedula: identificación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a:latin typeface="Century Gothic" panose="020B0502020202020204" pitchFamily="34" charset="0"/>
              </a:rPr>
              <a:t>cargo: puesto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err="1">
                <a:latin typeface="Century Gothic" panose="020B0502020202020204" pitchFamily="34" charset="0"/>
              </a:rPr>
              <a:t>codigo_empresa</a:t>
            </a:r>
            <a:r>
              <a:rPr lang="es-MX" altLang="es-MX" sz="1400" dirty="0">
                <a:latin typeface="Century Gothic" panose="020B0502020202020204" pitchFamily="34" charset="0"/>
              </a:rPr>
              <a:t>: referencia a la empresa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a:latin typeface="Century Gothic" panose="020B0502020202020204" pitchFamily="34" charset="0"/>
              </a:rPr>
              <a:t>imagen: tipo LONGBLOB, utilizado para guardar imágenes (clave en reconocimiento facial)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R="0" lvl="0" algn="l" defTabSz="914400" rtl="0" eaLnBrk="0" fontAlgn="base" latinLnBrk="0" hangingPunct="0">
              <a:lnSpc>
                <a:spcPct val="100000"/>
              </a:lnSpc>
              <a:spcBef>
                <a:spcPct val="0"/>
              </a:spcBef>
              <a:spcAft>
                <a:spcPct val="0"/>
              </a:spcAft>
              <a:buClrTx/>
              <a:buSzTx/>
              <a:tabLst/>
            </a:pPr>
            <a:r>
              <a:rPr lang="es-MX" altLang="es-MX" sz="1400" dirty="0">
                <a:latin typeface="Century Gothic" panose="020B0502020202020204" pitchFamily="34" charset="0"/>
              </a:rPr>
              <a:t>Además: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a:latin typeface="Century Gothic" panose="020B0502020202020204" pitchFamily="34" charset="0"/>
              </a:rPr>
              <a:t>Se define una llave foránea que conecta con la tabla empresas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a:latin typeface="Century Gothic" panose="020B0502020202020204" pitchFamily="34" charset="0"/>
              </a:rPr>
              <a:t>Esto permite asociar cada usuario con una empresa específica</a:t>
            </a: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1400" dirty="0">
              <a:latin typeface="Century Gothic" panose="020B0502020202020204" pitchFamily="34" charset="0"/>
            </a:endParaRPr>
          </a:p>
        </p:txBody>
      </p:sp>
    </p:spTree>
    <p:extLst>
      <p:ext uri="{BB962C8B-B14F-4D97-AF65-F5344CB8AC3E}">
        <p14:creationId xmlns:p14="http://schemas.microsoft.com/office/powerpoint/2010/main" val="23946355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ADEEC8BC-8FB5-C0E7-B661-A3FB8741E53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456288" y="1076325"/>
            <a:ext cx="7615204" cy="4283552"/>
          </a:xfrm>
        </p:spPr>
      </p:pic>
      <p:sp>
        <p:nvSpPr>
          <p:cNvPr id="6" name="Rectangle 1">
            <a:extLst>
              <a:ext uri="{FF2B5EF4-FFF2-40B4-BE49-F238E27FC236}">
                <a16:creationId xmlns:a16="http://schemas.microsoft.com/office/drawing/2014/main" id="{D439155F-6FD5-6115-567B-F2A9520CF440}"/>
              </a:ext>
            </a:extLst>
          </p:cNvPr>
          <p:cNvSpPr>
            <a:spLocks noChangeArrowheads="1"/>
          </p:cNvSpPr>
          <p:nvPr/>
        </p:nvSpPr>
        <p:spPr bwMode="auto">
          <a:xfrm>
            <a:off x="137652" y="229553"/>
            <a:ext cx="11702629"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dirty="0">
                <a:latin typeface="Century Gothic" panose="020B0502020202020204" pitchFamily="34" charset="0"/>
              </a:rPr>
              <a:t>Seguimos con el entorno de MySQL </a:t>
            </a:r>
            <a:r>
              <a:rPr lang="es-MX" altLang="es-MX" sz="1400" dirty="0" err="1">
                <a:latin typeface="Century Gothic" panose="020B0502020202020204" pitchFamily="34" charset="0"/>
              </a:rPr>
              <a:t>Workbench</a:t>
            </a:r>
            <a:r>
              <a:rPr lang="es-MX" altLang="es-MX" sz="1400" dirty="0">
                <a:latin typeface="Century Gothic" panose="020B0502020202020204" pitchFamily="34" charset="0"/>
              </a:rPr>
              <a:t>, específicamente la creación de la tabla registro, la cual es fundamental para el sistema de asistencia.</a:t>
            </a: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1400" dirty="0">
              <a:latin typeface="Century Gothic" panose="020B0502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dirty="0">
                <a:latin typeface="Century Gothic" panose="020B0502020202020204" pitchFamily="34" charset="0"/>
              </a:rPr>
              <a:t>La tabla incluye los siguientes campos:</a:t>
            </a: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1400" dirty="0">
              <a:latin typeface="Century Gothic" panose="020B0502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s-MX" altLang="es-MX" sz="1400" dirty="0">
                <a:latin typeface="Century Gothic" panose="020B0502020202020204" pitchFamily="34" charset="0"/>
              </a:rPr>
              <a:t>id: identificador único con auto incremento </a:t>
            </a:r>
          </a:p>
          <a:p>
            <a:pPr marL="0" marR="0" lvl="0" indent="0" algn="l" defTabSz="914400" rtl="0" eaLnBrk="0" fontAlgn="base" latinLnBrk="0" hangingPunct="0">
              <a:lnSpc>
                <a:spcPct val="100000"/>
              </a:lnSpc>
              <a:spcBef>
                <a:spcPct val="0"/>
              </a:spcBef>
              <a:spcAft>
                <a:spcPct val="0"/>
              </a:spcAft>
              <a:buClrTx/>
              <a:buSzTx/>
              <a:buFontTx/>
              <a:buChar char="•"/>
              <a:tabLst/>
            </a:pPr>
            <a:r>
              <a:rPr lang="es-MX" altLang="es-MX" sz="1400" dirty="0" err="1">
                <a:latin typeface="Century Gothic" panose="020B0502020202020204" pitchFamily="34" charset="0"/>
              </a:rPr>
              <a:t>usuario_id</a:t>
            </a:r>
            <a:r>
              <a:rPr lang="es-MX" altLang="es-MX" sz="1400" dirty="0">
                <a:latin typeface="Century Gothic" panose="020B0502020202020204" pitchFamily="34" charset="0"/>
              </a:rPr>
              <a:t>: referencia al usuario (docente) </a:t>
            </a:r>
          </a:p>
          <a:p>
            <a:pPr marL="0" marR="0" lvl="0" indent="0" algn="l" defTabSz="914400" rtl="0" eaLnBrk="0" fontAlgn="base" latinLnBrk="0" hangingPunct="0">
              <a:lnSpc>
                <a:spcPct val="100000"/>
              </a:lnSpc>
              <a:spcBef>
                <a:spcPct val="0"/>
              </a:spcBef>
              <a:spcAft>
                <a:spcPct val="0"/>
              </a:spcAft>
              <a:buClrTx/>
              <a:buSzTx/>
              <a:buFontTx/>
              <a:buChar char="•"/>
              <a:tabLst/>
            </a:pPr>
            <a:r>
              <a:rPr lang="es-MX" altLang="es-MX" sz="1400" dirty="0" err="1">
                <a:latin typeface="Century Gothic" panose="020B0502020202020204" pitchFamily="34" charset="0"/>
              </a:rPr>
              <a:t>empresa_id</a:t>
            </a:r>
            <a:r>
              <a:rPr lang="es-MX" altLang="es-MX" sz="1400" dirty="0">
                <a:latin typeface="Century Gothic" panose="020B0502020202020204" pitchFamily="34" charset="0"/>
              </a:rPr>
              <a:t>: referencia a la empresa </a:t>
            </a:r>
          </a:p>
          <a:p>
            <a:pPr marL="0" marR="0" lvl="0" indent="0" algn="l" defTabSz="914400" rtl="0" eaLnBrk="0" fontAlgn="base" latinLnBrk="0" hangingPunct="0">
              <a:lnSpc>
                <a:spcPct val="100000"/>
              </a:lnSpc>
              <a:spcBef>
                <a:spcPct val="0"/>
              </a:spcBef>
              <a:spcAft>
                <a:spcPct val="0"/>
              </a:spcAft>
              <a:buClrTx/>
              <a:buSzTx/>
              <a:buFontTx/>
              <a:buChar char="•"/>
              <a:tabLst/>
            </a:pPr>
            <a:r>
              <a:rPr lang="es-MX" altLang="es-MX" sz="1400" dirty="0" err="1">
                <a:latin typeface="Century Gothic" panose="020B0502020202020204" pitchFamily="34" charset="0"/>
              </a:rPr>
              <a:t>hora_entrada</a:t>
            </a:r>
            <a:r>
              <a:rPr lang="es-MX" altLang="es-MX" sz="1400" dirty="0">
                <a:latin typeface="Century Gothic" panose="020B0502020202020204" pitchFamily="34" charset="0"/>
              </a:rPr>
              <a:t>: fecha y hora de entrada </a:t>
            </a:r>
          </a:p>
          <a:p>
            <a:pPr marL="0" marR="0" lvl="0" indent="0" algn="l" defTabSz="914400" rtl="0" eaLnBrk="0" fontAlgn="base" latinLnBrk="0" hangingPunct="0">
              <a:lnSpc>
                <a:spcPct val="100000"/>
              </a:lnSpc>
              <a:spcBef>
                <a:spcPct val="0"/>
              </a:spcBef>
              <a:spcAft>
                <a:spcPct val="0"/>
              </a:spcAft>
              <a:buClrTx/>
              <a:buSzTx/>
              <a:buFontTx/>
              <a:buChar char="•"/>
              <a:tabLst/>
            </a:pPr>
            <a:r>
              <a:rPr lang="es-MX" altLang="es-MX" sz="1400" dirty="0" err="1">
                <a:latin typeface="Century Gothic" panose="020B0502020202020204" pitchFamily="34" charset="0"/>
              </a:rPr>
              <a:t>hora_salida</a:t>
            </a:r>
            <a:r>
              <a:rPr lang="es-MX" altLang="es-MX" sz="1400" dirty="0">
                <a:latin typeface="Century Gothic" panose="020B0502020202020204" pitchFamily="34" charset="0"/>
              </a:rPr>
              <a:t>: fecha y hora de salida </a:t>
            </a:r>
          </a:p>
          <a:p>
            <a:pPr marL="0" marR="0" lvl="0" indent="0" algn="l" defTabSz="914400" rtl="0" eaLnBrk="0" fontAlgn="base" latinLnBrk="0" hangingPunct="0">
              <a:lnSpc>
                <a:spcPct val="100000"/>
              </a:lnSpc>
              <a:spcBef>
                <a:spcPct val="0"/>
              </a:spcBef>
              <a:spcAft>
                <a:spcPct val="0"/>
              </a:spcAft>
              <a:buClrTx/>
              <a:buSzTx/>
              <a:buFontTx/>
              <a:buChar char="•"/>
              <a:tabLst/>
            </a:pPr>
            <a:endParaRPr lang="es-MX" altLang="es-MX" sz="1400" dirty="0">
              <a:latin typeface="Century Gothic" panose="020B0502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s-MX" altLang="es-MX" sz="1400" dirty="0">
              <a:latin typeface="Century Gothic" panose="020B0502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s-MX" altLang="es-MX" sz="1400" dirty="0">
              <a:latin typeface="Century Gothic" panose="020B0502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dirty="0">
                <a:latin typeface="Century Gothic" panose="020B0502020202020204" pitchFamily="34" charset="0"/>
              </a:rPr>
              <a:t>Además, se definen:</a:t>
            </a:r>
          </a:p>
          <a:p>
            <a:pPr marL="0" marR="0" lvl="0" indent="0" algn="l" defTabSz="914400" rtl="0" eaLnBrk="0" fontAlgn="base" latinLnBrk="0" hangingPunct="0">
              <a:lnSpc>
                <a:spcPct val="100000"/>
              </a:lnSpc>
              <a:spcBef>
                <a:spcPct val="0"/>
              </a:spcBef>
              <a:spcAft>
                <a:spcPct val="0"/>
              </a:spcAft>
              <a:buClrTx/>
              <a:buSzTx/>
              <a:buFontTx/>
              <a:buChar char="•"/>
              <a:tabLst/>
            </a:pPr>
            <a:r>
              <a:rPr lang="es-MX" altLang="es-MX" sz="1400" dirty="0">
                <a:latin typeface="Century Gothic" panose="020B0502020202020204" pitchFamily="34" charset="0"/>
              </a:rPr>
              <a:t>Llave primaria (PRIMARY KEY) sobre id </a:t>
            </a:r>
          </a:p>
          <a:p>
            <a:pPr marL="0" marR="0" lvl="0" indent="0" algn="l" defTabSz="914400" rtl="0" eaLnBrk="0" fontAlgn="base" latinLnBrk="0" hangingPunct="0">
              <a:lnSpc>
                <a:spcPct val="100000"/>
              </a:lnSpc>
              <a:spcBef>
                <a:spcPct val="0"/>
              </a:spcBef>
              <a:spcAft>
                <a:spcPct val="0"/>
              </a:spcAft>
              <a:buClrTx/>
              <a:buSzTx/>
              <a:buFontTx/>
              <a:buChar char="•"/>
              <a:tabLst/>
            </a:pPr>
            <a:r>
              <a:rPr lang="es-MX" altLang="es-MX" sz="1400" dirty="0">
                <a:latin typeface="Century Gothic" panose="020B0502020202020204" pitchFamily="34" charset="0"/>
              </a:rPr>
              <a:t>Índices para </a:t>
            </a:r>
            <a:r>
              <a:rPr lang="es-MX" altLang="es-MX" sz="1400" dirty="0" err="1">
                <a:latin typeface="Century Gothic" panose="020B0502020202020204" pitchFamily="34" charset="0"/>
              </a:rPr>
              <a:t>usuario_id</a:t>
            </a:r>
            <a:r>
              <a:rPr lang="es-MX" altLang="es-MX" sz="1400" dirty="0">
                <a:latin typeface="Century Gothic" panose="020B0502020202020204" pitchFamily="34" charset="0"/>
              </a:rPr>
              <a:t> y </a:t>
            </a:r>
            <a:r>
              <a:rPr lang="es-MX" altLang="es-MX" sz="1400" dirty="0" err="1">
                <a:latin typeface="Century Gothic" panose="020B0502020202020204" pitchFamily="34" charset="0"/>
              </a:rPr>
              <a:t>empresa_id</a:t>
            </a:r>
            <a:r>
              <a:rPr lang="es-MX" altLang="es-MX" sz="1400" dirty="0">
                <a:latin typeface="Century Gothic" panose="020B0502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lang="es-MX" altLang="es-MX" sz="1400" dirty="0">
                <a:latin typeface="Century Gothic" panose="020B0502020202020204" pitchFamily="34" charset="0"/>
              </a:rPr>
              <a:t>Llaves foráneas (FOREIGN KEY) que conectan: </a:t>
            </a:r>
          </a:p>
          <a:p>
            <a:pPr marL="457200" marR="0" lvl="1" indent="0" algn="l" defTabSz="914400" rtl="0" eaLnBrk="0" fontAlgn="base" latinLnBrk="0" hangingPunct="0">
              <a:lnSpc>
                <a:spcPct val="100000"/>
              </a:lnSpc>
              <a:spcBef>
                <a:spcPct val="0"/>
              </a:spcBef>
              <a:spcAft>
                <a:spcPct val="0"/>
              </a:spcAft>
              <a:buClrTx/>
              <a:buSzTx/>
              <a:buFontTx/>
              <a:buChar char="•"/>
              <a:tabLst/>
            </a:pPr>
            <a:r>
              <a:rPr lang="es-MX" altLang="es-MX" sz="1400" dirty="0" err="1">
                <a:latin typeface="Century Gothic" panose="020B0502020202020204" pitchFamily="34" charset="0"/>
              </a:rPr>
              <a:t>usuario_id</a:t>
            </a:r>
            <a:r>
              <a:rPr lang="es-MX" altLang="es-MX" sz="1400" dirty="0">
                <a:latin typeface="Century Gothic" panose="020B0502020202020204" pitchFamily="34" charset="0"/>
              </a:rPr>
              <a:t> con la tabla </a:t>
            </a:r>
            <a:r>
              <a:rPr lang="es-MX" altLang="es-MX" sz="1400" dirty="0" err="1">
                <a:latin typeface="Century Gothic" panose="020B0502020202020204" pitchFamily="34" charset="0"/>
              </a:rPr>
              <a:t>tabla_usuarios</a:t>
            </a:r>
            <a:r>
              <a:rPr lang="es-MX" altLang="es-MX" sz="1400" dirty="0">
                <a:latin typeface="Century Gothic" panose="020B0502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lang="es-MX" altLang="es-MX" sz="1400" dirty="0" err="1">
                <a:latin typeface="Century Gothic" panose="020B0502020202020204" pitchFamily="34" charset="0"/>
              </a:rPr>
              <a:t>empresa_id</a:t>
            </a:r>
            <a:r>
              <a:rPr lang="es-MX" altLang="es-MX" sz="1400" dirty="0">
                <a:latin typeface="Century Gothic" panose="020B0502020202020204" pitchFamily="34" charset="0"/>
              </a:rPr>
              <a:t> con la tabla empresas </a:t>
            </a:r>
          </a:p>
          <a:p>
            <a:pPr marL="457200" marR="0" lvl="1" indent="0" algn="l" defTabSz="914400" rtl="0" eaLnBrk="0" fontAlgn="base" latinLnBrk="0" hangingPunct="0">
              <a:lnSpc>
                <a:spcPct val="100000"/>
              </a:lnSpc>
              <a:spcBef>
                <a:spcPct val="0"/>
              </a:spcBef>
              <a:spcAft>
                <a:spcPct val="0"/>
              </a:spcAft>
              <a:buClrTx/>
              <a:buSzTx/>
              <a:buFontTx/>
              <a:buChar char="•"/>
              <a:tabLst/>
            </a:pPr>
            <a:endParaRPr lang="es-MX" altLang="es-MX" sz="1400" dirty="0">
              <a:latin typeface="Century Gothic" panose="020B0502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endParaRPr lang="es-MX" altLang="es-MX" sz="1400" dirty="0">
              <a:latin typeface="Century Gothic" panose="020B0502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endParaRPr lang="es-MX" altLang="es-MX" sz="1400" dirty="0">
              <a:latin typeface="Century Gothic" panose="020B0502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endParaRPr lang="es-MX" altLang="es-MX" sz="1400" dirty="0">
              <a:latin typeface="Century Gothic" panose="020B0502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endParaRPr lang="es-MX" altLang="es-MX" sz="1400" dirty="0">
              <a:latin typeface="Century Gothic" panose="020B0502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endParaRPr lang="es-MX" altLang="es-MX" sz="1400" dirty="0">
              <a:latin typeface="Century Gothic" panose="020B0502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endParaRPr lang="es-MX" altLang="es-MX" sz="1400" dirty="0">
              <a:latin typeface="Century Gothic" panose="020B0502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dirty="0">
                <a:latin typeface="Century Gothic" panose="020B0502020202020204" pitchFamily="34" charset="0"/>
              </a:rPr>
              <a:t>Esto permite relacionar cada registro de asistencia con un docente y una empresa.</a:t>
            </a:r>
          </a:p>
        </p:txBody>
      </p:sp>
    </p:spTree>
    <p:extLst>
      <p:ext uri="{BB962C8B-B14F-4D97-AF65-F5344CB8AC3E}">
        <p14:creationId xmlns:p14="http://schemas.microsoft.com/office/powerpoint/2010/main" val="39663442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4D2FACB7-0608-40D4-5584-EC60CC15245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10482" y="1572701"/>
            <a:ext cx="7735712" cy="4351338"/>
          </a:xfrm>
        </p:spPr>
      </p:pic>
      <p:sp>
        <p:nvSpPr>
          <p:cNvPr id="6" name="Rectangle 1">
            <a:extLst>
              <a:ext uri="{FF2B5EF4-FFF2-40B4-BE49-F238E27FC236}">
                <a16:creationId xmlns:a16="http://schemas.microsoft.com/office/drawing/2014/main" id="{8638F4AC-98D7-2B63-EB57-B0E4D0B746AC}"/>
              </a:ext>
            </a:extLst>
          </p:cNvPr>
          <p:cNvSpPr>
            <a:spLocks noChangeArrowheads="1"/>
          </p:cNvSpPr>
          <p:nvPr/>
        </p:nvSpPr>
        <p:spPr bwMode="auto">
          <a:xfrm>
            <a:off x="432620" y="766106"/>
            <a:ext cx="11071122"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dirty="0">
                <a:latin typeface="Century Gothic" panose="020B0502020202020204" pitchFamily="34" charset="0"/>
              </a:rPr>
              <a:t>la creación de </a:t>
            </a:r>
            <a:r>
              <a:rPr lang="es-MX" altLang="es-MX" sz="1400" b="1" dirty="0">
                <a:latin typeface="Century Gothic" panose="020B0502020202020204" pitchFamily="34" charset="0"/>
              </a:rPr>
              <a:t>la tabla usuarios</a:t>
            </a:r>
            <a:r>
              <a:rPr lang="es-MX" altLang="es-MX" sz="1400" dirty="0">
                <a:latin typeface="Century Gothic" panose="020B0502020202020204" pitchFamily="34" charset="0"/>
              </a:rPr>
              <a:t>, que parece estar orientada al acceso al sistema (</a:t>
            </a:r>
            <a:r>
              <a:rPr lang="es-MX" altLang="es-MX" sz="1400" dirty="0" err="1">
                <a:latin typeface="Century Gothic" panose="020B0502020202020204" pitchFamily="34" charset="0"/>
              </a:rPr>
              <a:t>login</a:t>
            </a:r>
            <a:r>
              <a:rPr lang="es-MX" altLang="es-MX" sz="1400" dirty="0">
                <a:latin typeface="Century Gothic" panose="020B0502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dirty="0">
                <a:latin typeface="Century Gothic" panose="020B0502020202020204" pitchFamily="34" charset="0"/>
              </a:rPr>
              <a:t>Campos principales:</a:t>
            </a: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1400" dirty="0">
              <a:latin typeface="Century Gothic" panose="020B0502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1400" dirty="0">
              <a:latin typeface="Century Gothic" panose="020B0502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1400" dirty="0">
              <a:latin typeface="Century Gothic" panose="020B0502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1400" dirty="0">
              <a:latin typeface="Century Gothic" panose="020B0502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1400" dirty="0">
              <a:latin typeface="Century Gothic" panose="020B0502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err="1">
                <a:latin typeface="Century Gothic" panose="020B0502020202020204" pitchFamily="34" charset="0"/>
              </a:rPr>
              <a:t>usuario_id</a:t>
            </a:r>
            <a:r>
              <a:rPr lang="es-MX" altLang="es-MX" sz="1400" dirty="0">
                <a:latin typeface="Century Gothic" panose="020B0502020202020204" pitchFamily="34" charset="0"/>
              </a:rPr>
              <a:t>: identificador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a:latin typeface="Century Gothic" panose="020B0502020202020204" pitchFamily="34" charset="0"/>
              </a:rPr>
              <a:t>cedula: dato único (con índice UNIQUE)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a:latin typeface="Century Gothic" panose="020B0502020202020204" pitchFamily="34" charset="0"/>
              </a:rPr>
              <a:t>nombre: nombre del usuario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err="1">
                <a:latin typeface="Century Gothic" panose="020B0502020202020204" pitchFamily="34" charset="0"/>
              </a:rPr>
              <a:t>password</a:t>
            </a:r>
            <a:r>
              <a:rPr lang="es-MX" altLang="es-MX" sz="1400" dirty="0">
                <a:latin typeface="Century Gothic" panose="020B0502020202020204" pitchFamily="34" charset="0"/>
              </a:rPr>
              <a:t>: contraseña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a:latin typeface="Century Gothic" panose="020B0502020202020204" pitchFamily="34" charset="0"/>
              </a:rPr>
              <a:t>estado: estado del usuario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err="1">
                <a:latin typeface="Century Gothic" panose="020B0502020202020204" pitchFamily="34" charset="0"/>
              </a:rPr>
              <a:t>empresa_id</a:t>
            </a:r>
            <a:r>
              <a:rPr lang="es-MX" altLang="es-MX" sz="1400" dirty="0">
                <a:latin typeface="Century Gothic" panose="020B0502020202020204" pitchFamily="34" charset="0"/>
              </a:rPr>
              <a:t>: relación con empresa </a:t>
            </a:r>
          </a:p>
          <a:p>
            <a:pPr marL="0" marR="0" lvl="0" indent="0" algn="l" defTabSz="914400" rtl="0" eaLnBrk="0" fontAlgn="base" latinLnBrk="0" hangingPunct="0">
              <a:lnSpc>
                <a:spcPct val="100000"/>
              </a:lnSpc>
              <a:spcBef>
                <a:spcPct val="0"/>
              </a:spcBef>
              <a:spcAft>
                <a:spcPct val="0"/>
              </a:spcAft>
              <a:buClrTx/>
              <a:buSzTx/>
              <a:buFontTx/>
              <a:buChar char="•"/>
              <a:tabLst/>
            </a:pPr>
            <a:endParaRPr lang="es-MX" altLang="es-MX" sz="1400" dirty="0">
              <a:latin typeface="Century Gothic" panose="020B0502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s-MX" altLang="es-MX" sz="1400" dirty="0">
              <a:latin typeface="Century Gothic" panose="020B0502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s-MX" altLang="es-MX" sz="1400" dirty="0">
              <a:latin typeface="Century Gothic" panose="020B0502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s-MX" altLang="es-MX" sz="1400" dirty="0">
              <a:latin typeface="Century Gothic" panose="020B0502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s-MX" altLang="es-MX" sz="1400" dirty="0">
              <a:latin typeface="Century Gothic" panose="020B0502020202020204" pitchFamily="34" charset="0"/>
            </a:endParaRPr>
          </a:p>
        </p:txBody>
      </p:sp>
      <p:sp>
        <p:nvSpPr>
          <p:cNvPr id="8" name="CuadroTexto 7">
            <a:extLst>
              <a:ext uri="{FF2B5EF4-FFF2-40B4-BE49-F238E27FC236}">
                <a16:creationId xmlns:a16="http://schemas.microsoft.com/office/drawing/2014/main" id="{4D05AA75-16B8-A206-34A3-7600AFF19550}"/>
              </a:ext>
            </a:extLst>
          </p:cNvPr>
          <p:cNvSpPr txBox="1"/>
          <p:nvPr/>
        </p:nvSpPr>
        <p:spPr>
          <a:xfrm>
            <a:off x="-33776" y="4459128"/>
            <a:ext cx="4244258" cy="954107"/>
          </a:xfrm>
          <a:prstGeom prst="rect">
            <a:avLst/>
          </a:prstGeom>
          <a:noFill/>
        </p:spPr>
        <p:txBody>
          <a:bodyPr wrap="square">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a:latin typeface="Century Gothic" panose="020B0502020202020204" pitchFamily="34" charset="0"/>
              </a:rPr>
              <a:t>Se define una llave foránea hacia la tabla empresas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a:latin typeface="Century Gothic" panose="020B0502020202020204" pitchFamily="34" charset="0"/>
              </a:rPr>
              <a:t>Esto permite controlar qué usuarios pertenecen a cada empresa</a:t>
            </a:r>
          </a:p>
        </p:txBody>
      </p:sp>
    </p:spTree>
    <p:extLst>
      <p:ext uri="{BB962C8B-B14F-4D97-AF65-F5344CB8AC3E}">
        <p14:creationId xmlns:p14="http://schemas.microsoft.com/office/powerpoint/2010/main" val="9488979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F1A8AFB9-DE68-A6C7-2263-3D37462626AF}"/>
              </a:ext>
            </a:extLst>
          </p:cNvPr>
          <p:cNvSpPr>
            <a:spLocks noGrp="1" noChangeArrowheads="1"/>
          </p:cNvSpPr>
          <p:nvPr>
            <p:ph idx="1"/>
          </p:nvPr>
        </p:nvSpPr>
        <p:spPr bwMode="auto">
          <a:xfrm>
            <a:off x="371135" y="353786"/>
            <a:ext cx="11820865"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dirty="0">
                <a:latin typeface="Century Gothic" panose="020B0502020202020204" pitchFamily="34" charset="0"/>
              </a:rPr>
              <a:t>nuevamente el entorno de MySQL </a:t>
            </a:r>
            <a:r>
              <a:rPr lang="es-MX" altLang="es-MX" sz="1400" dirty="0" err="1">
                <a:latin typeface="Century Gothic" panose="020B0502020202020204" pitchFamily="34" charset="0"/>
              </a:rPr>
              <a:t>Workbench</a:t>
            </a:r>
            <a:r>
              <a:rPr lang="es-MX" altLang="es-MX" sz="1400" dirty="0">
                <a:latin typeface="Century Gothic" panose="020B0502020202020204" pitchFamily="34" charset="0"/>
              </a:rPr>
              <a:t> con varias tablas ya creadas dentro del esquema:</a:t>
            </a:r>
          </a:p>
          <a:p>
            <a:pPr eaLnBrk="0" fontAlgn="base" hangingPunct="0">
              <a:lnSpc>
                <a:spcPct val="100000"/>
              </a:lnSpc>
              <a:spcBef>
                <a:spcPct val="0"/>
              </a:spcBef>
              <a:spcAft>
                <a:spcPct val="0"/>
              </a:spcAft>
            </a:pPr>
            <a:r>
              <a:rPr lang="es-MX" altLang="es-MX" sz="1400" dirty="0">
                <a:latin typeface="Century Gothic" panose="020B0502020202020204" pitchFamily="34" charset="0"/>
              </a:rPr>
              <a:t>empresas </a:t>
            </a:r>
          </a:p>
          <a:p>
            <a:pPr eaLnBrk="0" fontAlgn="base" hangingPunct="0">
              <a:lnSpc>
                <a:spcPct val="100000"/>
              </a:lnSpc>
              <a:spcBef>
                <a:spcPct val="0"/>
              </a:spcBef>
              <a:spcAft>
                <a:spcPct val="0"/>
              </a:spcAft>
            </a:pPr>
            <a:r>
              <a:rPr lang="es-MX" altLang="es-MX" sz="1400" dirty="0">
                <a:latin typeface="Century Gothic" panose="020B0502020202020204" pitchFamily="34" charset="0"/>
              </a:rPr>
              <a:t>registro </a:t>
            </a:r>
          </a:p>
          <a:p>
            <a:pPr eaLnBrk="0" fontAlgn="base" hangingPunct="0">
              <a:lnSpc>
                <a:spcPct val="100000"/>
              </a:lnSpc>
              <a:spcBef>
                <a:spcPct val="0"/>
              </a:spcBef>
              <a:spcAft>
                <a:spcPct val="0"/>
              </a:spcAft>
            </a:pPr>
            <a:r>
              <a:rPr lang="es-MX" altLang="es-MX" sz="1400" dirty="0" err="1">
                <a:latin typeface="Century Gothic" panose="020B0502020202020204" pitchFamily="34" charset="0"/>
              </a:rPr>
              <a:t>tabla_usuarios</a:t>
            </a:r>
            <a:r>
              <a:rPr lang="es-MX" altLang="es-MX" sz="1400" dirty="0">
                <a:latin typeface="Century Gothic" panose="020B0502020202020204" pitchFamily="34" charset="0"/>
              </a:rPr>
              <a:t> </a:t>
            </a:r>
          </a:p>
          <a:p>
            <a:pPr eaLnBrk="0" fontAlgn="base" hangingPunct="0">
              <a:lnSpc>
                <a:spcPct val="100000"/>
              </a:lnSpc>
              <a:spcBef>
                <a:spcPct val="0"/>
              </a:spcBef>
              <a:spcAft>
                <a:spcPct val="0"/>
              </a:spcAft>
            </a:pPr>
            <a:r>
              <a:rPr lang="es-MX" altLang="es-MX" sz="1400" dirty="0">
                <a:latin typeface="Century Gothic" panose="020B0502020202020204" pitchFamily="34" charset="0"/>
              </a:rPr>
              <a:t>usuarios </a:t>
            </a:r>
          </a:p>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dirty="0">
                <a:latin typeface="Century Gothic" panose="020B0502020202020204" pitchFamily="34" charset="0"/>
              </a:rPr>
              <a:t>Esto indica que la base de datos ya está estructurada correctamente y lista para ser utilizada en el sistema de reconocimiento facial.</a:t>
            </a:r>
          </a:p>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dirty="0">
                <a:latin typeface="Century Gothic" panose="020B0502020202020204" pitchFamily="34" charset="0"/>
              </a:rPr>
              <a:t>Al igual:</a:t>
            </a:r>
          </a:p>
          <a:p>
            <a:pPr eaLnBrk="0" fontAlgn="base" hangingPunct="0">
              <a:lnSpc>
                <a:spcPct val="100000"/>
              </a:lnSpc>
              <a:spcBef>
                <a:spcPct val="0"/>
              </a:spcBef>
              <a:spcAft>
                <a:spcPct val="0"/>
              </a:spcAft>
            </a:pPr>
            <a:r>
              <a:rPr lang="es-MX" altLang="es-MX" sz="1400" dirty="0">
                <a:latin typeface="Century Gothic" panose="020B0502020202020204" pitchFamily="34" charset="0"/>
              </a:rPr>
              <a:t>Las tablas están relacionadas entre sí </a:t>
            </a:r>
          </a:p>
          <a:p>
            <a:pPr eaLnBrk="0" fontAlgn="base" hangingPunct="0">
              <a:lnSpc>
                <a:spcPct val="100000"/>
              </a:lnSpc>
              <a:spcBef>
                <a:spcPct val="0"/>
              </a:spcBef>
              <a:spcAft>
                <a:spcPct val="0"/>
              </a:spcAft>
            </a:pPr>
            <a:r>
              <a:rPr lang="es-MX" altLang="es-MX" sz="1400" dirty="0">
                <a:latin typeface="Century Gothic" panose="020B0502020202020204" pitchFamily="34" charset="0"/>
              </a:rPr>
              <a:t>El sistema ya tiene una base sólida para almacenar datos de usuarios, empresas y asistencia</a:t>
            </a: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1400" dirty="0">
              <a:latin typeface="Century Gothic" panose="020B0502020202020204" pitchFamily="34" charset="0"/>
            </a:endParaRPr>
          </a:p>
        </p:txBody>
      </p:sp>
      <p:pic>
        <p:nvPicPr>
          <p:cNvPr id="8" name="Imagen 7">
            <a:extLst>
              <a:ext uri="{FF2B5EF4-FFF2-40B4-BE49-F238E27FC236}">
                <a16:creationId xmlns:a16="http://schemas.microsoft.com/office/drawing/2014/main" id="{30CFB95C-E9B0-4E7C-B2B4-462305C29C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7400" y="2423547"/>
            <a:ext cx="7258050" cy="4080667"/>
          </a:xfrm>
          <a:prstGeom prst="rect">
            <a:avLst/>
          </a:prstGeom>
        </p:spPr>
      </p:pic>
    </p:spTree>
    <p:extLst>
      <p:ext uri="{BB962C8B-B14F-4D97-AF65-F5344CB8AC3E}">
        <p14:creationId xmlns:p14="http://schemas.microsoft.com/office/powerpoint/2010/main" val="31224980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D27C63-F9CB-8AEB-4684-53964C0B6586}"/>
              </a:ext>
            </a:extLst>
          </p:cNvPr>
          <p:cNvSpPr>
            <a:spLocks noGrp="1"/>
          </p:cNvSpPr>
          <p:nvPr>
            <p:ph type="title"/>
          </p:nvPr>
        </p:nvSpPr>
        <p:spPr>
          <a:xfrm>
            <a:off x="219075" y="-73025"/>
            <a:ext cx="10515600" cy="1325563"/>
          </a:xfrm>
        </p:spPr>
        <p:txBody>
          <a:bodyPr/>
          <a:lstStyle/>
          <a:p>
            <a:r>
              <a:rPr lang="es-MX" dirty="0">
                <a:latin typeface="Century Gothic" panose="020B0502020202020204" pitchFamily="34" charset="0"/>
              </a:rPr>
              <a:t>2. </a:t>
            </a:r>
            <a:r>
              <a:rPr lang="es-MX" dirty="0" err="1">
                <a:latin typeface="Century Gothic" panose="020B0502020202020204" pitchFamily="34" charset="0"/>
              </a:rPr>
              <a:t>Backend</a:t>
            </a:r>
            <a:r>
              <a:rPr lang="es-MX" dirty="0">
                <a:latin typeface="Century Gothic" panose="020B0502020202020204" pitchFamily="34" charset="0"/>
              </a:rPr>
              <a:t> (database.js)</a:t>
            </a:r>
          </a:p>
        </p:txBody>
      </p:sp>
      <p:pic>
        <p:nvPicPr>
          <p:cNvPr id="5" name="Marcador de contenido 4">
            <a:extLst>
              <a:ext uri="{FF2B5EF4-FFF2-40B4-BE49-F238E27FC236}">
                <a16:creationId xmlns:a16="http://schemas.microsoft.com/office/drawing/2014/main" id="{A04334B3-5CF3-D6B3-FEBF-6A33CCF6F93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88769" y="2644820"/>
            <a:ext cx="5776211" cy="3249119"/>
          </a:xfrm>
        </p:spPr>
      </p:pic>
      <p:sp>
        <p:nvSpPr>
          <p:cNvPr id="6" name="Rectangle 1">
            <a:extLst>
              <a:ext uri="{FF2B5EF4-FFF2-40B4-BE49-F238E27FC236}">
                <a16:creationId xmlns:a16="http://schemas.microsoft.com/office/drawing/2014/main" id="{6BC301F4-6561-49D1-3F93-C399FFEBF298}"/>
              </a:ext>
            </a:extLst>
          </p:cNvPr>
          <p:cNvSpPr>
            <a:spLocks noChangeArrowheads="1"/>
          </p:cNvSpPr>
          <p:nvPr/>
        </p:nvSpPr>
        <p:spPr bwMode="auto">
          <a:xfrm>
            <a:off x="1457325" y="848314"/>
            <a:ext cx="8900411"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dirty="0">
                <a:latin typeface="Century Gothic" panose="020B0502020202020204" pitchFamily="34" charset="0"/>
              </a:rPr>
              <a:t>se presenta el archivo database.js, el cual corresponde al </a:t>
            </a:r>
            <a:r>
              <a:rPr lang="es-MX" altLang="es-MX" sz="1400" dirty="0" err="1">
                <a:latin typeface="Century Gothic" panose="020B0502020202020204" pitchFamily="34" charset="0"/>
              </a:rPr>
              <a:t>backend</a:t>
            </a:r>
            <a:r>
              <a:rPr lang="es-MX" altLang="es-MX" sz="1400" dirty="0">
                <a:latin typeface="Century Gothic" panose="020B0502020202020204" pitchFamily="34" charset="0"/>
              </a:rPr>
              <a:t> del sistema.</a:t>
            </a:r>
          </a:p>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dirty="0">
                <a:latin typeface="Century Gothic" panose="020B0502020202020204" pitchFamily="34" charset="0"/>
              </a:rPr>
              <a:t>Aquí se configura la conexión a la base de datos MySQL mediante:</a:t>
            </a: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1400" dirty="0">
              <a:latin typeface="Century Gothic" panose="020B0502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a:latin typeface="Century Gothic" panose="020B0502020202020204" pitchFamily="34" charset="0"/>
              </a:rPr>
              <a:t>host: dirección del servidor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err="1">
                <a:latin typeface="Century Gothic" panose="020B0502020202020204" pitchFamily="34" charset="0"/>
              </a:rPr>
              <a:t>user</a:t>
            </a:r>
            <a:r>
              <a:rPr lang="es-MX" altLang="es-MX" sz="1400" dirty="0">
                <a:latin typeface="Century Gothic" panose="020B0502020202020204" pitchFamily="34" charset="0"/>
              </a:rPr>
              <a:t>: usuario de la base de datos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err="1">
                <a:latin typeface="Century Gothic" panose="020B0502020202020204" pitchFamily="34" charset="0"/>
              </a:rPr>
              <a:t>password</a:t>
            </a:r>
            <a:r>
              <a:rPr lang="es-MX" altLang="es-MX" sz="1400" dirty="0">
                <a:latin typeface="Century Gothic" panose="020B0502020202020204" pitchFamily="34" charset="0"/>
              </a:rPr>
              <a:t>: contraseña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err="1">
                <a:latin typeface="Century Gothic" panose="020B0502020202020204" pitchFamily="34" charset="0"/>
              </a:rPr>
              <a:t>database</a:t>
            </a:r>
            <a:r>
              <a:rPr lang="es-MX" altLang="es-MX" sz="1400" dirty="0">
                <a:latin typeface="Century Gothic" panose="020B0502020202020204" pitchFamily="34" charset="0"/>
              </a:rPr>
              <a:t>: nombre de la base de datos (reconocimiento)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err="1">
                <a:latin typeface="Century Gothic" panose="020B0502020202020204" pitchFamily="34" charset="0"/>
              </a:rPr>
              <a:t>port</a:t>
            </a:r>
            <a:r>
              <a:rPr lang="es-MX" altLang="es-MX" sz="1400" dirty="0">
                <a:latin typeface="Century Gothic" panose="020B0502020202020204" pitchFamily="34" charset="0"/>
              </a:rPr>
              <a:t>: puerto de conexión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dirty="0">
                <a:latin typeface="Century Gothic" panose="020B0502020202020204" pitchFamily="34" charset="0"/>
              </a:rPr>
              <a:t>Además, se utiliza mysql2 para establecer la conexión y se exporta mediante </a:t>
            </a:r>
            <a:r>
              <a:rPr lang="es-MX" altLang="es-MX" sz="1400" dirty="0" err="1">
                <a:latin typeface="Century Gothic" panose="020B0502020202020204" pitchFamily="34" charset="0"/>
              </a:rPr>
              <a:t>module.exports</a:t>
            </a:r>
            <a:r>
              <a:rPr lang="es-MX" altLang="es-MX" sz="1400" dirty="0">
                <a:latin typeface="Century Gothic" panose="020B0502020202020204" pitchFamily="34" charset="0"/>
              </a:rPr>
              <a:t>, permitiendo que otros archivos del servidor utilicen esta conexión.</a:t>
            </a:r>
          </a:p>
        </p:txBody>
      </p:sp>
    </p:spTree>
    <p:extLst>
      <p:ext uri="{BB962C8B-B14F-4D97-AF65-F5344CB8AC3E}">
        <p14:creationId xmlns:p14="http://schemas.microsoft.com/office/powerpoint/2010/main" val="17113845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372AAE-2D45-D12F-4C20-75914BCE76A7}"/>
              </a:ext>
            </a:extLst>
          </p:cNvPr>
          <p:cNvSpPr>
            <a:spLocks noGrp="1"/>
          </p:cNvSpPr>
          <p:nvPr>
            <p:ph type="title"/>
          </p:nvPr>
        </p:nvSpPr>
        <p:spPr/>
        <p:txBody>
          <a:bodyPr/>
          <a:lstStyle/>
          <a:p>
            <a:r>
              <a:rPr lang="es-MX" dirty="0">
                <a:latin typeface="Century Gothic" panose="020B0502020202020204" pitchFamily="34" charset="0"/>
              </a:rPr>
              <a:t>3. Frontend: interfaz </a:t>
            </a:r>
          </a:p>
        </p:txBody>
      </p:sp>
      <p:pic>
        <p:nvPicPr>
          <p:cNvPr id="5" name="Marcador de contenido 4">
            <a:extLst>
              <a:ext uri="{FF2B5EF4-FFF2-40B4-BE49-F238E27FC236}">
                <a16:creationId xmlns:a16="http://schemas.microsoft.com/office/drawing/2014/main" id="{A93636AF-A279-588D-ABBC-A11E8FC11A6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79085" y="1839079"/>
            <a:ext cx="3422015" cy="1924883"/>
          </a:xfrm>
        </p:spPr>
      </p:pic>
      <p:sp>
        <p:nvSpPr>
          <p:cNvPr id="6" name="Rectangle 1">
            <a:extLst>
              <a:ext uri="{FF2B5EF4-FFF2-40B4-BE49-F238E27FC236}">
                <a16:creationId xmlns:a16="http://schemas.microsoft.com/office/drawing/2014/main" id="{21343F1E-FBCA-3465-2952-3B01380D5C2D}"/>
              </a:ext>
            </a:extLst>
          </p:cNvPr>
          <p:cNvSpPr>
            <a:spLocks noChangeArrowheads="1"/>
          </p:cNvSpPr>
          <p:nvPr/>
        </p:nvSpPr>
        <p:spPr bwMode="auto">
          <a:xfrm>
            <a:off x="250954" y="1378825"/>
            <a:ext cx="9337813"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dirty="0">
                <a:latin typeface="Century Gothic" panose="020B0502020202020204" pitchFamily="34" charset="0"/>
              </a:rPr>
              <a:t>El archivo index.html, donde se define la estructura principal de la interfaz del sistema.</a:t>
            </a:r>
          </a:p>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dirty="0">
                <a:latin typeface="Century Gothic" panose="020B0502020202020204" pitchFamily="34" charset="0"/>
              </a:rPr>
              <a:t>Se incluyen elementos como:</a:t>
            </a: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1400" dirty="0">
              <a:latin typeface="Century Gothic" panose="020B0502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1400" dirty="0">
              <a:latin typeface="Century Gothic" panose="020B0502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1400" dirty="0">
              <a:latin typeface="Century Gothic" panose="020B0502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1400" dirty="0">
              <a:latin typeface="Century Gothic" panose="020B0502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a:latin typeface="Century Gothic" panose="020B0502020202020204" pitchFamily="34" charset="0"/>
              </a:rPr>
              <a:t>Etiquetas HTML básicas (DOCTYPE, </a:t>
            </a:r>
            <a:r>
              <a:rPr lang="es-MX" altLang="es-MX" sz="1400" dirty="0" err="1">
                <a:latin typeface="Century Gothic" panose="020B0502020202020204" pitchFamily="34" charset="0"/>
              </a:rPr>
              <a:t>html</a:t>
            </a:r>
            <a:r>
              <a:rPr lang="es-MX" altLang="es-MX" sz="1400" dirty="0">
                <a:latin typeface="Century Gothic" panose="020B0502020202020204" pitchFamily="34" charset="0"/>
              </a:rPr>
              <a:t>, head, </a:t>
            </a:r>
            <a:r>
              <a:rPr lang="es-MX" altLang="es-MX" sz="1400" dirty="0" err="1">
                <a:latin typeface="Century Gothic" panose="020B0502020202020204" pitchFamily="34" charset="0"/>
              </a:rPr>
              <a:t>body</a:t>
            </a:r>
            <a:r>
              <a:rPr lang="es-MX" altLang="es-MX" sz="1400" dirty="0">
                <a:latin typeface="Century Gothic" panose="020B0502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a:latin typeface="Century Gothic" panose="020B0502020202020204" pitchFamily="34" charset="0"/>
              </a:rPr>
              <a:t>Integración de Bootstrap para diseño visual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a:latin typeface="Century Gothic" panose="020B0502020202020204" pitchFamily="34" charset="0"/>
              </a:rPr>
              <a:t>Barra de navegación (</a:t>
            </a:r>
            <a:r>
              <a:rPr lang="es-MX" altLang="es-MX" sz="1400" dirty="0" err="1">
                <a:latin typeface="Century Gothic" panose="020B0502020202020204" pitchFamily="34" charset="0"/>
              </a:rPr>
              <a:t>navbar</a:t>
            </a:r>
            <a:r>
              <a:rPr lang="es-MX" altLang="es-MX" sz="1400" dirty="0">
                <a:latin typeface="Century Gothic" panose="020B0502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a:latin typeface="Century Gothic" panose="020B0502020202020204" pitchFamily="34" charset="0"/>
              </a:rPr>
              <a:t>Iconos mediante librerías externas </a:t>
            </a:r>
          </a:p>
          <a:p>
            <a:pPr marL="0" marR="0" lvl="0" indent="0" algn="l" defTabSz="914400" rtl="0" eaLnBrk="0" fontAlgn="base" latinLnBrk="0" hangingPunct="0">
              <a:lnSpc>
                <a:spcPct val="100000"/>
              </a:lnSpc>
              <a:spcBef>
                <a:spcPct val="0"/>
              </a:spcBef>
              <a:spcAft>
                <a:spcPct val="0"/>
              </a:spcAft>
              <a:buClrTx/>
              <a:buSzTx/>
              <a:buFontTx/>
              <a:buChar char="•"/>
              <a:tabLst/>
            </a:pPr>
            <a:endParaRPr lang="es-MX" altLang="es-MX" sz="1400" dirty="0">
              <a:latin typeface="Century Gothic" panose="020B0502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dirty="0">
                <a:latin typeface="Century Gothic" panose="020B0502020202020204" pitchFamily="34" charset="0"/>
              </a:rPr>
              <a:t>Esta parte corresponde al </a:t>
            </a:r>
            <a:r>
              <a:rPr lang="es-MX" altLang="es-MX" sz="1400" dirty="0" err="1">
                <a:latin typeface="Century Gothic" panose="020B0502020202020204" pitchFamily="34" charset="0"/>
              </a:rPr>
              <a:t>frontend</a:t>
            </a:r>
            <a:r>
              <a:rPr lang="es-MX" altLang="es-MX" sz="1400" dirty="0">
                <a:latin typeface="Century Gothic" panose="020B0502020202020204" pitchFamily="34" charset="0"/>
              </a:rPr>
              <a:t>, ya que define lo que el usuario visualiza al interactuar con el sistema.</a:t>
            </a:r>
          </a:p>
        </p:txBody>
      </p:sp>
      <p:pic>
        <p:nvPicPr>
          <p:cNvPr id="7" name="Marcador de contenido 4">
            <a:extLst>
              <a:ext uri="{FF2B5EF4-FFF2-40B4-BE49-F238E27FC236}">
                <a16:creationId xmlns:a16="http://schemas.microsoft.com/office/drawing/2014/main" id="{9B44B9F6-182D-4A7E-F41E-4F56DA3EDF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93360" y="4505325"/>
            <a:ext cx="3590668" cy="2019751"/>
          </a:xfrm>
          <a:prstGeom prst="rect">
            <a:avLst/>
          </a:prstGeom>
        </p:spPr>
      </p:pic>
      <p:sp>
        <p:nvSpPr>
          <p:cNvPr id="10" name="Rectangle 2">
            <a:extLst>
              <a:ext uri="{FF2B5EF4-FFF2-40B4-BE49-F238E27FC236}">
                <a16:creationId xmlns:a16="http://schemas.microsoft.com/office/drawing/2014/main" id="{CF616E0E-4413-7EC3-ABFF-7FD65498F53B}"/>
              </a:ext>
            </a:extLst>
          </p:cNvPr>
          <p:cNvSpPr>
            <a:spLocks noChangeArrowheads="1"/>
          </p:cNvSpPr>
          <p:nvPr/>
        </p:nvSpPr>
        <p:spPr bwMode="auto">
          <a:xfrm>
            <a:off x="250955" y="3948759"/>
            <a:ext cx="11788646" cy="289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dirty="0">
                <a:latin typeface="Century Gothic" panose="020B0502020202020204" pitchFamily="34" charset="0"/>
              </a:rPr>
              <a:t>Al igual se tiene una sección más avanzada del archivo index.html, específicamente un modal (ventana emergente).</a:t>
            </a:r>
          </a:p>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dirty="0">
                <a:latin typeface="Century Gothic" panose="020B0502020202020204" pitchFamily="34" charset="0"/>
              </a:rPr>
              <a:t>Este modal permite:</a:t>
            </a: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1400" dirty="0">
              <a:latin typeface="Century Gothic" panose="020B0502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s-MX" altLang="es-MX" sz="1400" dirty="0">
                <a:latin typeface="Century Gothic" panose="020B0502020202020204" pitchFamily="34" charset="0"/>
              </a:rPr>
              <a:t>Editar información del usuario </a:t>
            </a:r>
          </a:p>
          <a:p>
            <a:pPr marL="0" marR="0" lvl="0" indent="0" algn="l" defTabSz="914400" rtl="0" eaLnBrk="0" fontAlgn="base" latinLnBrk="0" hangingPunct="0">
              <a:lnSpc>
                <a:spcPct val="100000"/>
              </a:lnSpc>
              <a:spcBef>
                <a:spcPct val="0"/>
              </a:spcBef>
              <a:spcAft>
                <a:spcPct val="0"/>
              </a:spcAft>
              <a:buClrTx/>
              <a:buSzTx/>
              <a:buFontTx/>
              <a:buChar char="•"/>
              <a:tabLst/>
            </a:pPr>
            <a:r>
              <a:rPr lang="es-MX" altLang="es-MX" sz="1400" dirty="0">
                <a:latin typeface="Century Gothic" panose="020B0502020202020204" pitchFamily="34" charset="0"/>
              </a:rPr>
              <a:t>Guardar cambios mediante botones </a:t>
            </a:r>
          </a:p>
          <a:p>
            <a:pPr marL="0" marR="0" lvl="0" indent="0" algn="l" defTabSz="914400" rtl="0" eaLnBrk="0" fontAlgn="base" latinLnBrk="0" hangingPunct="0">
              <a:lnSpc>
                <a:spcPct val="100000"/>
              </a:lnSpc>
              <a:spcBef>
                <a:spcPct val="0"/>
              </a:spcBef>
              <a:spcAft>
                <a:spcPct val="0"/>
              </a:spcAft>
              <a:buClrTx/>
              <a:buSzTx/>
              <a:buFontTx/>
              <a:buChar char="•"/>
              <a:tabLst/>
            </a:pPr>
            <a:r>
              <a:rPr lang="es-MX" altLang="es-MX" sz="1400" dirty="0">
                <a:latin typeface="Century Gothic" panose="020B0502020202020204" pitchFamily="34" charset="0"/>
              </a:rPr>
              <a:t>Cancelar operaciones </a:t>
            </a:r>
          </a:p>
          <a:p>
            <a:pPr marL="0" marR="0" lvl="0" indent="0" algn="l" defTabSz="914400" rtl="0" eaLnBrk="0" fontAlgn="base" latinLnBrk="0" hangingPunct="0">
              <a:lnSpc>
                <a:spcPct val="100000"/>
              </a:lnSpc>
              <a:spcBef>
                <a:spcPct val="0"/>
              </a:spcBef>
              <a:spcAft>
                <a:spcPct val="0"/>
              </a:spcAft>
              <a:buClrTx/>
              <a:buSzTx/>
              <a:buFontTx/>
              <a:buChar char="•"/>
              <a:tabLst/>
            </a:pPr>
            <a:endParaRPr lang="es-MX" altLang="es-MX" sz="1400" dirty="0">
              <a:latin typeface="Century Gothic" panose="020B0502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s-MX" altLang="es-MX" sz="1400" dirty="0">
              <a:latin typeface="Century Gothic" panose="020B0502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s-MX" altLang="es-MX" sz="1400" dirty="0">
              <a:latin typeface="Century Gothic" panose="020B0502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s-MX" altLang="es-MX" sz="1400" dirty="0">
              <a:latin typeface="Century Gothic" panose="020B0502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s-MX" altLang="es-MX" sz="1400" dirty="0">
              <a:latin typeface="Century Gothic" panose="020B0502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dirty="0">
                <a:latin typeface="Century Gothic" panose="020B0502020202020204" pitchFamily="34" charset="0"/>
              </a:rPr>
              <a:t>También se incluye un script que actualiza dinámicamente el año en pantalla usando JavaScript, lo cual mejora la funcionalidad de la interfaz.</a:t>
            </a:r>
          </a:p>
        </p:txBody>
      </p:sp>
    </p:spTree>
    <p:extLst>
      <p:ext uri="{BB962C8B-B14F-4D97-AF65-F5344CB8AC3E}">
        <p14:creationId xmlns:p14="http://schemas.microsoft.com/office/powerpoint/2010/main" val="9931549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a:extLst>
              <a:ext uri="{FF2B5EF4-FFF2-40B4-BE49-F238E27FC236}">
                <a16:creationId xmlns:a16="http://schemas.microsoft.com/office/drawing/2014/main" id="{F6F03CDC-D405-D5B6-E920-B3BBE8F05583}"/>
              </a:ext>
            </a:extLst>
          </p:cNvPr>
          <p:cNvSpPr>
            <a:spLocks noChangeArrowheads="1"/>
          </p:cNvSpPr>
          <p:nvPr/>
        </p:nvSpPr>
        <p:spPr bwMode="auto">
          <a:xfrm>
            <a:off x="171450" y="1259175"/>
            <a:ext cx="5167596" cy="433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dirty="0">
                <a:latin typeface="Century Gothic" panose="020B0502020202020204" pitchFamily="34" charset="0"/>
              </a:rPr>
              <a:t>El archivo script.js, donde se implementa la lógica del sistema de reconocimiento facial en el lado del cliente (</a:t>
            </a:r>
            <a:r>
              <a:rPr lang="es-MX" altLang="es-MX" sz="1400" dirty="0" err="1">
                <a:latin typeface="Century Gothic" panose="020B0502020202020204" pitchFamily="34" charset="0"/>
              </a:rPr>
              <a:t>frontend</a:t>
            </a:r>
            <a:r>
              <a:rPr lang="es-MX" altLang="es-MX" sz="1400" dirty="0">
                <a:latin typeface="Century Gothic" panose="020B0502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1400" dirty="0">
              <a:latin typeface="Century Gothic" panose="020B0502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dirty="0">
                <a:latin typeface="Century Gothic" panose="020B0502020202020204" pitchFamily="34" charset="0"/>
              </a:rPr>
              <a:t>Se pueden observar variables y estructuras como:</a:t>
            </a: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1200" dirty="0">
              <a:latin typeface="Century Gothic" panose="020B0502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200" dirty="0" err="1">
                <a:latin typeface="Century Gothic" panose="020B0502020202020204" pitchFamily="34" charset="0"/>
              </a:rPr>
              <a:t>labeledFaceDescriptors</a:t>
            </a:r>
            <a:r>
              <a:rPr lang="es-MX" altLang="es-MX" sz="1200" dirty="0">
                <a:latin typeface="Century Gothic" panose="020B0502020202020204" pitchFamily="34" charset="0"/>
              </a:rPr>
              <a:t>: para almacenar descriptores faciales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err="1">
                <a:latin typeface="Century Gothic" panose="020B0502020202020204" pitchFamily="34" charset="0"/>
              </a:rPr>
              <a:t>modelsLoaded</a:t>
            </a:r>
            <a:r>
              <a:rPr lang="es-MX" altLang="es-MX" sz="1400" dirty="0">
                <a:latin typeface="Century Gothic" panose="020B0502020202020204" pitchFamily="34" charset="0"/>
              </a:rPr>
              <a:t>: indicador de carga de modelos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err="1">
                <a:latin typeface="Century Gothic" panose="020B0502020202020204" pitchFamily="34" charset="0"/>
              </a:rPr>
              <a:t>selectedEmpresaId</a:t>
            </a:r>
            <a:r>
              <a:rPr lang="es-MX" altLang="es-MX" sz="1400" dirty="0">
                <a:latin typeface="Century Gothic" panose="020B0502020202020204" pitchFamily="34" charset="0"/>
              </a:rPr>
              <a:t>: empresa seleccionada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err="1">
                <a:latin typeface="Century Gothic" panose="020B0502020202020204" pitchFamily="34" charset="0"/>
              </a:rPr>
              <a:t>descriptorsCache</a:t>
            </a:r>
            <a:r>
              <a:rPr lang="es-MX" altLang="es-MX" sz="1400" dirty="0">
                <a:latin typeface="Century Gothic" panose="020B0502020202020204" pitchFamily="34" charset="0"/>
              </a:rPr>
              <a:t>: caché de rostros </a:t>
            </a:r>
          </a:p>
          <a:p>
            <a:pPr marL="0" marR="0" lvl="0" indent="0" algn="l" defTabSz="914400" rtl="0" eaLnBrk="0" fontAlgn="base" latinLnBrk="0" hangingPunct="0">
              <a:lnSpc>
                <a:spcPct val="100000"/>
              </a:lnSpc>
              <a:spcBef>
                <a:spcPct val="0"/>
              </a:spcBef>
              <a:spcAft>
                <a:spcPct val="0"/>
              </a:spcAft>
              <a:buClrTx/>
              <a:buSzTx/>
              <a:buFontTx/>
              <a:buChar char="•"/>
              <a:tabLst/>
            </a:pPr>
            <a:endParaRPr lang="es-MX" altLang="es-MX" sz="1400" dirty="0">
              <a:latin typeface="Century Gothic" panose="020B0502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s-MX" altLang="es-MX" sz="1400" dirty="0">
              <a:latin typeface="Century Gothic" panose="020B0502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s-MX" altLang="es-MX" sz="1400" dirty="0">
              <a:latin typeface="Century Gothic" panose="020B0502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s-MX" altLang="es-MX" sz="1400" dirty="0">
              <a:latin typeface="Century Gothic" panose="020B0502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s-MX" altLang="es-MX" sz="1400" dirty="0">
              <a:latin typeface="Century Gothic" panose="020B0502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s-MX" altLang="es-MX" sz="1400" dirty="0">
              <a:latin typeface="Century Gothic" panose="020B0502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dirty="0">
                <a:latin typeface="Century Gothic" panose="020B0502020202020204" pitchFamily="34" charset="0"/>
              </a:rPr>
              <a:t>También se incluye una función para cargar modelos de reconocimiento facial utilizando la librería face-api.js, lo cual es esencial para detectar y reconocer rostros en el navegador.</a:t>
            </a:r>
          </a:p>
        </p:txBody>
      </p:sp>
      <p:pic>
        <p:nvPicPr>
          <p:cNvPr id="7" name="Marcador de contenido 14">
            <a:extLst>
              <a:ext uri="{FF2B5EF4-FFF2-40B4-BE49-F238E27FC236}">
                <a16:creationId xmlns:a16="http://schemas.microsoft.com/office/drawing/2014/main" id="{78242D4C-1744-4564-5938-A104748788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20122" y="1724627"/>
            <a:ext cx="6481823" cy="3646025"/>
          </a:xfrm>
          <a:prstGeom prst="rect">
            <a:avLst/>
          </a:prstGeom>
        </p:spPr>
      </p:pic>
      <p:sp>
        <p:nvSpPr>
          <p:cNvPr id="10" name="Título 1">
            <a:extLst>
              <a:ext uri="{FF2B5EF4-FFF2-40B4-BE49-F238E27FC236}">
                <a16:creationId xmlns:a16="http://schemas.microsoft.com/office/drawing/2014/main" id="{05EA012A-DA46-13EC-87C7-A2D4BF31CF62}"/>
              </a:ext>
            </a:extLst>
          </p:cNvPr>
          <p:cNvSpPr>
            <a:spLocks noGrp="1"/>
          </p:cNvSpPr>
          <p:nvPr>
            <p:ph type="title"/>
          </p:nvPr>
        </p:nvSpPr>
        <p:spPr>
          <a:xfrm>
            <a:off x="171450" y="127000"/>
            <a:ext cx="11506200" cy="554037"/>
          </a:xfrm>
        </p:spPr>
        <p:txBody>
          <a:bodyPr>
            <a:normAutofit fontScale="90000"/>
          </a:bodyPr>
          <a:lstStyle/>
          <a:p>
            <a:r>
              <a:rPr lang="es-MX" sz="4000" dirty="0">
                <a:latin typeface="Century Gothic" panose="020B0502020202020204" pitchFamily="34" charset="0"/>
              </a:rPr>
              <a:t>Envió de datos del </a:t>
            </a:r>
            <a:r>
              <a:rPr lang="es-MX" sz="4000" dirty="0" err="1">
                <a:latin typeface="Century Gothic" panose="020B0502020202020204" pitchFamily="34" charset="0"/>
              </a:rPr>
              <a:t>frontend</a:t>
            </a:r>
            <a:r>
              <a:rPr lang="es-MX" sz="4000" dirty="0">
                <a:latin typeface="Century Gothic" panose="020B0502020202020204" pitchFamily="34" charset="0"/>
              </a:rPr>
              <a:t> hacia el servidor</a:t>
            </a:r>
          </a:p>
        </p:txBody>
      </p:sp>
    </p:spTree>
    <p:extLst>
      <p:ext uri="{BB962C8B-B14F-4D97-AF65-F5344CB8AC3E}">
        <p14:creationId xmlns:p14="http://schemas.microsoft.com/office/powerpoint/2010/main" val="356598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D17562-06CB-A023-040E-316DBDA5F0E6}"/>
              </a:ext>
            </a:extLst>
          </p:cNvPr>
          <p:cNvSpPr>
            <a:spLocks noGrp="1"/>
          </p:cNvSpPr>
          <p:nvPr>
            <p:ph type="title"/>
          </p:nvPr>
        </p:nvSpPr>
        <p:spPr>
          <a:xfrm>
            <a:off x="171450" y="127000"/>
            <a:ext cx="11506200" cy="554037"/>
          </a:xfrm>
        </p:spPr>
        <p:txBody>
          <a:bodyPr>
            <a:normAutofit fontScale="90000"/>
          </a:bodyPr>
          <a:lstStyle/>
          <a:p>
            <a:r>
              <a:rPr lang="es-MX" sz="4000" dirty="0">
                <a:latin typeface="Century Gothic" panose="020B0502020202020204" pitchFamily="34" charset="0"/>
              </a:rPr>
              <a:t>Envió de datos del </a:t>
            </a:r>
            <a:r>
              <a:rPr lang="es-MX" sz="4000" dirty="0" err="1">
                <a:latin typeface="Century Gothic" panose="020B0502020202020204" pitchFamily="34" charset="0"/>
              </a:rPr>
              <a:t>frontend</a:t>
            </a:r>
            <a:r>
              <a:rPr lang="es-MX" sz="4000" dirty="0">
                <a:latin typeface="Century Gothic" panose="020B0502020202020204" pitchFamily="34" charset="0"/>
              </a:rPr>
              <a:t> hacia el servidor</a:t>
            </a:r>
          </a:p>
        </p:txBody>
      </p:sp>
      <p:sp>
        <p:nvSpPr>
          <p:cNvPr id="16" name="Rectangle 1">
            <a:extLst>
              <a:ext uri="{FF2B5EF4-FFF2-40B4-BE49-F238E27FC236}">
                <a16:creationId xmlns:a16="http://schemas.microsoft.com/office/drawing/2014/main" id="{35724CAA-71D0-D4C5-BEBB-8BF7F57E73FD}"/>
              </a:ext>
            </a:extLst>
          </p:cNvPr>
          <p:cNvSpPr>
            <a:spLocks noChangeArrowheads="1"/>
          </p:cNvSpPr>
          <p:nvPr/>
        </p:nvSpPr>
        <p:spPr bwMode="auto">
          <a:xfrm>
            <a:off x="171450" y="923169"/>
            <a:ext cx="960230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dirty="0">
                <a:latin typeface="Century Gothic" panose="020B0502020202020204" pitchFamily="34" charset="0"/>
              </a:rPr>
              <a:t>nuevamente el archivo script.js, donde se implementa el envío de datos desde el </a:t>
            </a:r>
            <a:r>
              <a:rPr lang="es-MX" altLang="es-MX" sz="1400" dirty="0" err="1">
                <a:latin typeface="Century Gothic" panose="020B0502020202020204" pitchFamily="34" charset="0"/>
              </a:rPr>
              <a:t>frontend</a:t>
            </a:r>
            <a:r>
              <a:rPr lang="es-MX" altLang="es-MX" sz="1400" dirty="0">
                <a:latin typeface="Century Gothic" panose="020B0502020202020204" pitchFamily="34" charset="0"/>
              </a:rPr>
              <a:t> hacia el servidor.</a:t>
            </a:r>
          </a:p>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dirty="0">
                <a:latin typeface="Century Gothic" panose="020B0502020202020204" pitchFamily="34" charset="0"/>
              </a:rPr>
              <a:t>Se utilizan elementos como:</a:t>
            </a:r>
          </a:p>
        </p:txBody>
      </p:sp>
      <p:sp>
        <p:nvSpPr>
          <p:cNvPr id="18" name="CuadroTexto 17">
            <a:extLst>
              <a:ext uri="{FF2B5EF4-FFF2-40B4-BE49-F238E27FC236}">
                <a16:creationId xmlns:a16="http://schemas.microsoft.com/office/drawing/2014/main" id="{6F6A5D1D-1BF5-A2DA-BAE7-AE9B24FD88C5}"/>
              </a:ext>
            </a:extLst>
          </p:cNvPr>
          <p:cNvSpPr txBox="1"/>
          <p:nvPr/>
        </p:nvSpPr>
        <p:spPr>
          <a:xfrm>
            <a:off x="25488" y="1969609"/>
            <a:ext cx="4356012" cy="2462213"/>
          </a:xfrm>
          <a:prstGeom prst="rect">
            <a:avLst/>
          </a:prstGeom>
          <a:noFill/>
        </p:spPr>
        <p:txBody>
          <a:bodyPr wrap="square">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err="1">
                <a:latin typeface="Century Gothic" panose="020B0502020202020204" pitchFamily="34" charset="0"/>
              </a:rPr>
              <a:t>addEventListener</a:t>
            </a:r>
            <a:r>
              <a:rPr lang="es-MX" altLang="es-MX" sz="1400" dirty="0">
                <a:latin typeface="Century Gothic" panose="020B0502020202020204" pitchFamily="34" charset="0"/>
              </a:rPr>
              <a:t>('</a:t>
            </a:r>
            <a:r>
              <a:rPr lang="es-MX" altLang="es-MX" sz="1400" dirty="0" err="1">
                <a:latin typeface="Century Gothic" panose="020B0502020202020204" pitchFamily="34" charset="0"/>
              </a:rPr>
              <a:t>submit</a:t>
            </a:r>
            <a:r>
              <a:rPr lang="es-MX" altLang="es-MX" sz="1400" dirty="0">
                <a:latin typeface="Century Gothic" panose="020B0502020202020204" pitchFamily="34" charset="0"/>
              </a:rPr>
              <a:t>'): para capturar el envío del formulario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err="1">
                <a:latin typeface="Century Gothic" panose="020B0502020202020204" pitchFamily="34" charset="0"/>
              </a:rPr>
              <a:t>FormData</a:t>
            </a:r>
            <a:r>
              <a:rPr lang="es-MX" altLang="es-MX" sz="1400" dirty="0">
                <a:latin typeface="Century Gothic" panose="020B0502020202020204" pitchFamily="34" charset="0"/>
              </a:rPr>
              <a:t>: para enviar datos al servidor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err="1">
                <a:latin typeface="Century Gothic" panose="020B0502020202020204" pitchFamily="34" charset="0"/>
              </a:rPr>
              <a:t>fetch</a:t>
            </a:r>
            <a:r>
              <a:rPr lang="es-MX" altLang="es-MX" sz="1400" dirty="0">
                <a:latin typeface="Century Gothic" panose="020B0502020202020204" pitchFamily="34" charset="0"/>
              </a:rPr>
              <a:t>(): para realizar peticiones HTTP tipo POST </a:t>
            </a:r>
          </a:p>
          <a:p>
            <a:pPr marL="0" marR="0" lvl="0" indent="0" algn="l" defTabSz="914400" rtl="0" eaLnBrk="0" fontAlgn="base" latinLnBrk="0" hangingPunct="0">
              <a:lnSpc>
                <a:spcPct val="100000"/>
              </a:lnSpc>
              <a:spcBef>
                <a:spcPct val="0"/>
              </a:spcBef>
              <a:spcAft>
                <a:spcPct val="0"/>
              </a:spcAft>
              <a:buClrTx/>
              <a:buSzTx/>
              <a:buFontTx/>
              <a:buChar char="•"/>
              <a:tabLst/>
            </a:pPr>
            <a:endParaRPr lang="es-MX" altLang="es-MX" sz="1400" dirty="0">
              <a:latin typeface="Century Gothic" panose="020B0502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s-MX" altLang="es-MX" sz="1400" dirty="0">
              <a:latin typeface="Century Gothic" panose="020B0502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dirty="0">
                <a:latin typeface="Century Gothic" panose="020B0502020202020204" pitchFamily="34" charset="0"/>
              </a:rPr>
              <a:t>También se manejan: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a:latin typeface="Century Gothic" panose="020B0502020202020204" pitchFamily="34" charset="0"/>
              </a:rPr>
              <a:t>Mensajes de carga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a:latin typeface="Century Gothic" panose="020B0502020202020204" pitchFamily="34" charset="0"/>
              </a:rPr>
              <a:t>Validaciones de respuesta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a:latin typeface="Century Gothic" panose="020B0502020202020204" pitchFamily="34" charset="0"/>
              </a:rPr>
              <a:t>Manejo de errores </a:t>
            </a:r>
          </a:p>
        </p:txBody>
      </p:sp>
      <p:sp>
        <p:nvSpPr>
          <p:cNvPr id="20" name="CuadroTexto 19">
            <a:extLst>
              <a:ext uri="{FF2B5EF4-FFF2-40B4-BE49-F238E27FC236}">
                <a16:creationId xmlns:a16="http://schemas.microsoft.com/office/drawing/2014/main" id="{0E66D40F-DD29-2C12-352F-59103AA493A7}"/>
              </a:ext>
            </a:extLst>
          </p:cNvPr>
          <p:cNvSpPr txBox="1"/>
          <p:nvPr/>
        </p:nvSpPr>
        <p:spPr>
          <a:xfrm>
            <a:off x="215321" y="6027725"/>
            <a:ext cx="11761358"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1800" dirty="0">
                <a:latin typeface="Century Gothic" panose="020B0502020202020204" pitchFamily="34" charset="0"/>
              </a:rPr>
              <a:t>Esta parte permite agregar usuarios al sistema, conectando directamente el </a:t>
            </a:r>
            <a:r>
              <a:rPr lang="es-MX" altLang="es-MX" sz="1800" dirty="0" err="1">
                <a:latin typeface="Century Gothic" panose="020B0502020202020204" pitchFamily="34" charset="0"/>
              </a:rPr>
              <a:t>frontend</a:t>
            </a:r>
            <a:r>
              <a:rPr lang="es-MX" altLang="es-MX" sz="1800" dirty="0">
                <a:latin typeface="Century Gothic" panose="020B0502020202020204" pitchFamily="34" charset="0"/>
              </a:rPr>
              <a:t> con el </a:t>
            </a:r>
            <a:r>
              <a:rPr lang="es-MX" altLang="es-MX" sz="1800" dirty="0" err="1">
                <a:latin typeface="Century Gothic" panose="020B0502020202020204" pitchFamily="34" charset="0"/>
              </a:rPr>
              <a:t>backend</a:t>
            </a:r>
            <a:r>
              <a:rPr lang="es-MX" altLang="es-MX" sz="1800" dirty="0">
                <a:latin typeface="Century Gothic" panose="020B0502020202020204" pitchFamily="34" charset="0"/>
              </a:rPr>
              <a:t>.</a:t>
            </a:r>
          </a:p>
        </p:txBody>
      </p:sp>
      <p:pic>
        <p:nvPicPr>
          <p:cNvPr id="23" name="Marcador de contenido 4">
            <a:extLst>
              <a:ext uri="{FF2B5EF4-FFF2-40B4-BE49-F238E27FC236}">
                <a16:creationId xmlns:a16="http://schemas.microsoft.com/office/drawing/2014/main" id="{3C53F1E4-2305-DB75-2A37-9C95899B88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1" y="1401808"/>
            <a:ext cx="7367474" cy="4144204"/>
          </a:xfrm>
          <a:prstGeom prst="rect">
            <a:avLst/>
          </a:prstGeom>
        </p:spPr>
      </p:pic>
    </p:spTree>
    <p:extLst>
      <p:ext uri="{BB962C8B-B14F-4D97-AF65-F5344CB8AC3E}">
        <p14:creationId xmlns:p14="http://schemas.microsoft.com/office/powerpoint/2010/main" val="7473133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8B9C50-BD5B-4D14-5D95-7AE5FF82A493}"/>
              </a:ext>
            </a:extLst>
          </p:cNvPr>
          <p:cNvSpPr>
            <a:spLocks noGrp="1"/>
          </p:cNvSpPr>
          <p:nvPr>
            <p:ph type="title"/>
          </p:nvPr>
        </p:nvSpPr>
        <p:spPr>
          <a:xfrm>
            <a:off x="416689" y="365126"/>
            <a:ext cx="7396222" cy="699746"/>
          </a:xfrm>
        </p:spPr>
        <p:txBody>
          <a:bodyPr>
            <a:normAutofit fontScale="90000"/>
          </a:bodyPr>
          <a:lstStyle/>
          <a:p>
            <a:r>
              <a:rPr lang="es-MX" altLang="es-MX" sz="4400" dirty="0">
                <a:latin typeface="Century Gothic" panose="020B0502020202020204" pitchFamily="34" charset="0"/>
              </a:rPr>
              <a:t>Diseño y Estilos (styles.css)</a:t>
            </a:r>
            <a:br>
              <a:rPr lang="es-MX" altLang="es-MX" sz="4400" dirty="0">
                <a:latin typeface="Century Gothic" panose="020B0502020202020204" pitchFamily="34" charset="0"/>
              </a:rPr>
            </a:br>
            <a:endParaRPr lang="es-MX" dirty="0"/>
          </a:p>
        </p:txBody>
      </p:sp>
      <p:sp>
        <p:nvSpPr>
          <p:cNvPr id="4" name="Rectangle 1">
            <a:extLst>
              <a:ext uri="{FF2B5EF4-FFF2-40B4-BE49-F238E27FC236}">
                <a16:creationId xmlns:a16="http://schemas.microsoft.com/office/drawing/2014/main" id="{144D8C2A-F704-5E21-D1FE-6AA048EBD28A}"/>
              </a:ext>
            </a:extLst>
          </p:cNvPr>
          <p:cNvSpPr>
            <a:spLocks noChangeArrowheads="1"/>
          </p:cNvSpPr>
          <p:nvPr/>
        </p:nvSpPr>
        <p:spPr bwMode="auto">
          <a:xfrm>
            <a:off x="439765" y="769115"/>
            <a:ext cx="1133554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dirty="0">
                <a:latin typeface="Century Gothic" panose="020B0502020202020204" pitchFamily="34" charset="0"/>
              </a:rPr>
              <a:t>El archivo styles.css, es donde se define la apariencia visual y la experiencia de usuario (UI/UX) de la aplicación. Se utilizan elementos como:</a:t>
            </a:r>
          </a:p>
        </p:txBody>
      </p:sp>
      <p:sp>
        <p:nvSpPr>
          <p:cNvPr id="6" name="CuadroTexto 5">
            <a:extLst>
              <a:ext uri="{FF2B5EF4-FFF2-40B4-BE49-F238E27FC236}">
                <a16:creationId xmlns:a16="http://schemas.microsoft.com/office/drawing/2014/main" id="{1A8C2A8D-D3EF-99E6-A61E-F6C62747F3C4}"/>
              </a:ext>
            </a:extLst>
          </p:cNvPr>
          <p:cNvSpPr txBox="1"/>
          <p:nvPr/>
        </p:nvSpPr>
        <p:spPr>
          <a:xfrm>
            <a:off x="173547" y="1351508"/>
            <a:ext cx="3712579" cy="415498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1200" dirty="0">
              <a:latin typeface="Century Gothic" panose="020B0502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200" dirty="0">
                <a:latin typeface="Century Gothic" panose="020B0502020202020204" pitchFamily="34" charset="0"/>
              </a:rPr>
              <a:t>Selectores de etiqueta (</a:t>
            </a:r>
            <a:r>
              <a:rPr lang="es-MX" altLang="es-MX" sz="1200" dirty="0" err="1">
                <a:latin typeface="Century Gothic" panose="020B0502020202020204" pitchFamily="34" charset="0"/>
              </a:rPr>
              <a:t>body</a:t>
            </a:r>
            <a:r>
              <a:rPr lang="es-MX" altLang="es-MX" sz="1200" dirty="0">
                <a:latin typeface="Century Gothic" panose="020B0502020202020204" pitchFamily="34" charset="0"/>
              </a:rPr>
              <a:t>): para establecer un color de fondo neutro (#f8f9fa) y una tipografía base para todo el sitio.</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200" dirty="0">
                <a:latin typeface="Century Gothic" panose="020B0502020202020204" pitchFamily="34" charset="0"/>
              </a:rPr>
              <a:t>Clases de componentes (.</a:t>
            </a:r>
            <a:r>
              <a:rPr lang="es-MX" altLang="es-MX" sz="1200" dirty="0" err="1">
                <a:latin typeface="Century Gothic" panose="020B0502020202020204" pitchFamily="34" charset="0"/>
              </a:rPr>
              <a:t>navbar</a:t>
            </a:r>
            <a:r>
              <a:rPr lang="es-MX" altLang="es-MX" sz="1200" dirty="0">
                <a:latin typeface="Century Gothic" panose="020B0502020202020204" pitchFamily="34" charset="0"/>
              </a:rPr>
              <a:t>, .</a:t>
            </a:r>
            <a:r>
              <a:rPr lang="es-MX" altLang="es-MX" sz="1200" dirty="0" err="1">
                <a:latin typeface="Century Gothic" panose="020B0502020202020204" pitchFamily="34" charset="0"/>
              </a:rPr>
              <a:t>card</a:t>
            </a:r>
            <a:r>
              <a:rPr lang="es-MX" altLang="es-MX" sz="1200" dirty="0">
                <a:latin typeface="Century Gothic" panose="020B0502020202020204" pitchFamily="34" charset="0"/>
              </a:rPr>
              <a:t>): para dar estilo a los contenedores principales, utilizando sombras (box-</a:t>
            </a:r>
            <a:r>
              <a:rPr lang="es-MX" altLang="es-MX" sz="1200" dirty="0" err="1">
                <a:latin typeface="Century Gothic" panose="020B0502020202020204" pitchFamily="34" charset="0"/>
              </a:rPr>
              <a:t>shadow</a:t>
            </a:r>
            <a:r>
              <a:rPr lang="es-MX" altLang="es-MX" sz="1200" dirty="0">
                <a:latin typeface="Century Gothic" panose="020B0502020202020204" pitchFamily="34" charset="0"/>
              </a:rPr>
              <a:t>) y bordes redondeados.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200" dirty="0" err="1">
                <a:latin typeface="Century Gothic" panose="020B0502020202020204" pitchFamily="34" charset="0"/>
              </a:rPr>
              <a:t>Pseudoclases</a:t>
            </a:r>
            <a:r>
              <a:rPr lang="es-MX" altLang="es-MX" sz="1200" dirty="0">
                <a:latin typeface="Century Gothic" panose="020B0502020202020204" pitchFamily="34" charset="0"/>
              </a:rPr>
              <a:t> (:</a:t>
            </a:r>
            <a:r>
              <a:rPr lang="es-MX" altLang="es-MX" sz="1200" dirty="0" err="1">
                <a:latin typeface="Century Gothic" panose="020B0502020202020204" pitchFamily="34" charset="0"/>
              </a:rPr>
              <a:t>hover</a:t>
            </a:r>
            <a:r>
              <a:rPr lang="es-MX" altLang="es-MX" sz="1200" dirty="0">
                <a:latin typeface="Century Gothic" panose="020B0502020202020204" pitchFamily="34" charset="0"/>
              </a:rPr>
              <a:t>): para crear efectos interactivos, como cuando el usuario pasa el ratón sobre un botón o una tarjeta, cambiando su sombra o color.</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200" dirty="0">
              <a:latin typeface="Century Gothic" panose="020B0502020202020204" pitchFamily="34" charset="0"/>
            </a:endParaRPr>
          </a:p>
          <a:p>
            <a:pPr marR="0" lvl="0" algn="l" defTabSz="914400" rtl="0" eaLnBrk="0" fontAlgn="base" latinLnBrk="0" hangingPunct="0">
              <a:lnSpc>
                <a:spcPct val="100000"/>
              </a:lnSpc>
              <a:spcBef>
                <a:spcPct val="0"/>
              </a:spcBef>
              <a:spcAft>
                <a:spcPct val="0"/>
              </a:spcAft>
              <a:buClrTx/>
              <a:buSzTx/>
              <a:tabLst/>
            </a:pPr>
            <a:r>
              <a:rPr lang="es-MX" altLang="es-MX" sz="1200" dirty="0">
                <a:latin typeface="Century Gothic" panose="020B0502020202020204" pitchFamily="34" charset="0"/>
              </a:rPr>
              <a:t>También se manejan: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200" dirty="0">
                <a:latin typeface="Century Gothic" panose="020B0502020202020204" pitchFamily="34" charset="0"/>
              </a:rPr>
              <a:t>Variables de color: para mantener la consistencia visual en azules (#3498db) y verdes.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200" dirty="0">
                <a:latin typeface="Century Gothic" panose="020B0502020202020204" pitchFamily="34" charset="0"/>
              </a:rPr>
              <a:t>Transiciones suaves: para que los cambios de estado no sean bruscos.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200" dirty="0">
                <a:latin typeface="Century Gothic" panose="020B0502020202020204" pitchFamily="34" charset="0"/>
              </a:rPr>
              <a:t>Diseño responsivo: mediante el uso de porcentajes y unidades relativas.</a:t>
            </a:r>
          </a:p>
        </p:txBody>
      </p:sp>
      <p:sp>
        <p:nvSpPr>
          <p:cNvPr id="8" name="CuadroTexto 7">
            <a:extLst>
              <a:ext uri="{FF2B5EF4-FFF2-40B4-BE49-F238E27FC236}">
                <a16:creationId xmlns:a16="http://schemas.microsoft.com/office/drawing/2014/main" id="{01B91294-8CDF-E920-7522-D45835F96D93}"/>
              </a:ext>
            </a:extLst>
          </p:cNvPr>
          <p:cNvSpPr txBox="1"/>
          <p:nvPr/>
        </p:nvSpPr>
        <p:spPr>
          <a:xfrm>
            <a:off x="416689" y="6032094"/>
            <a:ext cx="11887200" cy="738664"/>
          </a:xfrm>
          <a:prstGeom prst="rect">
            <a:avLst/>
          </a:prstGeom>
          <a:noFill/>
        </p:spPr>
        <p:txBody>
          <a:bodyPr wrap="square">
            <a:spAutoFit/>
          </a:bodyPr>
          <a:lstStyle/>
          <a:p>
            <a:pPr marR="0" lvl="0" algn="l" defTabSz="914400" rtl="0" eaLnBrk="0" fontAlgn="base" latinLnBrk="0" hangingPunct="0">
              <a:lnSpc>
                <a:spcPct val="100000"/>
              </a:lnSpc>
              <a:spcBef>
                <a:spcPct val="0"/>
              </a:spcBef>
              <a:spcAft>
                <a:spcPct val="0"/>
              </a:spcAft>
              <a:buClrTx/>
              <a:buSzTx/>
              <a:tabLst/>
            </a:pPr>
            <a:endParaRPr lang="es-MX" altLang="es-MX" sz="1400" dirty="0">
              <a:latin typeface="Century Gothic" panose="020B0502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dirty="0">
                <a:latin typeface="Century Gothic" panose="020B0502020202020204" pitchFamily="34" charset="0"/>
              </a:rPr>
              <a:t>Esta parte permite que la aplicación sea atractiva y profesional, facilitando la interacción del usuario con las funciones de reconocimiento facial.</a:t>
            </a:r>
          </a:p>
        </p:txBody>
      </p:sp>
      <p:pic>
        <p:nvPicPr>
          <p:cNvPr id="10" name="Imagen 9">
            <a:extLst>
              <a:ext uri="{FF2B5EF4-FFF2-40B4-BE49-F238E27FC236}">
                <a16:creationId xmlns:a16="http://schemas.microsoft.com/office/drawing/2014/main" id="{0BAB075D-5755-ACBE-BC60-D200E9923E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79402" y="1402543"/>
            <a:ext cx="7295909" cy="4103949"/>
          </a:xfrm>
          <a:prstGeom prst="rect">
            <a:avLst/>
          </a:prstGeom>
        </p:spPr>
      </p:pic>
    </p:spTree>
    <p:extLst>
      <p:ext uri="{BB962C8B-B14F-4D97-AF65-F5344CB8AC3E}">
        <p14:creationId xmlns:p14="http://schemas.microsoft.com/office/powerpoint/2010/main" val="38106659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28E41D-609A-04EE-670E-875B01D13573}"/>
              </a:ext>
            </a:extLst>
          </p:cNvPr>
          <p:cNvSpPr>
            <a:spLocks noGrp="1"/>
          </p:cNvSpPr>
          <p:nvPr>
            <p:ph type="title"/>
          </p:nvPr>
        </p:nvSpPr>
        <p:spPr>
          <a:xfrm>
            <a:off x="0" y="65247"/>
            <a:ext cx="10288929" cy="636467"/>
          </a:xfrm>
        </p:spPr>
        <p:txBody>
          <a:bodyPr>
            <a:noAutofit/>
          </a:bodyPr>
          <a:lstStyle/>
          <a:p>
            <a:r>
              <a:rPr lang="es-MX" sz="3600" dirty="0">
                <a:latin typeface="Century Gothic" panose="020B0502020202020204" pitchFamily="34" charset="0"/>
              </a:rPr>
              <a:t>Diseño Responsivo styles.css (Media </a:t>
            </a:r>
            <a:r>
              <a:rPr lang="es-MX" sz="3600" dirty="0" err="1">
                <a:latin typeface="Century Gothic" panose="020B0502020202020204" pitchFamily="34" charset="0"/>
              </a:rPr>
              <a:t>Queries</a:t>
            </a:r>
            <a:r>
              <a:rPr lang="es-MX" sz="3600" dirty="0">
                <a:latin typeface="Century Gothic" panose="020B0502020202020204" pitchFamily="34" charset="0"/>
              </a:rPr>
              <a:t>)</a:t>
            </a:r>
          </a:p>
        </p:txBody>
      </p:sp>
      <p:sp>
        <p:nvSpPr>
          <p:cNvPr id="4" name="Rectangle 1">
            <a:extLst>
              <a:ext uri="{FF2B5EF4-FFF2-40B4-BE49-F238E27FC236}">
                <a16:creationId xmlns:a16="http://schemas.microsoft.com/office/drawing/2014/main" id="{5B55DB94-C36F-A4EB-4F59-08DDD4D7E074}"/>
              </a:ext>
            </a:extLst>
          </p:cNvPr>
          <p:cNvSpPr>
            <a:spLocks noChangeArrowheads="1"/>
          </p:cNvSpPr>
          <p:nvPr/>
        </p:nvSpPr>
        <p:spPr bwMode="auto">
          <a:xfrm>
            <a:off x="31347" y="630483"/>
            <a:ext cx="1216065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dirty="0">
                <a:latin typeface="Century Gothic" panose="020B0502020202020204" pitchFamily="34" charset="0"/>
              </a:rPr>
              <a:t>La parte final del archivo styles.css, donde se implementa la adaptabilidad del sitio para diferentes dispositivos (móviles y </a:t>
            </a:r>
            <a:r>
              <a:rPr lang="es-MX" altLang="es-MX" sz="1400" dirty="0" err="1">
                <a:latin typeface="Century Gothic" panose="020B0502020202020204" pitchFamily="34" charset="0"/>
              </a:rPr>
              <a:t>tablets</a:t>
            </a:r>
            <a:r>
              <a:rPr lang="es-MX" altLang="es-MX" sz="1400" dirty="0">
                <a:latin typeface="Century Gothic" panose="020B0502020202020204" pitchFamily="34" charset="0"/>
              </a:rPr>
              <a:t>). Se utilizan elementos como:</a:t>
            </a:r>
          </a:p>
        </p:txBody>
      </p:sp>
      <p:pic>
        <p:nvPicPr>
          <p:cNvPr id="5" name="Imagen 4">
            <a:extLst>
              <a:ext uri="{FF2B5EF4-FFF2-40B4-BE49-F238E27FC236}">
                <a16:creationId xmlns:a16="http://schemas.microsoft.com/office/drawing/2014/main" id="{438B6ACB-2A81-B612-FD8E-0C01A36EEF71}"/>
              </a:ext>
            </a:extLst>
          </p:cNvPr>
          <p:cNvPicPr>
            <a:picLocks noChangeAspect="1"/>
          </p:cNvPicPr>
          <p:nvPr/>
        </p:nvPicPr>
        <p:blipFill>
          <a:blip r:embed="rId2">
            <a:extLst>
              <a:ext uri="{28A0092B-C50C-407E-A947-70E740481C1C}">
                <a14:useLocalDpi xmlns:a14="http://schemas.microsoft.com/office/drawing/2010/main" val="0"/>
              </a:ext>
            </a:extLst>
          </a:blip>
          <a:srcRect r="54868"/>
          <a:stretch/>
        </p:blipFill>
        <p:spPr>
          <a:xfrm>
            <a:off x="7592992" y="1082471"/>
            <a:ext cx="4363657" cy="5438654"/>
          </a:xfrm>
          <a:prstGeom prst="rect">
            <a:avLst/>
          </a:prstGeom>
        </p:spPr>
      </p:pic>
      <p:sp>
        <p:nvSpPr>
          <p:cNvPr id="7" name="CuadroTexto 6">
            <a:extLst>
              <a:ext uri="{FF2B5EF4-FFF2-40B4-BE49-F238E27FC236}">
                <a16:creationId xmlns:a16="http://schemas.microsoft.com/office/drawing/2014/main" id="{4006720B-12E4-587D-D1A9-C07F6F3CA022}"/>
              </a:ext>
            </a:extLst>
          </p:cNvPr>
          <p:cNvSpPr txBox="1"/>
          <p:nvPr/>
        </p:nvSpPr>
        <p:spPr>
          <a:xfrm>
            <a:off x="718836" y="1266950"/>
            <a:ext cx="6186668" cy="3539430"/>
          </a:xfrm>
          <a:prstGeom prst="rect">
            <a:avLst/>
          </a:prstGeom>
          <a:noFill/>
        </p:spPr>
        <p:txBody>
          <a:bodyPr wrap="square">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a:latin typeface="Century Gothic" panose="020B0502020202020204" pitchFamily="34" charset="0"/>
              </a:rPr>
              <a:t>@media (</a:t>
            </a:r>
            <a:r>
              <a:rPr lang="es-MX" altLang="es-MX" sz="1400" dirty="0" err="1">
                <a:latin typeface="Century Gothic" panose="020B0502020202020204" pitchFamily="34" charset="0"/>
              </a:rPr>
              <a:t>max-width</a:t>
            </a:r>
            <a:r>
              <a:rPr lang="es-MX" altLang="es-MX" sz="1400" dirty="0">
                <a:latin typeface="Century Gothic" panose="020B0502020202020204" pitchFamily="34" charset="0"/>
              </a:rPr>
              <a:t>: 768px): para ajustar el diseño en pantallas medianas como </a:t>
            </a:r>
            <a:r>
              <a:rPr lang="es-MX" altLang="es-MX" sz="1400" dirty="0" err="1">
                <a:latin typeface="Century Gothic" panose="020B0502020202020204" pitchFamily="34" charset="0"/>
              </a:rPr>
              <a:t>tablets</a:t>
            </a:r>
            <a:r>
              <a:rPr lang="es-MX" altLang="es-MX" sz="1400" dirty="0">
                <a:latin typeface="Century Gothic" panose="020B0502020202020204" pitchFamily="34" charset="0"/>
              </a:rPr>
              <a:t>, reduciendo espacios y tamaños de fuente.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a:latin typeface="Century Gothic" panose="020B0502020202020204" pitchFamily="34" charset="0"/>
              </a:rPr>
              <a:t>@media (</a:t>
            </a:r>
            <a:r>
              <a:rPr lang="es-MX" altLang="es-MX" sz="1400" dirty="0" err="1">
                <a:latin typeface="Century Gothic" panose="020B0502020202020204" pitchFamily="34" charset="0"/>
              </a:rPr>
              <a:t>max-width</a:t>
            </a:r>
            <a:r>
              <a:rPr lang="es-MX" altLang="es-MX" sz="1400" dirty="0">
                <a:latin typeface="Century Gothic" panose="020B0502020202020204" pitchFamily="34" charset="0"/>
              </a:rPr>
              <a:t>: 576px): para optimizar la visualización en teléfonos móviles, asegurando que el contenido sea legible en pantallas pequeñas.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a:latin typeface="Century Gothic" panose="020B0502020202020204" pitchFamily="34" charset="0"/>
              </a:rPr>
              <a:t>Propiedad gap: para controlar el espacio entre los elementos del pie de página (</a:t>
            </a:r>
            <a:r>
              <a:rPr lang="es-MX" altLang="es-MX" sz="1400" dirty="0" err="1">
                <a:latin typeface="Century Gothic" panose="020B0502020202020204" pitchFamily="34" charset="0"/>
              </a:rPr>
              <a:t>footer-content</a:t>
            </a:r>
            <a:r>
              <a:rPr lang="es-MX" altLang="es-MX" sz="1400" dirty="0">
                <a:latin typeface="Century Gothic" panose="020B0502020202020204" pitchFamily="34" charset="0"/>
              </a:rPr>
              <a:t>) de forma flexible.</a:t>
            </a:r>
          </a:p>
          <a:p>
            <a:pPr marR="0" lvl="0" algn="l" defTabSz="914400" rtl="0" eaLnBrk="0" fontAlgn="base" latinLnBrk="0" hangingPunct="0">
              <a:lnSpc>
                <a:spcPct val="100000"/>
              </a:lnSpc>
              <a:spcBef>
                <a:spcPct val="0"/>
              </a:spcBef>
              <a:spcAft>
                <a:spcPct val="0"/>
              </a:spcAft>
              <a:buClrTx/>
              <a:buSzTx/>
              <a:tabLst/>
            </a:pPr>
            <a:endParaRPr lang="es-MX" altLang="es-MX" sz="1400" dirty="0">
              <a:latin typeface="Century Gothic" panose="020B0502020202020204" pitchFamily="34" charset="0"/>
            </a:endParaRPr>
          </a:p>
          <a:p>
            <a:pPr marR="0" lvl="0" algn="l" defTabSz="914400" rtl="0" eaLnBrk="0" fontAlgn="base" latinLnBrk="0" hangingPunct="0">
              <a:lnSpc>
                <a:spcPct val="100000"/>
              </a:lnSpc>
              <a:spcBef>
                <a:spcPct val="0"/>
              </a:spcBef>
              <a:spcAft>
                <a:spcPct val="0"/>
              </a:spcAft>
              <a:buClrTx/>
              <a:buSzTx/>
              <a:tabLst/>
            </a:pPr>
            <a:r>
              <a:rPr lang="es-MX" altLang="es-MX" sz="1400" dirty="0">
                <a:latin typeface="Century Gothic" panose="020B0502020202020204" pitchFamily="34" charset="0"/>
              </a:rPr>
              <a:t>También se manejan: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a:latin typeface="Century Gothic" panose="020B0502020202020204" pitchFamily="34" charset="0"/>
              </a:rPr>
              <a:t>Ajustes de tipografía: reduciendo el </a:t>
            </a:r>
            <a:r>
              <a:rPr lang="es-MX" altLang="es-MX" sz="1400" dirty="0" err="1">
                <a:latin typeface="Century Gothic" panose="020B0502020202020204" pitchFamily="34" charset="0"/>
              </a:rPr>
              <a:t>font-size</a:t>
            </a:r>
            <a:r>
              <a:rPr lang="es-MX" altLang="es-MX" sz="1400" dirty="0">
                <a:latin typeface="Century Gothic" panose="020B0502020202020204" pitchFamily="34" charset="0"/>
              </a:rPr>
              <a:t> a 0.8rem o 0.75rem para evitar que el texto se desborde.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a:latin typeface="Century Gothic" panose="020B0502020202020204" pitchFamily="34" charset="0"/>
              </a:rPr>
              <a:t>Rellenos adaptables (</a:t>
            </a:r>
            <a:r>
              <a:rPr lang="es-MX" altLang="es-MX" sz="1400" dirty="0" err="1">
                <a:latin typeface="Century Gothic" panose="020B0502020202020204" pitchFamily="34" charset="0"/>
              </a:rPr>
              <a:t>padding</a:t>
            </a:r>
            <a:r>
              <a:rPr lang="es-MX" altLang="es-MX" sz="1400" dirty="0">
                <a:latin typeface="Century Gothic" panose="020B0502020202020204" pitchFamily="34" charset="0"/>
              </a:rPr>
              <a:t>): para que los botones, como .</a:t>
            </a:r>
            <a:r>
              <a:rPr lang="es-MX" altLang="es-MX" sz="1400" dirty="0" err="1">
                <a:latin typeface="Century Gothic" panose="020B0502020202020204" pitchFamily="34" charset="0"/>
              </a:rPr>
              <a:t>btn-youtube</a:t>
            </a:r>
            <a:r>
              <a:rPr lang="es-MX" altLang="es-MX" sz="1400" dirty="0">
                <a:latin typeface="Century Gothic" panose="020B0502020202020204" pitchFamily="34" charset="0"/>
              </a:rPr>
              <a:t>, no ocupen demasiado espacio en el móvil.</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a:latin typeface="Century Gothic" panose="020B0502020202020204" pitchFamily="34" charset="0"/>
              </a:rPr>
              <a:t>Alineación de texto: centrando el copyright para una mejor estética visual en pantallas reducidas.</a:t>
            </a:r>
          </a:p>
        </p:txBody>
      </p:sp>
      <p:sp>
        <p:nvSpPr>
          <p:cNvPr id="9" name="CuadroTexto 8">
            <a:extLst>
              <a:ext uri="{FF2B5EF4-FFF2-40B4-BE49-F238E27FC236}">
                <a16:creationId xmlns:a16="http://schemas.microsoft.com/office/drawing/2014/main" id="{0D98182E-26BF-E854-502E-39BF3A7910A5}"/>
              </a:ext>
            </a:extLst>
          </p:cNvPr>
          <p:cNvSpPr txBox="1"/>
          <p:nvPr/>
        </p:nvSpPr>
        <p:spPr>
          <a:xfrm>
            <a:off x="718836" y="5336325"/>
            <a:ext cx="6186668" cy="738664"/>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s-MX" altLang="es-MX" sz="1400" dirty="0">
                <a:latin typeface="Century Gothic" panose="020B0502020202020204" pitchFamily="34" charset="0"/>
              </a:rPr>
              <a:t>Esta parte permite que la interfaz del sistema de reconocimiento facial sea "Mobile </a:t>
            </a:r>
            <a:r>
              <a:rPr lang="es-MX" altLang="es-MX" sz="1400" dirty="0" err="1">
                <a:latin typeface="Century Gothic" panose="020B0502020202020204" pitchFamily="34" charset="0"/>
              </a:rPr>
              <a:t>First</a:t>
            </a:r>
            <a:r>
              <a:rPr lang="es-MX" altLang="es-MX" sz="1400" dirty="0">
                <a:latin typeface="Century Gothic" panose="020B0502020202020204" pitchFamily="34" charset="0"/>
              </a:rPr>
              <a:t>", garantizando que funcione correctamente sin importar el dispositivo desde el que se acceda.</a:t>
            </a:r>
          </a:p>
        </p:txBody>
      </p:sp>
    </p:spTree>
    <p:extLst>
      <p:ext uri="{BB962C8B-B14F-4D97-AF65-F5344CB8AC3E}">
        <p14:creationId xmlns:p14="http://schemas.microsoft.com/office/powerpoint/2010/main" val="1107658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145DBB-A8DA-12BB-A2B4-57F169B318C3}"/>
              </a:ext>
            </a:extLst>
          </p:cNvPr>
          <p:cNvSpPr>
            <a:spLocks noGrp="1"/>
          </p:cNvSpPr>
          <p:nvPr>
            <p:ph type="title"/>
          </p:nvPr>
        </p:nvSpPr>
        <p:spPr>
          <a:xfrm>
            <a:off x="0" y="-338616"/>
            <a:ext cx="10515600" cy="1325563"/>
          </a:xfrm>
        </p:spPr>
        <p:txBody>
          <a:bodyPr>
            <a:normAutofit/>
          </a:bodyPr>
          <a:lstStyle/>
          <a:p>
            <a:r>
              <a:rPr lang="es-MX" sz="3600" dirty="0">
                <a:latin typeface="Century Gothic" panose="020B0502020202020204" pitchFamily="34" charset="0"/>
              </a:rPr>
              <a:t>4. Estructura del Proyecto (Archivos)</a:t>
            </a:r>
          </a:p>
        </p:txBody>
      </p:sp>
      <p:sp>
        <p:nvSpPr>
          <p:cNvPr id="4" name="Rectangle 1">
            <a:extLst>
              <a:ext uri="{FF2B5EF4-FFF2-40B4-BE49-F238E27FC236}">
                <a16:creationId xmlns:a16="http://schemas.microsoft.com/office/drawing/2014/main" id="{9B4D9214-7E99-F416-21F7-048E3F7E739E}"/>
              </a:ext>
            </a:extLst>
          </p:cNvPr>
          <p:cNvSpPr>
            <a:spLocks noChangeArrowheads="1"/>
          </p:cNvSpPr>
          <p:nvPr/>
        </p:nvSpPr>
        <p:spPr bwMode="auto">
          <a:xfrm>
            <a:off x="92597" y="496187"/>
            <a:ext cx="12099403" cy="6340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s-MX" altLang="es-MX" sz="1400" dirty="0">
                <a:latin typeface="Century Gothic" panose="020B0502020202020204" pitchFamily="34" charset="0"/>
              </a:rPr>
              <a:t>En Explorador de Archivos de Windows, donde se presenta la organización del proyecto de reconocimiento facial. Se distinguen elementos clave como:</a:t>
            </a:r>
          </a:p>
          <a:p>
            <a:pPr marL="0" marR="0" lvl="0" indent="0" algn="just" defTabSz="914400" rtl="0" eaLnBrk="0" fontAlgn="base" latinLnBrk="0" hangingPunct="0">
              <a:lnSpc>
                <a:spcPct val="100000"/>
              </a:lnSpc>
              <a:spcBef>
                <a:spcPct val="0"/>
              </a:spcBef>
              <a:spcAft>
                <a:spcPct val="0"/>
              </a:spcAft>
              <a:buClrTx/>
              <a:buSzTx/>
              <a:buFontTx/>
              <a:buNone/>
              <a:tabLst/>
            </a:pPr>
            <a:endParaRPr lang="es-MX" altLang="es-MX" sz="1400" dirty="0">
              <a:latin typeface="Century Gothic" panose="020B0502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err="1">
                <a:latin typeface="Century Gothic" panose="020B0502020202020204" pitchFamily="34" charset="0"/>
              </a:rPr>
              <a:t>package.json</a:t>
            </a:r>
            <a:r>
              <a:rPr lang="es-MX" altLang="es-MX" sz="1400" dirty="0">
                <a:latin typeface="Century Gothic" panose="020B0502020202020204" pitchFamily="34" charset="0"/>
              </a:rPr>
              <a:t>: el archivo central de configuración de Node.js, donde se definen las dependencias y el script de inicio (</a:t>
            </a:r>
            <a:r>
              <a:rPr lang="es-MX" altLang="es-MX" sz="1400" dirty="0" err="1">
                <a:latin typeface="Century Gothic" panose="020B0502020202020204" pitchFamily="34" charset="0"/>
              </a:rPr>
              <a:t>npm</a:t>
            </a:r>
            <a:r>
              <a:rPr lang="es-MX" altLang="es-MX" sz="1400" dirty="0">
                <a:latin typeface="Century Gothic" panose="020B0502020202020204" pitchFamily="34" charset="0"/>
              </a:rPr>
              <a:t> </a:t>
            </a:r>
            <a:r>
              <a:rPr lang="es-MX" altLang="es-MX" sz="1400" dirty="0" err="1">
                <a:latin typeface="Century Gothic" panose="020B0502020202020204" pitchFamily="34" charset="0"/>
              </a:rPr>
              <a:t>start</a:t>
            </a:r>
            <a:r>
              <a:rPr lang="es-MX" altLang="es-MX" sz="1400" dirty="0">
                <a:latin typeface="Century Gothic" panose="020B0502020202020204" pitchFamily="34" charset="0"/>
              </a:rPr>
              <a:t>).</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a:latin typeface="Century Gothic" panose="020B0502020202020204" pitchFamily="34" charset="0"/>
              </a:rPr>
              <a:t>Carpeta </a:t>
            </a:r>
            <a:r>
              <a:rPr lang="es-MX" altLang="es-MX" sz="1400" dirty="0" err="1">
                <a:latin typeface="Century Gothic" panose="020B0502020202020204" pitchFamily="34" charset="0"/>
              </a:rPr>
              <a:t>public</a:t>
            </a:r>
            <a:r>
              <a:rPr lang="es-MX" altLang="es-MX" sz="1400" dirty="0">
                <a:latin typeface="Century Gothic" panose="020B0502020202020204" pitchFamily="34" charset="0"/>
              </a:rPr>
              <a:t>/: el contenedor que almacena los archivos estáticos visibles para el usuario (index.html, styles.css, script.js).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a:latin typeface="Century Gothic" panose="020B0502020202020204" pitchFamily="34" charset="0"/>
              </a:rPr>
              <a:t>server.js: el script principal del </a:t>
            </a:r>
            <a:r>
              <a:rPr lang="es-MX" altLang="es-MX" sz="1400" dirty="0" err="1">
                <a:latin typeface="Century Gothic" panose="020B0502020202020204" pitchFamily="34" charset="0"/>
              </a:rPr>
              <a:t>backend</a:t>
            </a:r>
            <a:r>
              <a:rPr lang="es-MX" altLang="es-MX" sz="1400" dirty="0">
                <a:latin typeface="Century Gothic" panose="020B0502020202020204" pitchFamily="34" charset="0"/>
              </a:rPr>
              <a:t> que configura el servidor Express y gestiona las peticiones.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lang="es-MX" altLang="es-MX" sz="1400" dirty="0">
                <a:latin typeface="Century Gothic" panose="020B0502020202020204" pitchFamily="34" charset="0"/>
              </a:rPr>
              <a:t>También se identifican:</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err="1">
                <a:latin typeface="Century Gothic" panose="020B0502020202020204" pitchFamily="34" charset="0"/>
              </a:rPr>
              <a:t>node_modules</a:t>
            </a:r>
            <a:r>
              <a:rPr lang="es-MX" altLang="es-MX" sz="1400" dirty="0">
                <a:latin typeface="Century Gothic" panose="020B0502020202020204" pitchFamily="34" charset="0"/>
              </a:rPr>
              <a:t>/: la carpeta que guarda todas las librerías necesarias para el funcionamiento del servidor.</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a:latin typeface="Century Gothic" panose="020B0502020202020204" pitchFamily="34" charset="0"/>
              </a:rPr>
              <a:t>database.js: el archivo encargado de configurar la conexión con MySQL.</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a:latin typeface="Century Gothic" panose="020B0502020202020204" pitchFamily="34" charset="0"/>
              </a:rPr>
              <a:t>Nombre de la carpeta: el directorio principal del proyecto (Reconocimiento-Facial1 Diseño).</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lang="es-MX" altLang="es-MX" sz="1400" dirty="0">
                <a:latin typeface="Century Gothic" panose="020B0502020202020204" pitchFamily="34" charset="0"/>
              </a:rPr>
              <a:t>Esta parte permite organizar y estructurar el ecosistema de la aplicación, uniendo el </a:t>
            </a:r>
            <a:r>
              <a:rPr lang="es-MX" altLang="es-MX" sz="1400" dirty="0" err="1">
                <a:latin typeface="Century Gothic" panose="020B0502020202020204" pitchFamily="34" charset="0"/>
              </a:rPr>
              <a:t>frontend</a:t>
            </a:r>
            <a:r>
              <a:rPr lang="es-MX" altLang="es-MX" sz="1400" dirty="0">
                <a:latin typeface="Century Gothic" panose="020B0502020202020204" pitchFamily="34" charset="0"/>
              </a:rPr>
              <a:t> y el </a:t>
            </a:r>
            <a:r>
              <a:rPr lang="es-MX" altLang="es-MX" sz="1400" dirty="0" err="1">
                <a:latin typeface="Century Gothic" panose="020B0502020202020204" pitchFamily="34" charset="0"/>
              </a:rPr>
              <a:t>backend</a:t>
            </a:r>
            <a:r>
              <a:rPr lang="es-MX" altLang="es-MX" sz="1400" dirty="0">
                <a:latin typeface="Century Gothic" panose="020B0502020202020204" pitchFamily="34" charset="0"/>
              </a:rPr>
              <a:t> en un solo lugar.</a:t>
            </a:r>
          </a:p>
        </p:txBody>
      </p:sp>
      <p:pic>
        <p:nvPicPr>
          <p:cNvPr id="6" name="Imagen 5">
            <a:extLst>
              <a:ext uri="{FF2B5EF4-FFF2-40B4-BE49-F238E27FC236}">
                <a16:creationId xmlns:a16="http://schemas.microsoft.com/office/drawing/2014/main" id="{F98598F7-EDF9-B937-324C-F0CB1E3DA8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4019" y="3032057"/>
            <a:ext cx="5536557" cy="3114313"/>
          </a:xfrm>
          <a:prstGeom prst="rect">
            <a:avLst/>
          </a:prstGeom>
        </p:spPr>
      </p:pic>
    </p:spTree>
    <p:extLst>
      <p:ext uri="{BB962C8B-B14F-4D97-AF65-F5344CB8AC3E}">
        <p14:creationId xmlns:p14="http://schemas.microsoft.com/office/powerpoint/2010/main" val="4990471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602AAB-ED4C-8242-F4A3-20CDF3212466}"/>
              </a:ext>
            </a:extLst>
          </p:cNvPr>
          <p:cNvSpPr>
            <a:spLocks noGrp="1"/>
          </p:cNvSpPr>
          <p:nvPr>
            <p:ph type="title"/>
          </p:nvPr>
        </p:nvSpPr>
        <p:spPr>
          <a:xfrm>
            <a:off x="127000" y="121602"/>
            <a:ext cx="7879080" cy="559435"/>
          </a:xfrm>
        </p:spPr>
        <p:txBody>
          <a:bodyPr>
            <a:normAutofit fontScale="90000"/>
          </a:bodyPr>
          <a:lstStyle/>
          <a:p>
            <a:r>
              <a:rPr lang="es-MX" sz="3600" dirty="0">
                <a:latin typeface="Century Gothic" panose="020B0502020202020204" pitchFamily="34" charset="0"/>
              </a:rPr>
              <a:t>5. Ejecución y Conexión (Terminal)</a:t>
            </a:r>
          </a:p>
        </p:txBody>
      </p:sp>
      <p:sp>
        <p:nvSpPr>
          <p:cNvPr id="4" name="Rectangle 1">
            <a:extLst>
              <a:ext uri="{FF2B5EF4-FFF2-40B4-BE49-F238E27FC236}">
                <a16:creationId xmlns:a16="http://schemas.microsoft.com/office/drawing/2014/main" id="{FC3ADE14-E083-8ACE-A8DD-E76DEE02FF5B}"/>
              </a:ext>
            </a:extLst>
          </p:cNvPr>
          <p:cNvSpPr>
            <a:spLocks noChangeArrowheads="1"/>
          </p:cNvSpPr>
          <p:nvPr/>
        </p:nvSpPr>
        <p:spPr bwMode="auto">
          <a:xfrm>
            <a:off x="127000" y="745326"/>
            <a:ext cx="12065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dirty="0">
                <a:latin typeface="Century Gothic" panose="020B0502020202020204" pitchFamily="34" charset="0"/>
              </a:rPr>
              <a:t>Continuamos con el proceso de inicio del servidor a través de la consola de comandos (CMD), donde se pone en marcha el </a:t>
            </a:r>
            <a:r>
              <a:rPr lang="es-MX" altLang="es-MX" sz="1400" dirty="0" err="1">
                <a:latin typeface="Century Gothic" panose="020B0502020202020204" pitchFamily="34" charset="0"/>
              </a:rPr>
              <a:t>backend</a:t>
            </a:r>
            <a:r>
              <a:rPr lang="es-MX" altLang="es-MX" sz="1400" dirty="0">
                <a:latin typeface="Century Gothic" panose="020B0502020202020204" pitchFamily="34" charset="0"/>
              </a:rPr>
              <a:t> del proyecto. Se utilizan elementos como:</a:t>
            </a:r>
          </a:p>
        </p:txBody>
      </p:sp>
      <p:pic>
        <p:nvPicPr>
          <p:cNvPr id="8" name="Imagen 7">
            <a:extLst>
              <a:ext uri="{FF2B5EF4-FFF2-40B4-BE49-F238E27FC236}">
                <a16:creationId xmlns:a16="http://schemas.microsoft.com/office/drawing/2014/main" id="{7F1664CB-19C6-04C3-8E80-F33D4803C7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61480" y="1707019"/>
            <a:ext cx="5303520" cy="2983230"/>
          </a:xfrm>
          <a:prstGeom prst="rect">
            <a:avLst/>
          </a:prstGeom>
        </p:spPr>
      </p:pic>
      <p:sp>
        <p:nvSpPr>
          <p:cNvPr id="12" name="CuadroTexto 11">
            <a:extLst>
              <a:ext uri="{FF2B5EF4-FFF2-40B4-BE49-F238E27FC236}">
                <a16:creationId xmlns:a16="http://schemas.microsoft.com/office/drawing/2014/main" id="{AFCE3C3A-6811-3019-7A27-089508949742}"/>
              </a:ext>
            </a:extLst>
          </p:cNvPr>
          <p:cNvSpPr txBox="1"/>
          <p:nvPr/>
        </p:nvSpPr>
        <p:spPr>
          <a:xfrm>
            <a:off x="0" y="1706354"/>
            <a:ext cx="6830060" cy="3416320"/>
          </a:xfrm>
          <a:prstGeom prst="rect">
            <a:avLst/>
          </a:prstGeom>
          <a:noFill/>
        </p:spPr>
        <p:txBody>
          <a:bodyPr wrap="square">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200" dirty="0" err="1">
                <a:latin typeface="Century Gothic" panose="020B0502020202020204" pitchFamily="34" charset="0"/>
              </a:rPr>
              <a:t>npm</a:t>
            </a:r>
            <a:r>
              <a:rPr lang="es-MX" altLang="es-MX" sz="1200" dirty="0">
                <a:latin typeface="Century Gothic" panose="020B0502020202020204" pitchFamily="34" charset="0"/>
              </a:rPr>
              <a:t> </a:t>
            </a:r>
            <a:r>
              <a:rPr lang="es-MX" altLang="es-MX" sz="1200" dirty="0" err="1">
                <a:latin typeface="Century Gothic" panose="020B0502020202020204" pitchFamily="34" charset="0"/>
              </a:rPr>
              <a:t>start</a:t>
            </a:r>
            <a:r>
              <a:rPr lang="es-MX" altLang="es-MX" sz="1200" dirty="0">
                <a:latin typeface="Century Gothic" panose="020B0502020202020204" pitchFamily="34" charset="0"/>
              </a:rPr>
              <a:t>: el comando ejecutado por el usuario para iniciar el ciclo de vida de la aplicación.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200" dirty="0">
              <a:latin typeface="Century Gothic" panose="020B0502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200" dirty="0" err="1">
                <a:latin typeface="Century Gothic" panose="020B0502020202020204" pitchFamily="34" charset="0"/>
              </a:rPr>
              <a:t>node</a:t>
            </a:r>
            <a:r>
              <a:rPr lang="es-MX" altLang="es-MX" sz="1200" dirty="0">
                <a:latin typeface="Century Gothic" panose="020B0502020202020204" pitchFamily="34" charset="0"/>
              </a:rPr>
              <a:t> server.js: la instrucción automática que activa el entorno de Node.js para ejecutar el archivo principal del servidor.</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200" dirty="0">
              <a:latin typeface="Century Gothic" panose="020B0502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200" dirty="0">
                <a:latin typeface="Century Gothic" panose="020B0502020202020204" pitchFamily="34" charset="0"/>
              </a:rPr>
              <a:t>Logs de confirmación: mensajes que aparecen en la terminal indicando que el proceso se ha completado sin errores.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200" dirty="0">
              <a:latin typeface="Century Gothic" panose="020B0502020202020204" pitchFamily="34" charset="0"/>
            </a:endParaRPr>
          </a:p>
          <a:p>
            <a:pPr marR="0" lvl="0" algn="l" defTabSz="914400" rtl="0" eaLnBrk="0" fontAlgn="base" latinLnBrk="0" hangingPunct="0">
              <a:lnSpc>
                <a:spcPct val="100000"/>
              </a:lnSpc>
              <a:spcBef>
                <a:spcPct val="0"/>
              </a:spcBef>
              <a:spcAft>
                <a:spcPct val="0"/>
              </a:spcAft>
              <a:buClrTx/>
              <a:buSzTx/>
              <a:tabLst/>
            </a:pPr>
            <a:r>
              <a:rPr lang="es-MX" altLang="es-MX" sz="1200" dirty="0">
                <a:latin typeface="Century Gothic" panose="020B0502020202020204" pitchFamily="34" charset="0"/>
              </a:rPr>
              <a:t>También se confirman: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200" dirty="0">
                <a:latin typeface="Century Gothic" panose="020B0502020202020204" pitchFamily="34" charset="0"/>
              </a:rPr>
              <a:t>Puerto del servidor: el sistema notifica que el servidor está corriendo en </a:t>
            </a:r>
            <a:r>
              <a:rPr lang="es-MX" altLang="es-MX" sz="1200" dirty="0">
                <a:latin typeface="Century Gothic" panose="020B0502020202020204" pitchFamily="34" charset="0"/>
                <a:hlinkClick r:id="rId3"/>
              </a:rPr>
              <a:t>http://localhost:3001</a:t>
            </a:r>
            <a:r>
              <a:rPr lang="es-MX" altLang="es-MX" sz="1200" dirty="0">
                <a:latin typeface="Century Gothic" panose="020B050202020202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200" dirty="0">
              <a:latin typeface="Century Gothic" panose="020B0502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200" dirty="0">
                <a:latin typeface="Century Gothic" panose="020B0502020202020204" pitchFamily="34" charset="0"/>
              </a:rPr>
              <a:t>Estado de la Base de Datos: se muestra el mensaje "Conectado a la base de datos MySQL", incluyendo un ID de conexión (14) que valida el acceso exitoso.</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200" dirty="0">
              <a:latin typeface="Century Gothic" panose="020B0502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200" dirty="0">
                <a:latin typeface="Century Gothic" panose="020B0502020202020204" pitchFamily="34" charset="0"/>
              </a:rPr>
              <a:t>Ruta de trabajo: se visualiza el directorio del proyecto dentro de la estructura de carpetas </a:t>
            </a:r>
            <a:endParaRPr lang="es-MX" sz="1200" dirty="0">
              <a:latin typeface="Century Gothic" panose="020B0502020202020204" pitchFamily="34" charset="0"/>
            </a:endParaRPr>
          </a:p>
        </p:txBody>
      </p:sp>
      <p:sp>
        <p:nvSpPr>
          <p:cNvPr id="14" name="CuadroTexto 13">
            <a:extLst>
              <a:ext uri="{FF2B5EF4-FFF2-40B4-BE49-F238E27FC236}">
                <a16:creationId xmlns:a16="http://schemas.microsoft.com/office/drawing/2014/main" id="{5D2A8661-79BD-C910-D0BF-888EF50360E2}"/>
              </a:ext>
            </a:extLst>
          </p:cNvPr>
          <p:cNvSpPr txBox="1"/>
          <p:nvPr/>
        </p:nvSpPr>
        <p:spPr>
          <a:xfrm>
            <a:off x="327660" y="6048395"/>
            <a:ext cx="11536680" cy="52322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dirty="0">
                <a:latin typeface="Century Gothic" panose="020B0502020202020204" pitchFamily="34" charset="0"/>
              </a:rPr>
              <a:t>Esta parte permite verificar que toda la infraestructura está lista, uniendo el código del </a:t>
            </a:r>
            <a:r>
              <a:rPr lang="es-MX" altLang="es-MX" sz="1400" dirty="0" err="1">
                <a:latin typeface="Century Gothic" panose="020B0502020202020204" pitchFamily="34" charset="0"/>
              </a:rPr>
              <a:t>backend</a:t>
            </a:r>
            <a:r>
              <a:rPr lang="es-MX" altLang="es-MX" sz="1400" dirty="0">
                <a:latin typeface="Century Gothic" panose="020B0502020202020204" pitchFamily="34" charset="0"/>
              </a:rPr>
              <a:t> con la base de datos para que la aplicación de reconocimiento facial pueda procesar información.</a:t>
            </a:r>
          </a:p>
        </p:txBody>
      </p:sp>
    </p:spTree>
    <p:extLst>
      <p:ext uri="{BB962C8B-B14F-4D97-AF65-F5344CB8AC3E}">
        <p14:creationId xmlns:p14="http://schemas.microsoft.com/office/powerpoint/2010/main" val="2584887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1A6D8B-66EE-3993-F7D9-C5A879A03FA4}"/>
              </a:ext>
            </a:extLst>
          </p:cNvPr>
          <p:cNvSpPr>
            <a:spLocks noGrp="1"/>
          </p:cNvSpPr>
          <p:nvPr>
            <p:ph type="title"/>
          </p:nvPr>
        </p:nvSpPr>
        <p:spPr>
          <a:xfrm>
            <a:off x="838200" y="365125"/>
            <a:ext cx="10515600" cy="569595"/>
          </a:xfrm>
        </p:spPr>
        <p:txBody>
          <a:bodyPr>
            <a:normAutofit fontScale="90000"/>
          </a:bodyPr>
          <a:lstStyle/>
          <a:p>
            <a:r>
              <a:rPr lang="es-MX" dirty="0">
                <a:latin typeface="Century Gothic" panose="020B0502020202020204" pitchFamily="34" charset="0"/>
              </a:rPr>
              <a:t>6. </a:t>
            </a:r>
            <a:r>
              <a:rPr lang="es-MX" altLang="es-MX" dirty="0">
                <a:latin typeface="Century Gothic" panose="020B0502020202020204" pitchFamily="34" charset="0"/>
              </a:rPr>
              <a:t>Interfaz de Registro y Confirmación</a:t>
            </a:r>
            <a:br>
              <a:rPr lang="es-MX" altLang="es-MX" dirty="0">
                <a:latin typeface="Century Gothic" panose="020B0502020202020204" pitchFamily="34" charset="0"/>
              </a:rPr>
            </a:br>
            <a:endParaRPr lang="es-MX" dirty="0">
              <a:latin typeface="Century Gothic" panose="020B0502020202020204" pitchFamily="34" charset="0"/>
            </a:endParaRPr>
          </a:p>
        </p:txBody>
      </p:sp>
      <p:sp>
        <p:nvSpPr>
          <p:cNvPr id="4" name="Rectangle 1">
            <a:extLst>
              <a:ext uri="{FF2B5EF4-FFF2-40B4-BE49-F238E27FC236}">
                <a16:creationId xmlns:a16="http://schemas.microsoft.com/office/drawing/2014/main" id="{C68833D1-72BC-33F5-4E68-AD3D2D69CA3F}"/>
              </a:ext>
            </a:extLst>
          </p:cNvPr>
          <p:cNvSpPr>
            <a:spLocks noChangeArrowheads="1"/>
          </p:cNvSpPr>
          <p:nvPr/>
        </p:nvSpPr>
        <p:spPr bwMode="auto">
          <a:xfrm>
            <a:off x="254000" y="757644"/>
            <a:ext cx="1193800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dirty="0">
                <a:latin typeface="Century Gothic" panose="020B0502020202020204" pitchFamily="34" charset="0"/>
              </a:rPr>
              <a:t>La interfaz gráfica (</a:t>
            </a:r>
            <a:r>
              <a:rPr lang="es-MX" altLang="es-MX" sz="1400" dirty="0" err="1">
                <a:latin typeface="Century Gothic" panose="020B0502020202020204" pitchFamily="34" charset="0"/>
              </a:rPr>
              <a:t>frontend</a:t>
            </a:r>
            <a:r>
              <a:rPr lang="es-MX" altLang="es-MX" sz="1400" dirty="0">
                <a:latin typeface="Century Gothic" panose="020B0502020202020204" pitchFamily="34" charset="0"/>
              </a:rPr>
              <a:t>) de la aplicación funcionando en el navegador, donde se gestiona el alta de nuevos rostros. Se utilizan elementos como:</a:t>
            </a: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1400" dirty="0">
              <a:latin typeface="Century Gothic" panose="020B0502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s-MX" altLang="es-MX" sz="1400" dirty="0">
                <a:latin typeface="Century Gothic" panose="020B0502020202020204" pitchFamily="34" charset="0"/>
              </a:rPr>
              <a:t>Formulario de Registro: campos de entrada para capturar datos personales como Nombre, Cédula y la selección del Departamento de la empresa.</a:t>
            </a:r>
          </a:p>
          <a:p>
            <a:pPr marL="0" marR="0" lvl="0" indent="0" algn="l" defTabSz="914400" rtl="0" eaLnBrk="0" fontAlgn="base" latinLnBrk="0" hangingPunct="0">
              <a:lnSpc>
                <a:spcPct val="100000"/>
              </a:lnSpc>
              <a:spcBef>
                <a:spcPct val="0"/>
              </a:spcBef>
              <a:spcAft>
                <a:spcPct val="0"/>
              </a:spcAft>
              <a:buClrTx/>
              <a:buSzTx/>
              <a:buFontTx/>
              <a:buChar char="•"/>
              <a:tabLst/>
            </a:pPr>
            <a:r>
              <a:rPr lang="es-MX" altLang="es-MX" sz="1400" dirty="0">
                <a:latin typeface="Century Gothic" panose="020B0502020202020204" pitchFamily="34" charset="0"/>
              </a:rPr>
              <a:t>Gestión de Imagen: botones interactivos para "Tomar Foto" (usando la cámara en vivo) o "Subir Foto", junto con una vista previa de la fotografía capturada.</a:t>
            </a:r>
          </a:p>
          <a:p>
            <a:pPr marL="0" marR="0" lvl="0" indent="0" algn="l" defTabSz="914400" rtl="0" eaLnBrk="0" fontAlgn="base" latinLnBrk="0" hangingPunct="0">
              <a:lnSpc>
                <a:spcPct val="100000"/>
              </a:lnSpc>
              <a:spcBef>
                <a:spcPct val="0"/>
              </a:spcBef>
              <a:spcAft>
                <a:spcPct val="0"/>
              </a:spcAft>
              <a:buClrTx/>
              <a:buSzTx/>
              <a:buFontTx/>
              <a:buChar char="•"/>
              <a:tabLst/>
            </a:pPr>
            <a:r>
              <a:rPr lang="es-MX" altLang="es-MX" sz="1400" dirty="0">
                <a:latin typeface="Century Gothic" panose="020B0502020202020204" pitchFamily="34" charset="0"/>
              </a:rPr>
              <a:t>Botón de Acción (.</a:t>
            </a:r>
            <a:r>
              <a:rPr lang="es-MX" altLang="es-MX" sz="1400" dirty="0" err="1">
                <a:latin typeface="Century Gothic" panose="020B0502020202020204" pitchFamily="34" charset="0"/>
              </a:rPr>
              <a:t>btn-success</a:t>
            </a:r>
            <a:r>
              <a:rPr lang="es-MX" altLang="es-MX" sz="1400" dirty="0">
                <a:latin typeface="Century Gothic" panose="020B0502020202020204" pitchFamily="34" charset="0"/>
              </a:rPr>
              <a:t>): un botón llamativo de color verde para enviar los datos al servidor y completar el registro del usuario.</a:t>
            </a: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1400" dirty="0">
              <a:latin typeface="Century Gothic" panose="020B0502020202020204" pitchFamily="34" charset="0"/>
            </a:endParaRPr>
          </a:p>
        </p:txBody>
      </p:sp>
      <p:pic>
        <p:nvPicPr>
          <p:cNvPr id="6" name="Imagen 5">
            <a:extLst>
              <a:ext uri="{FF2B5EF4-FFF2-40B4-BE49-F238E27FC236}">
                <a16:creationId xmlns:a16="http://schemas.microsoft.com/office/drawing/2014/main" id="{ABD3B35A-68FD-79E2-62CF-F32DFF4C9D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84" y="2894693"/>
            <a:ext cx="3853420" cy="2167549"/>
          </a:xfrm>
          <a:prstGeom prst="rect">
            <a:avLst/>
          </a:prstGeom>
        </p:spPr>
      </p:pic>
      <p:pic>
        <p:nvPicPr>
          <p:cNvPr id="10" name="Imagen 9">
            <a:extLst>
              <a:ext uri="{FF2B5EF4-FFF2-40B4-BE49-F238E27FC236}">
                <a16:creationId xmlns:a16="http://schemas.microsoft.com/office/drawing/2014/main" id="{AF947476-D6B6-E8D3-E467-DEA6F65FC7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9499" y="2937284"/>
            <a:ext cx="3815563" cy="2146254"/>
          </a:xfrm>
          <a:prstGeom prst="rect">
            <a:avLst/>
          </a:prstGeom>
        </p:spPr>
      </p:pic>
      <p:pic>
        <p:nvPicPr>
          <p:cNvPr id="12" name="Imagen 11">
            <a:extLst>
              <a:ext uri="{FF2B5EF4-FFF2-40B4-BE49-F238E27FC236}">
                <a16:creationId xmlns:a16="http://schemas.microsoft.com/office/drawing/2014/main" id="{1031759D-F591-F552-AF92-6F14874C44F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89857" y="2863023"/>
            <a:ext cx="3891280" cy="2188845"/>
          </a:xfrm>
          <a:prstGeom prst="rect">
            <a:avLst/>
          </a:prstGeom>
        </p:spPr>
      </p:pic>
      <p:sp>
        <p:nvSpPr>
          <p:cNvPr id="13" name="Elipse 12">
            <a:extLst>
              <a:ext uri="{FF2B5EF4-FFF2-40B4-BE49-F238E27FC236}">
                <a16:creationId xmlns:a16="http://schemas.microsoft.com/office/drawing/2014/main" id="{FD39E74B-2B1F-D3DA-29FC-03C39F2AFBD1}"/>
              </a:ext>
            </a:extLst>
          </p:cNvPr>
          <p:cNvSpPr/>
          <p:nvPr/>
        </p:nvSpPr>
        <p:spPr>
          <a:xfrm>
            <a:off x="1923023" y="2970893"/>
            <a:ext cx="1036866" cy="528034"/>
          </a:xfrm>
          <a:prstGeom prst="ellipse">
            <a:avLst/>
          </a:prstGeom>
          <a:noFill/>
          <a:ln>
            <a:solidFill>
              <a:srgbClr val="EE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15" name="Conector recto de flecha 14">
            <a:extLst>
              <a:ext uri="{FF2B5EF4-FFF2-40B4-BE49-F238E27FC236}">
                <a16:creationId xmlns:a16="http://schemas.microsoft.com/office/drawing/2014/main" id="{720E847E-CD98-693A-4B56-F8B053BA2E76}"/>
              </a:ext>
            </a:extLst>
          </p:cNvPr>
          <p:cNvCxnSpPr/>
          <p:nvPr/>
        </p:nvCxnSpPr>
        <p:spPr>
          <a:xfrm>
            <a:off x="3342640" y="3498927"/>
            <a:ext cx="792480" cy="97713"/>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6" name="Conector recto de flecha 15">
            <a:extLst>
              <a:ext uri="{FF2B5EF4-FFF2-40B4-BE49-F238E27FC236}">
                <a16:creationId xmlns:a16="http://schemas.microsoft.com/office/drawing/2014/main" id="{9854A81B-263F-7F41-4C49-3453D71E9276}"/>
              </a:ext>
            </a:extLst>
          </p:cNvPr>
          <p:cNvCxnSpPr>
            <a:cxnSpLocks/>
          </p:cNvCxnSpPr>
          <p:nvPr/>
        </p:nvCxnSpPr>
        <p:spPr>
          <a:xfrm flipV="1">
            <a:off x="7114782" y="3989115"/>
            <a:ext cx="1632978" cy="26165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
        <p:nvSpPr>
          <p:cNvPr id="19" name="Flecha: curvada hacia la izquierda 18">
            <a:extLst>
              <a:ext uri="{FF2B5EF4-FFF2-40B4-BE49-F238E27FC236}">
                <a16:creationId xmlns:a16="http://schemas.microsoft.com/office/drawing/2014/main" id="{E3F1E753-87E5-9582-CEAA-73F146BC543C}"/>
              </a:ext>
            </a:extLst>
          </p:cNvPr>
          <p:cNvSpPr/>
          <p:nvPr/>
        </p:nvSpPr>
        <p:spPr>
          <a:xfrm>
            <a:off x="10891762" y="3888204"/>
            <a:ext cx="228600" cy="725125"/>
          </a:xfrm>
          <a:prstGeom prst="curvedLeftArrow">
            <a:avLst>
              <a:gd name="adj1" fmla="val 25000"/>
              <a:gd name="adj2" fmla="val 51472"/>
              <a:gd name="adj3" fmla="val 25000"/>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
        <p:nvSpPr>
          <p:cNvPr id="21" name="CuadroTexto 20">
            <a:extLst>
              <a:ext uri="{FF2B5EF4-FFF2-40B4-BE49-F238E27FC236}">
                <a16:creationId xmlns:a16="http://schemas.microsoft.com/office/drawing/2014/main" id="{44261003-25AA-3A2D-DAAD-C7CBFED897D0}"/>
              </a:ext>
            </a:extLst>
          </p:cNvPr>
          <p:cNvSpPr txBox="1"/>
          <p:nvPr/>
        </p:nvSpPr>
        <p:spPr>
          <a:xfrm>
            <a:off x="838200" y="5286770"/>
            <a:ext cx="10591800" cy="523220"/>
          </a:xfrm>
          <a:prstGeom prst="rect">
            <a:avLst/>
          </a:prstGeom>
          <a:noFill/>
        </p:spPr>
        <p:txBody>
          <a:bodyPr wrap="square">
            <a:spAutoFit/>
          </a:bodyPr>
          <a:lstStyle/>
          <a:p>
            <a:r>
              <a:rPr lang="es-MX" sz="1400" dirty="0">
                <a:latin typeface="Century Gothic" panose="020B0502020202020204" pitchFamily="34" charset="0"/>
              </a:rPr>
              <a:t>Esta parte permite que cualquier operador pueda alimentar la base de datos de manera sencilla, conectando visualmente las acciones del usuario con los procesos de almacenamiento del </a:t>
            </a:r>
            <a:r>
              <a:rPr lang="es-MX" sz="1400" dirty="0" err="1">
                <a:latin typeface="Century Gothic" panose="020B0502020202020204" pitchFamily="34" charset="0"/>
              </a:rPr>
              <a:t>backend</a:t>
            </a:r>
            <a:r>
              <a:rPr lang="es-MX" sz="1400" dirty="0">
                <a:latin typeface="Century Gothic" panose="020B0502020202020204" pitchFamily="34" charset="0"/>
              </a:rPr>
              <a:t>.</a:t>
            </a:r>
          </a:p>
        </p:txBody>
      </p:sp>
    </p:spTree>
    <p:extLst>
      <p:ext uri="{BB962C8B-B14F-4D97-AF65-F5344CB8AC3E}">
        <p14:creationId xmlns:p14="http://schemas.microsoft.com/office/powerpoint/2010/main" val="5242562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6D38BF6B-C54E-6911-A123-7ED0AD298617}"/>
              </a:ext>
            </a:extLst>
          </p:cNvPr>
          <p:cNvSpPr txBox="1"/>
          <p:nvPr/>
        </p:nvSpPr>
        <p:spPr>
          <a:xfrm>
            <a:off x="182880" y="1720840"/>
            <a:ext cx="5913120" cy="2616101"/>
          </a:xfrm>
          <a:prstGeom prst="rect">
            <a:avLst/>
          </a:prstGeom>
          <a:noFill/>
        </p:spPr>
        <p:txBody>
          <a:bodyPr wrap="square">
            <a:spAutoFit/>
          </a:bodyPr>
          <a:lstStyle/>
          <a:p>
            <a:r>
              <a:rPr lang="es-MX" sz="1400" dirty="0">
                <a:latin typeface="Century Gothic" panose="020B0502020202020204" pitchFamily="34" charset="0"/>
              </a:rPr>
              <a:t>El panel de administración de la aplicación, diseñado para organizar la estructura de la empresa y supervisar los registros. Se utilizan elementos como:</a:t>
            </a:r>
          </a:p>
          <a:p>
            <a:endParaRPr lang="es-MX" sz="1400" dirty="0">
              <a:latin typeface="Century Gothic" panose="020B0502020202020204" pitchFamily="34" charset="0"/>
            </a:endParaRPr>
          </a:p>
          <a:p>
            <a:pPr marL="285750" indent="-285750">
              <a:buFont typeface="Arial" panose="020B0604020202020204" pitchFamily="34" charset="0"/>
              <a:buChar char="•"/>
            </a:pPr>
            <a:r>
              <a:rPr lang="es-MX" sz="1200" b="1" dirty="0">
                <a:latin typeface="Century Gothic" panose="020B0502020202020204" pitchFamily="34" charset="0"/>
              </a:rPr>
              <a:t>Tablas de Datos</a:t>
            </a:r>
            <a:r>
              <a:rPr lang="es-MX" sz="1200" dirty="0">
                <a:latin typeface="Century Gothic" panose="020B0502020202020204" pitchFamily="34" charset="0"/>
              </a:rPr>
              <a:t>: para mostrar de forma ordenada los </a:t>
            </a:r>
            <a:r>
              <a:rPr lang="es-MX" sz="1200" b="1" dirty="0">
                <a:latin typeface="Century Gothic" panose="020B0502020202020204" pitchFamily="34" charset="0"/>
              </a:rPr>
              <a:t>Departamentos</a:t>
            </a:r>
            <a:r>
              <a:rPr lang="es-MX" sz="1200" dirty="0">
                <a:latin typeface="Century Gothic" panose="020B0502020202020204" pitchFamily="34" charset="0"/>
              </a:rPr>
              <a:t> (como "</a:t>
            </a:r>
            <a:r>
              <a:rPr lang="es-MX" sz="1200" dirty="0" err="1">
                <a:latin typeface="Century Gothic" panose="020B0502020202020204" pitchFamily="34" charset="0"/>
              </a:rPr>
              <a:t>tecnologico</a:t>
            </a:r>
            <a:r>
              <a:rPr lang="es-MX" sz="1200" dirty="0">
                <a:latin typeface="Century Gothic" panose="020B0502020202020204" pitchFamily="34" charset="0"/>
              </a:rPr>
              <a:t>") y el listado de </a:t>
            </a:r>
            <a:r>
              <a:rPr lang="es-MX" sz="1200" b="1" dirty="0">
                <a:latin typeface="Century Gothic" panose="020B0502020202020204" pitchFamily="34" charset="0"/>
              </a:rPr>
              <a:t>Usuarios</a:t>
            </a:r>
            <a:r>
              <a:rPr lang="es-MX" sz="1200" dirty="0">
                <a:latin typeface="Century Gothic" panose="020B0502020202020204" pitchFamily="34" charset="0"/>
              </a:rPr>
              <a:t>, incluyendo su foto, nombre, cédula y última actualización.</a:t>
            </a:r>
          </a:p>
          <a:p>
            <a:pPr marL="285750" indent="-285750">
              <a:buFont typeface="Arial" panose="020B0604020202020204" pitchFamily="34" charset="0"/>
              <a:buChar char="•"/>
            </a:pPr>
            <a:r>
              <a:rPr lang="es-MX" sz="1200" b="1" dirty="0">
                <a:latin typeface="Century Gothic" panose="020B0502020202020204" pitchFamily="34" charset="0"/>
              </a:rPr>
              <a:t>Menús Desplegables</a:t>
            </a:r>
            <a:r>
              <a:rPr lang="es-MX" sz="1200" dirty="0">
                <a:latin typeface="Century Gothic" panose="020B0502020202020204" pitchFamily="34" charset="0"/>
              </a:rPr>
              <a:t>: una sección de "Configuraciones" que permite navegar entre la gestión de departamentos, usuarios de acceso y la configuración general de la empresa.</a:t>
            </a:r>
          </a:p>
          <a:p>
            <a:pPr marL="285750" indent="-285750">
              <a:buFont typeface="Arial" panose="020B0604020202020204" pitchFamily="34" charset="0"/>
              <a:buChar char="•"/>
            </a:pPr>
            <a:r>
              <a:rPr lang="es-MX" sz="1200" b="1" dirty="0">
                <a:latin typeface="Century Gothic" panose="020B0502020202020204" pitchFamily="34" charset="0"/>
              </a:rPr>
              <a:t>Barra de Búsqueda</a:t>
            </a:r>
            <a:r>
              <a:rPr lang="es-MX" sz="1200" dirty="0">
                <a:latin typeface="Century Gothic" panose="020B0502020202020204" pitchFamily="34" charset="0"/>
              </a:rPr>
              <a:t>: una herramienta dinámica que permite filtrar usuarios por nombre, cédula o departamento para una localización rápida.</a:t>
            </a:r>
          </a:p>
        </p:txBody>
      </p:sp>
      <p:sp>
        <p:nvSpPr>
          <p:cNvPr id="2" name="Título 1">
            <a:extLst>
              <a:ext uri="{FF2B5EF4-FFF2-40B4-BE49-F238E27FC236}">
                <a16:creationId xmlns:a16="http://schemas.microsoft.com/office/drawing/2014/main" id="{ADEFB6CD-8F82-5B48-75FC-4D6C2055F065}"/>
              </a:ext>
            </a:extLst>
          </p:cNvPr>
          <p:cNvSpPr>
            <a:spLocks noGrp="1"/>
          </p:cNvSpPr>
          <p:nvPr>
            <p:ph type="title"/>
          </p:nvPr>
        </p:nvSpPr>
        <p:spPr>
          <a:xfrm>
            <a:off x="312420" y="336548"/>
            <a:ext cx="9575800" cy="733423"/>
          </a:xfrm>
        </p:spPr>
        <p:txBody>
          <a:bodyPr>
            <a:normAutofit/>
          </a:bodyPr>
          <a:lstStyle/>
          <a:p>
            <a:r>
              <a:rPr lang="es-MX" sz="2800" dirty="0">
                <a:latin typeface="Century Gothic" panose="020B0502020202020204" pitchFamily="34" charset="0"/>
              </a:rPr>
              <a:t>7. Gestión Administrativa (Departamentos y Usuarios)</a:t>
            </a:r>
          </a:p>
        </p:txBody>
      </p:sp>
      <p:pic>
        <p:nvPicPr>
          <p:cNvPr id="7" name="Imagen 6">
            <a:extLst>
              <a:ext uri="{FF2B5EF4-FFF2-40B4-BE49-F238E27FC236}">
                <a16:creationId xmlns:a16="http://schemas.microsoft.com/office/drawing/2014/main" id="{BAA15585-F993-8FC9-D081-631884FD66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82080" y="1690688"/>
            <a:ext cx="5313680" cy="2988945"/>
          </a:xfrm>
          <a:prstGeom prst="rect">
            <a:avLst/>
          </a:prstGeom>
        </p:spPr>
      </p:pic>
      <p:cxnSp>
        <p:nvCxnSpPr>
          <p:cNvPr id="9" name="Conector recto de flecha 8">
            <a:extLst>
              <a:ext uri="{FF2B5EF4-FFF2-40B4-BE49-F238E27FC236}">
                <a16:creationId xmlns:a16="http://schemas.microsoft.com/office/drawing/2014/main" id="{D0B02ED2-A85C-DDAA-D7F3-95F2B9C15E56}"/>
              </a:ext>
            </a:extLst>
          </p:cNvPr>
          <p:cNvCxnSpPr>
            <a:cxnSpLocks/>
          </p:cNvCxnSpPr>
          <p:nvPr/>
        </p:nvCxnSpPr>
        <p:spPr>
          <a:xfrm flipV="1">
            <a:off x="5720080" y="2082800"/>
            <a:ext cx="3576320" cy="7620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0" name="Rectangle 1">
            <a:extLst>
              <a:ext uri="{FF2B5EF4-FFF2-40B4-BE49-F238E27FC236}">
                <a16:creationId xmlns:a16="http://schemas.microsoft.com/office/drawing/2014/main" id="{61DC0BA6-6DCB-B8D0-84C4-AF567BB1818A}"/>
              </a:ext>
            </a:extLst>
          </p:cNvPr>
          <p:cNvSpPr>
            <a:spLocks noChangeArrowheads="1"/>
          </p:cNvSpPr>
          <p:nvPr/>
        </p:nvSpPr>
        <p:spPr bwMode="auto">
          <a:xfrm>
            <a:off x="182880" y="4631026"/>
            <a:ext cx="607568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200" dirty="0">
                <a:latin typeface="Century Gothic" panose="020B0502020202020204" pitchFamily="34" charset="0"/>
              </a:rPr>
              <a:t>Botones de Acción Global: opciones para agregar un "Nuevo Departamento" o "Importar Usuarios" de forma masiva desde archivos externos.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200" dirty="0">
                <a:latin typeface="Century Gothic" panose="020B0502020202020204" pitchFamily="34" charset="0"/>
              </a:rPr>
              <a:t>Controles de Registro (Acciones): iconos de edición (naranja) y eliminación (rojo) para modificar o dar de baja información directamente en la tabla.</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200" dirty="0">
                <a:latin typeface="Century Gothic" panose="020B0502020202020204" pitchFamily="34" charset="0"/>
              </a:rPr>
              <a:t>Paginación: controles en la parte inferior derecha que permiten navegar entre diferentes páginas de registros cuando la base de datos crece.</a:t>
            </a:r>
          </a:p>
        </p:txBody>
      </p:sp>
      <p:cxnSp>
        <p:nvCxnSpPr>
          <p:cNvPr id="12" name="Conector recto de flecha 11">
            <a:extLst>
              <a:ext uri="{FF2B5EF4-FFF2-40B4-BE49-F238E27FC236}">
                <a16:creationId xmlns:a16="http://schemas.microsoft.com/office/drawing/2014/main" id="{DAE11059-3178-5E0E-8A32-DA5F4A8C68FC}"/>
              </a:ext>
            </a:extLst>
          </p:cNvPr>
          <p:cNvCxnSpPr>
            <a:cxnSpLocks/>
          </p:cNvCxnSpPr>
          <p:nvPr/>
        </p:nvCxnSpPr>
        <p:spPr>
          <a:xfrm flipV="1">
            <a:off x="4241800" y="2844800"/>
            <a:ext cx="5227320" cy="183483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3" name="Elipse 12">
            <a:extLst>
              <a:ext uri="{FF2B5EF4-FFF2-40B4-BE49-F238E27FC236}">
                <a16:creationId xmlns:a16="http://schemas.microsoft.com/office/drawing/2014/main" id="{61FC6589-BE2D-D2F6-CFE7-353E2B54EF6B}"/>
              </a:ext>
            </a:extLst>
          </p:cNvPr>
          <p:cNvSpPr/>
          <p:nvPr/>
        </p:nvSpPr>
        <p:spPr>
          <a:xfrm>
            <a:off x="9469120" y="2082800"/>
            <a:ext cx="1076960" cy="100584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6" name="Imagen 15">
            <a:extLst>
              <a:ext uri="{FF2B5EF4-FFF2-40B4-BE49-F238E27FC236}">
                <a16:creationId xmlns:a16="http://schemas.microsoft.com/office/drawing/2014/main" id="{5D675B66-926D-EC85-56C1-47562983B1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82080" y="3829052"/>
            <a:ext cx="5313680" cy="2988945"/>
          </a:xfrm>
          <a:prstGeom prst="rect">
            <a:avLst/>
          </a:prstGeom>
        </p:spPr>
      </p:pic>
      <p:cxnSp>
        <p:nvCxnSpPr>
          <p:cNvPr id="20" name="Conector recto de flecha 19">
            <a:extLst>
              <a:ext uri="{FF2B5EF4-FFF2-40B4-BE49-F238E27FC236}">
                <a16:creationId xmlns:a16="http://schemas.microsoft.com/office/drawing/2014/main" id="{91A369A4-2A01-C99A-2378-9AB3F97B6A58}"/>
              </a:ext>
            </a:extLst>
          </p:cNvPr>
          <p:cNvCxnSpPr>
            <a:cxnSpLocks/>
          </p:cNvCxnSpPr>
          <p:nvPr/>
        </p:nvCxnSpPr>
        <p:spPr>
          <a:xfrm>
            <a:off x="5384800" y="2991023"/>
            <a:ext cx="1470660" cy="164000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3" name="Conector recto de flecha 22">
            <a:extLst>
              <a:ext uri="{FF2B5EF4-FFF2-40B4-BE49-F238E27FC236}">
                <a16:creationId xmlns:a16="http://schemas.microsoft.com/office/drawing/2014/main" id="{F2BBA936-FFA2-51AE-A4FF-927A3C9C0AE5}"/>
              </a:ext>
            </a:extLst>
          </p:cNvPr>
          <p:cNvCxnSpPr/>
          <p:nvPr/>
        </p:nvCxnSpPr>
        <p:spPr>
          <a:xfrm flipV="1">
            <a:off x="6096000" y="5201920"/>
            <a:ext cx="4450080" cy="213360"/>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24120896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9DF2E4-3F1C-DADD-2EF3-E90E7893C329}"/>
              </a:ext>
            </a:extLst>
          </p:cNvPr>
          <p:cNvSpPr>
            <a:spLocks noGrp="1"/>
          </p:cNvSpPr>
          <p:nvPr>
            <p:ph type="title"/>
          </p:nvPr>
        </p:nvSpPr>
        <p:spPr>
          <a:xfrm>
            <a:off x="203200" y="245496"/>
            <a:ext cx="9423400" cy="403590"/>
          </a:xfrm>
        </p:spPr>
        <p:txBody>
          <a:bodyPr>
            <a:normAutofit fontScale="90000"/>
          </a:bodyPr>
          <a:lstStyle/>
          <a:p>
            <a:r>
              <a:rPr lang="es-MX" sz="3200" dirty="0">
                <a:latin typeface="Century Gothic" panose="020B0502020202020204" pitchFamily="34" charset="0"/>
              </a:rPr>
              <a:t>8. Persistencia de Datos (MySQL </a:t>
            </a:r>
            <a:r>
              <a:rPr lang="es-MX" sz="3200" dirty="0" err="1">
                <a:latin typeface="Century Gothic" panose="020B0502020202020204" pitchFamily="34" charset="0"/>
              </a:rPr>
              <a:t>Workbench</a:t>
            </a:r>
            <a:r>
              <a:rPr lang="es-MX" sz="3200" dirty="0">
                <a:latin typeface="Century Gothic" panose="020B0502020202020204" pitchFamily="34" charset="0"/>
              </a:rPr>
              <a:t>)</a:t>
            </a:r>
          </a:p>
        </p:txBody>
      </p:sp>
      <p:sp>
        <p:nvSpPr>
          <p:cNvPr id="4" name="Rectangle 1">
            <a:extLst>
              <a:ext uri="{FF2B5EF4-FFF2-40B4-BE49-F238E27FC236}">
                <a16:creationId xmlns:a16="http://schemas.microsoft.com/office/drawing/2014/main" id="{D065741C-15C9-E588-54B6-DE022D110160}"/>
              </a:ext>
            </a:extLst>
          </p:cNvPr>
          <p:cNvSpPr>
            <a:spLocks noChangeArrowheads="1"/>
          </p:cNvSpPr>
          <p:nvPr/>
        </p:nvSpPr>
        <p:spPr bwMode="auto">
          <a:xfrm>
            <a:off x="0" y="1960584"/>
            <a:ext cx="6045200"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200" dirty="0">
                <a:latin typeface="Century Gothic" panose="020B0502020202020204" pitchFamily="34" charset="0"/>
              </a:rPr>
              <a:t>Sentencias SQL (SELECT * FROM...): comandos utilizados para consultar y visualizar todos los registros de la tabla </a:t>
            </a:r>
            <a:r>
              <a:rPr lang="es-MX" altLang="es-MX" sz="1200" dirty="0" err="1">
                <a:latin typeface="Century Gothic" panose="020B0502020202020204" pitchFamily="34" charset="0"/>
              </a:rPr>
              <a:t>tabla_usuarios</a:t>
            </a:r>
            <a:r>
              <a:rPr lang="es-MX" altLang="es-MX" sz="1200" dirty="0">
                <a:latin typeface="Century Gothic" panose="020B0502020202020204" pitchFamily="34" charset="0"/>
              </a:rPr>
              <a:t>.</a:t>
            </a: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200" dirty="0">
              <a:latin typeface="Century Gothic" panose="020B0502020202020204" pitchFamily="34" charset="0"/>
            </a:endParaRP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200" dirty="0" err="1">
                <a:latin typeface="Century Gothic" panose="020B0502020202020204" pitchFamily="34" charset="0"/>
              </a:rPr>
              <a:t>Result</a:t>
            </a:r>
            <a:r>
              <a:rPr lang="es-MX" altLang="es-MX" sz="1200" dirty="0">
                <a:latin typeface="Century Gothic" panose="020B0502020202020204" pitchFamily="34" charset="0"/>
              </a:rPr>
              <a:t> </a:t>
            </a:r>
            <a:r>
              <a:rPr lang="es-MX" altLang="es-MX" sz="1200" dirty="0" err="1">
                <a:latin typeface="Century Gothic" panose="020B0502020202020204" pitchFamily="34" charset="0"/>
              </a:rPr>
              <a:t>Grid</a:t>
            </a:r>
            <a:r>
              <a:rPr lang="es-MX" altLang="es-MX" sz="1200" dirty="0">
                <a:latin typeface="Century Gothic" panose="020B0502020202020204" pitchFamily="34" charset="0"/>
              </a:rPr>
              <a:t> (Grilla de Resultados): una tabla que muestra los datos reales almacenados, como el ID, Nombre, Cédula, Cargo y el Código de Empresa.</a:t>
            </a: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200" dirty="0">
              <a:latin typeface="Century Gothic" panose="020B0502020202020204" pitchFamily="34" charset="0"/>
            </a:endParaRP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200" dirty="0">
                <a:latin typeface="Century Gothic" panose="020B0502020202020204" pitchFamily="34" charset="0"/>
              </a:rPr>
              <a:t>Esquemas (</a:t>
            </a:r>
            <a:r>
              <a:rPr lang="es-MX" altLang="es-MX" sz="1200" dirty="0" err="1">
                <a:latin typeface="Century Gothic" panose="020B0502020202020204" pitchFamily="34" charset="0"/>
              </a:rPr>
              <a:t>Schemas</a:t>
            </a:r>
            <a:r>
              <a:rPr lang="es-MX" altLang="es-MX" sz="1200" dirty="0">
                <a:latin typeface="Century Gothic" panose="020B0502020202020204" pitchFamily="34" charset="0"/>
              </a:rPr>
              <a:t>): en el panel izquierdo se visualiza la estructura de la base de datos llamada reconocimiento, con sus respectivas tablas como empresas, registro y usuarios.</a:t>
            </a: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200" dirty="0">
              <a:latin typeface="Century Gothic" panose="020B0502020202020204" pitchFamily="34" charset="0"/>
            </a:endParaRP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200" dirty="0">
                <a:latin typeface="Century Gothic" panose="020B0502020202020204" pitchFamily="34" charset="0"/>
              </a:rPr>
              <a:t>Campo imagen (BLOB): el formato donde se guarda la información binaria de los rostros registrados para su posterior comparación.</a:t>
            </a: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200" dirty="0">
              <a:latin typeface="Century Gothic" panose="020B0502020202020204" pitchFamily="34" charset="0"/>
            </a:endParaRP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200" dirty="0">
                <a:latin typeface="Century Gothic" panose="020B0502020202020204" pitchFamily="34" charset="0"/>
              </a:rPr>
              <a:t>Panel de Salida (Output): una lista de historial en la parte inferior que confirma que las consultas se ejecutaron correctamente y el tiempo que tardó el servidor en responder.</a:t>
            </a: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200" dirty="0">
              <a:latin typeface="Century Gothic" panose="020B0502020202020204" pitchFamily="34" charset="0"/>
            </a:endParaRP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200" dirty="0">
                <a:latin typeface="Century Gothic" panose="020B0502020202020204" pitchFamily="34" charset="0"/>
              </a:rPr>
              <a:t>Navegador de Objetos: permite ver los procedimientos almacenados y funciones que optimizan el rendimiento de las búsquedas faciales.</a:t>
            </a:r>
          </a:p>
        </p:txBody>
      </p:sp>
      <p:sp>
        <p:nvSpPr>
          <p:cNvPr id="6" name="CuadroTexto 5">
            <a:extLst>
              <a:ext uri="{FF2B5EF4-FFF2-40B4-BE49-F238E27FC236}">
                <a16:creationId xmlns:a16="http://schemas.microsoft.com/office/drawing/2014/main" id="{706E3255-5034-A573-54AF-0EC4FC3759FA}"/>
              </a:ext>
            </a:extLst>
          </p:cNvPr>
          <p:cNvSpPr txBox="1"/>
          <p:nvPr/>
        </p:nvSpPr>
        <p:spPr>
          <a:xfrm>
            <a:off x="203200" y="6231265"/>
            <a:ext cx="11988800" cy="52322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dirty="0">
                <a:latin typeface="Century Gothic" panose="020B0502020202020204" pitchFamily="34" charset="0"/>
              </a:rPr>
              <a:t>Esta parte permite garantizar la seguridad y el orden de la información, asegurando que cada registro realizado en el </a:t>
            </a:r>
            <a:r>
              <a:rPr lang="es-MX" altLang="es-MX" sz="1400" dirty="0" err="1">
                <a:latin typeface="Century Gothic" panose="020B0502020202020204" pitchFamily="34" charset="0"/>
              </a:rPr>
              <a:t>frontend</a:t>
            </a:r>
            <a:r>
              <a:rPr lang="es-MX" altLang="es-MX" sz="1400" dirty="0">
                <a:latin typeface="Century Gothic" panose="020B0502020202020204" pitchFamily="34" charset="0"/>
              </a:rPr>
              <a:t> quede guardado permanentemente en el servidor para el control de acceso.</a:t>
            </a:r>
          </a:p>
        </p:txBody>
      </p:sp>
      <p:sp>
        <p:nvSpPr>
          <p:cNvPr id="8" name="CuadroTexto 7">
            <a:extLst>
              <a:ext uri="{FF2B5EF4-FFF2-40B4-BE49-F238E27FC236}">
                <a16:creationId xmlns:a16="http://schemas.microsoft.com/office/drawing/2014/main" id="{456EB65A-074A-7A8F-C453-BA9067F092DE}"/>
              </a:ext>
            </a:extLst>
          </p:cNvPr>
          <p:cNvSpPr txBox="1"/>
          <p:nvPr/>
        </p:nvSpPr>
        <p:spPr>
          <a:xfrm>
            <a:off x="132080" y="938898"/>
            <a:ext cx="12059920" cy="52322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dirty="0">
                <a:latin typeface="Century Gothic" panose="020B0502020202020204" pitchFamily="34" charset="0"/>
              </a:rPr>
              <a:t>la gestión de la base de datos desde MySQL </a:t>
            </a:r>
            <a:r>
              <a:rPr lang="es-MX" altLang="es-MX" sz="1400" dirty="0" err="1">
                <a:latin typeface="Century Gothic" panose="020B0502020202020204" pitchFamily="34" charset="0"/>
              </a:rPr>
              <a:t>Workbench</a:t>
            </a:r>
            <a:r>
              <a:rPr lang="es-MX" altLang="es-MX" sz="1400" dirty="0">
                <a:latin typeface="Century Gothic" panose="020B0502020202020204" pitchFamily="34" charset="0"/>
              </a:rPr>
              <a:t>, donde se almacena y consulta toda la información recolectada por el sistema. Se utilizan elementos como:</a:t>
            </a:r>
          </a:p>
        </p:txBody>
      </p:sp>
      <p:pic>
        <p:nvPicPr>
          <p:cNvPr id="10" name="Imagen 9">
            <a:extLst>
              <a:ext uri="{FF2B5EF4-FFF2-40B4-BE49-F238E27FC236}">
                <a16:creationId xmlns:a16="http://schemas.microsoft.com/office/drawing/2014/main" id="{38032350-EEF4-7F1A-C000-EE1295471A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45200" y="2032290"/>
            <a:ext cx="6045200" cy="3400425"/>
          </a:xfrm>
          <a:prstGeom prst="rect">
            <a:avLst/>
          </a:prstGeom>
        </p:spPr>
      </p:pic>
    </p:spTree>
    <p:extLst>
      <p:ext uri="{BB962C8B-B14F-4D97-AF65-F5344CB8AC3E}">
        <p14:creationId xmlns:p14="http://schemas.microsoft.com/office/powerpoint/2010/main" val="24230271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030D54-2A16-56A9-D079-E24ADB3E03B3}"/>
              </a:ext>
            </a:extLst>
          </p:cNvPr>
          <p:cNvSpPr>
            <a:spLocks noGrp="1"/>
          </p:cNvSpPr>
          <p:nvPr>
            <p:ph type="title"/>
          </p:nvPr>
        </p:nvSpPr>
        <p:spPr>
          <a:xfrm>
            <a:off x="174662" y="365125"/>
            <a:ext cx="11179138" cy="1325563"/>
          </a:xfrm>
        </p:spPr>
        <p:txBody>
          <a:bodyPr>
            <a:normAutofit/>
          </a:bodyPr>
          <a:lstStyle/>
          <a:p>
            <a:r>
              <a:rPr lang="es-MX" sz="3600" dirty="0">
                <a:latin typeface="Century Gothic" panose="020B0502020202020204" pitchFamily="34" charset="0"/>
              </a:rPr>
              <a:t>9. Proceso de Reconocimiento y Registro de Entrada</a:t>
            </a:r>
          </a:p>
        </p:txBody>
      </p:sp>
      <p:sp>
        <p:nvSpPr>
          <p:cNvPr id="5" name="CuadroTexto 4">
            <a:extLst>
              <a:ext uri="{FF2B5EF4-FFF2-40B4-BE49-F238E27FC236}">
                <a16:creationId xmlns:a16="http://schemas.microsoft.com/office/drawing/2014/main" id="{F1ED14CA-F79E-CD06-979B-7CADE1577CD8}"/>
              </a:ext>
            </a:extLst>
          </p:cNvPr>
          <p:cNvSpPr txBox="1"/>
          <p:nvPr/>
        </p:nvSpPr>
        <p:spPr>
          <a:xfrm>
            <a:off x="174662" y="1944360"/>
            <a:ext cx="6673178" cy="2462213"/>
          </a:xfrm>
          <a:prstGeom prst="rect">
            <a:avLst/>
          </a:prstGeom>
          <a:noFill/>
        </p:spPr>
        <p:txBody>
          <a:bodyPr wrap="square">
            <a:spAutoFit/>
          </a:bodyPr>
          <a:lstStyle/>
          <a:p>
            <a:r>
              <a:rPr lang="es-MX" sz="1400" dirty="0">
                <a:latin typeface="Century Gothic" panose="020B0502020202020204" pitchFamily="34" charset="0"/>
              </a:rPr>
              <a:t>el funcionamiento en tiempo real del sistema de identificación biométrica para el control de asistencia. Se utilizan elementos como:</a:t>
            </a:r>
          </a:p>
          <a:p>
            <a:endParaRPr lang="es-MX" sz="1400" dirty="0">
              <a:latin typeface="Century Gothic" panose="020B0502020202020204" pitchFamily="34" charset="0"/>
            </a:endParaRPr>
          </a:p>
          <a:p>
            <a:pPr marL="285750" indent="-285750" algn="just">
              <a:buFont typeface="Arial" panose="020B0604020202020204" pitchFamily="34" charset="0"/>
              <a:buChar char="•"/>
            </a:pPr>
            <a:r>
              <a:rPr lang="es-MX" sz="1400" b="1" dirty="0">
                <a:latin typeface="Century Gothic" panose="020B0502020202020204" pitchFamily="34" charset="0"/>
              </a:rPr>
              <a:t>Escaneo Facial Activo</a:t>
            </a:r>
            <a:r>
              <a:rPr lang="es-MX" sz="1400" dirty="0">
                <a:latin typeface="Century Gothic" panose="020B0502020202020204" pitchFamily="34" charset="0"/>
              </a:rPr>
              <a:t>: el sistema activa la cámara y utiliza un recuadro de enfoque para detectar y analizar las facciones del usuario presente.</a:t>
            </a:r>
          </a:p>
          <a:p>
            <a:pPr marL="285750" indent="-285750" algn="just">
              <a:buFont typeface="Arial" panose="020B0604020202020204" pitchFamily="34" charset="0"/>
              <a:buChar char="•"/>
            </a:pPr>
            <a:r>
              <a:rPr lang="es-MX" sz="1400" b="1" dirty="0">
                <a:latin typeface="Century Gothic" panose="020B0502020202020204" pitchFamily="34" charset="0"/>
              </a:rPr>
              <a:t>Identificación Automática</a:t>
            </a:r>
            <a:r>
              <a:rPr lang="es-MX" sz="1400" dirty="0">
                <a:latin typeface="Century Gothic" panose="020B0502020202020204" pitchFamily="34" charset="0"/>
              </a:rPr>
              <a:t>: una vez reconocido el rostro, el software muestra el nombre del usuario (ej. </a:t>
            </a:r>
            <a:r>
              <a:rPr lang="es-MX" sz="1400" b="1" dirty="0">
                <a:latin typeface="Century Gothic" panose="020B0502020202020204" pitchFamily="34" charset="0"/>
              </a:rPr>
              <a:t>"Cynthia"</a:t>
            </a:r>
            <a:r>
              <a:rPr lang="es-MX" sz="1400" dirty="0">
                <a:latin typeface="Century Gothic" panose="020B0502020202020204" pitchFamily="34" charset="0"/>
              </a:rPr>
              <a:t>) y su ID, validando su identidad contra la base de datos.</a:t>
            </a:r>
          </a:p>
          <a:p>
            <a:pPr marL="285750" indent="-285750" algn="just">
              <a:buFont typeface="Arial" panose="020B0604020202020204" pitchFamily="34" charset="0"/>
              <a:buChar char="•"/>
            </a:pPr>
            <a:r>
              <a:rPr lang="es-MX" sz="1400" b="1" dirty="0">
                <a:latin typeface="Century Gothic" panose="020B0502020202020204" pitchFamily="34" charset="0"/>
              </a:rPr>
              <a:t>Botón de Registro de Entrada</a:t>
            </a:r>
            <a:r>
              <a:rPr lang="es-MX" sz="1400" dirty="0">
                <a:latin typeface="Century Gothic" panose="020B0502020202020204" pitchFamily="34" charset="0"/>
              </a:rPr>
              <a:t>: el usuario presiona el botón verde </a:t>
            </a:r>
            <a:r>
              <a:rPr lang="es-MX" sz="1400" b="1" dirty="0">
                <a:latin typeface="Century Gothic" panose="020B0502020202020204" pitchFamily="34" charset="0"/>
              </a:rPr>
              <a:t>"REGISTRAR ENTRADA"</a:t>
            </a:r>
            <a:r>
              <a:rPr lang="es-MX" sz="1400" dirty="0">
                <a:latin typeface="Century Gothic" panose="020B0502020202020204" pitchFamily="34" charset="0"/>
              </a:rPr>
              <a:t> para confirmar su asistencia en ese momento exacto.</a:t>
            </a:r>
          </a:p>
        </p:txBody>
      </p:sp>
      <p:sp>
        <p:nvSpPr>
          <p:cNvPr id="6" name="Rectangle 1">
            <a:extLst>
              <a:ext uri="{FF2B5EF4-FFF2-40B4-BE49-F238E27FC236}">
                <a16:creationId xmlns:a16="http://schemas.microsoft.com/office/drawing/2014/main" id="{4262837B-EE48-0C6B-264E-030673D51477}"/>
              </a:ext>
            </a:extLst>
          </p:cNvPr>
          <p:cNvSpPr>
            <a:spLocks noChangeArrowheads="1"/>
          </p:cNvSpPr>
          <p:nvPr/>
        </p:nvSpPr>
        <p:spPr bwMode="auto">
          <a:xfrm>
            <a:off x="264160" y="4809956"/>
            <a:ext cx="625856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a:latin typeface="Century Gothic" panose="020B0502020202020204" pitchFamily="34" charset="0"/>
              </a:rPr>
              <a:t>Confirmación de Éxito: aparece una notificación (</a:t>
            </a:r>
            <a:r>
              <a:rPr lang="es-MX" altLang="es-MX" sz="1400" dirty="0" err="1">
                <a:latin typeface="Century Gothic" panose="020B0502020202020204" pitchFamily="34" charset="0"/>
              </a:rPr>
              <a:t>Toast</a:t>
            </a:r>
            <a:r>
              <a:rPr lang="es-MX" altLang="es-MX" sz="1400" dirty="0">
                <a:latin typeface="Century Gothic" panose="020B0502020202020204" pitchFamily="34" charset="0"/>
              </a:rPr>
              <a:t>) que indica: "Registro de entrada exitoso", asegurando al usuario que su marca ha sido guardada.</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a:latin typeface="Century Gothic" panose="020B0502020202020204" pitchFamily="34" charset="0"/>
              </a:rPr>
              <a:t>Interfaz de Usuario Limpia: un diseño centrado que evita distracciones y facilita una marcación rápida en menos de un segundo.</a:t>
            </a:r>
          </a:p>
        </p:txBody>
      </p:sp>
      <p:pic>
        <p:nvPicPr>
          <p:cNvPr id="8" name="Imagen 7">
            <a:extLst>
              <a:ext uri="{FF2B5EF4-FFF2-40B4-BE49-F238E27FC236}">
                <a16:creationId xmlns:a16="http://schemas.microsoft.com/office/drawing/2014/main" id="{EE7B12E3-B360-6500-1E35-F5A686CE5C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1621" y="1690688"/>
            <a:ext cx="4965717" cy="2793216"/>
          </a:xfrm>
          <a:prstGeom prst="rect">
            <a:avLst/>
          </a:prstGeom>
        </p:spPr>
      </p:pic>
      <p:pic>
        <p:nvPicPr>
          <p:cNvPr id="10" name="Imagen 9">
            <a:extLst>
              <a:ext uri="{FF2B5EF4-FFF2-40B4-BE49-F238E27FC236}">
                <a16:creationId xmlns:a16="http://schemas.microsoft.com/office/drawing/2014/main" id="{CF9CE8AD-941B-0B62-2C41-FF2A35327B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12587" y="4660245"/>
            <a:ext cx="5679413" cy="2041039"/>
          </a:xfrm>
          <a:prstGeom prst="rect">
            <a:avLst/>
          </a:prstGeom>
        </p:spPr>
      </p:pic>
    </p:spTree>
    <p:extLst>
      <p:ext uri="{BB962C8B-B14F-4D97-AF65-F5344CB8AC3E}">
        <p14:creationId xmlns:p14="http://schemas.microsoft.com/office/powerpoint/2010/main" val="18606443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322B5E-025C-DB68-5E6B-0359BFA93E82}"/>
              </a:ext>
            </a:extLst>
          </p:cNvPr>
          <p:cNvSpPr>
            <a:spLocks noGrp="1"/>
          </p:cNvSpPr>
          <p:nvPr>
            <p:ph type="title"/>
          </p:nvPr>
        </p:nvSpPr>
        <p:spPr>
          <a:xfrm>
            <a:off x="0" y="-132715"/>
            <a:ext cx="11282680" cy="1325563"/>
          </a:xfrm>
        </p:spPr>
        <p:txBody>
          <a:bodyPr>
            <a:normAutofit/>
          </a:bodyPr>
          <a:lstStyle/>
          <a:p>
            <a:r>
              <a:rPr lang="es-MX" sz="3600" dirty="0">
                <a:latin typeface="Century Gothic" panose="020B0502020202020204" pitchFamily="34" charset="0"/>
              </a:rPr>
              <a:t>Proceso de Reconocimiento y Registro de salida</a:t>
            </a:r>
          </a:p>
        </p:txBody>
      </p:sp>
      <p:pic>
        <p:nvPicPr>
          <p:cNvPr id="5" name="Marcador de contenido 4">
            <a:extLst>
              <a:ext uri="{FF2B5EF4-FFF2-40B4-BE49-F238E27FC236}">
                <a16:creationId xmlns:a16="http://schemas.microsoft.com/office/drawing/2014/main" id="{73ED4012-11E6-3902-1744-8C69D17A8F5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553200" y="4364323"/>
            <a:ext cx="5430520" cy="2002504"/>
          </a:xfrm>
        </p:spPr>
      </p:pic>
      <p:pic>
        <p:nvPicPr>
          <p:cNvPr id="9" name="Imagen 8">
            <a:extLst>
              <a:ext uri="{FF2B5EF4-FFF2-40B4-BE49-F238E27FC236}">
                <a16:creationId xmlns:a16="http://schemas.microsoft.com/office/drawing/2014/main" id="{AB24704C-0857-D28D-B710-7CC57D2069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43730" y="944881"/>
            <a:ext cx="4735972" cy="2663984"/>
          </a:xfrm>
          <a:prstGeom prst="rect">
            <a:avLst/>
          </a:prstGeom>
        </p:spPr>
      </p:pic>
      <p:sp>
        <p:nvSpPr>
          <p:cNvPr id="10" name="Rectangle 1">
            <a:extLst>
              <a:ext uri="{FF2B5EF4-FFF2-40B4-BE49-F238E27FC236}">
                <a16:creationId xmlns:a16="http://schemas.microsoft.com/office/drawing/2014/main" id="{81E5422E-1F22-E9B5-7B26-D951530F9C6D}"/>
              </a:ext>
            </a:extLst>
          </p:cNvPr>
          <p:cNvSpPr>
            <a:spLocks noChangeArrowheads="1"/>
          </p:cNvSpPr>
          <p:nvPr/>
        </p:nvSpPr>
        <p:spPr bwMode="auto">
          <a:xfrm>
            <a:off x="208280" y="1261210"/>
            <a:ext cx="655320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b="1" dirty="0">
                <a:latin typeface="Century Gothic" panose="020B0502020202020204" pitchFamily="34" charset="0"/>
              </a:rPr>
              <a:t>Identificación del Usuario: </a:t>
            </a:r>
            <a:r>
              <a:rPr lang="es-MX" altLang="es-MX" sz="1400" dirty="0">
                <a:latin typeface="Century Gothic" panose="020B0502020202020204" pitchFamily="34" charset="0"/>
              </a:rPr>
              <a:t>el sistema reconoce nuevamente el rostro del trabajador (ej. "Cynthia"), mostrando su nombre y estatus en pantalla para evitar errores.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b="1" dirty="0">
                <a:latin typeface="Century Gothic" panose="020B0502020202020204" pitchFamily="34" charset="0"/>
              </a:rPr>
              <a:t>Botón de Registro de Salida: </a:t>
            </a:r>
            <a:r>
              <a:rPr lang="es-MX" altLang="es-MX" sz="1400" dirty="0">
                <a:latin typeface="Century Gothic" panose="020B0502020202020204" pitchFamily="34" charset="0"/>
              </a:rPr>
              <a:t>el usuario interactúa con el botón rojo "REGISTRAR SALIDA", diseñado cromáticamente para diferenciarse claramente de la entrada.</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b="1" dirty="0">
                <a:latin typeface="Century Gothic" panose="020B0502020202020204" pitchFamily="34" charset="0"/>
              </a:rPr>
              <a:t>Notificación de Confirmación: </a:t>
            </a:r>
            <a:r>
              <a:rPr lang="es-MX" altLang="es-MX" sz="1400" dirty="0">
                <a:latin typeface="Century Gothic" panose="020B0502020202020204" pitchFamily="34" charset="0"/>
              </a:rPr>
              <a:t>se visualiza un mensaje flotante (</a:t>
            </a:r>
            <a:r>
              <a:rPr lang="es-MX" altLang="es-MX" sz="1400" dirty="0" err="1">
                <a:latin typeface="Century Gothic" panose="020B0502020202020204" pitchFamily="34" charset="0"/>
              </a:rPr>
              <a:t>Toast</a:t>
            </a:r>
            <a:r>
              <a:rPr lang="es-MX" altLang="es-MX" sz="1400" dirty="0">
                <a:latin typeface="Century Gothic" panose="020B0502020202020204" pitchFamily="34" charset="0"/>
              </a:rPr>
              <a:t>) en color verde que indica: "Registro de salida exitoso", confirmando que la hora de salida se guardó correctamente.</a:t>
            </a:r>
          </a:p>
        </p:txBody>
      </p:sp>
      <p:sp>
        <p:nvSpPr>
          <p:cNvPr id="12" name="CuadroTexto 11">
            <a:extLst>
              <a:ext uri="{FF2B5EF4-FFF2-40B4-BE49-F238E27FC236}">
                <a16:creationId xmlns:a16="http://schemas.microsoft.com/office/drawing/2014/main" id="{AE7FB845-5C37-1CA3-6DCE-085A440B4075}"/>
              </a:ext>
            </a:extLst>
          </p:cNvPr>
          <p:cNvSpPr txBox="1"/>
          <p:nvPr/>
        </p:nvSpPr>
        <p:spPr>
          <a:xfrm>
            <a:off x="208280" y="4304890"/>
            <a:ext cx="6187440" cy="2031325"/>
          </a:xfrm>
          <a:prstGeom prst="rect">
            <a:avLst/>
          </a:prstGeom>
          <a:noFill/>
        </p:spPr>
        <p:txBody>
          <a:bodyPr wrap="square">
            <a:spAutoFit/>
          </a:bodyPr>
          <a:lstStyle/>
          <a:p>
            <a:pPr marL="285750" indent="-285750" algn="just">
              <a:buFont typeface="Arial" panose="020B0604020202020204" pitchFamily="34" charset="0"/>
              <a:buChar char="•"/>
            </a:pPr>
            <a:r>
              <a:rPr lang="es-MX" sz="1400" b="1" dirty="0">
                <a:latin typeface="Century Gothic" panose="020B0502020202020204" pitchFamily="34" charset="0"/>
              </a:rPr>
              <a:t>Seguridad Biométrica</a:t>
            </a:r>
            <a:r>
              <a:rPr lang="es-MX" sz="1400" dirty="0">
                <a:latin typeface="Century Gothic" panose="020B0502020202020204" pitchFamily="34" charset="0"/>
              </a:rPr>
              <a:t>: el recuadro de escaneo asegura que solo la persona autorizada pueda cerrar su registro de tiempo.</a:t>
            </a:r>
          </a:p>
          <a:p>
            <a:pPr marL="285750" indent="-285750" algn="just">
              <a:buFont typeface="Arial" panose="020B0604020202020204" pitchFamily="34" charset="0"/>
              <a:buChar char="•"/>
            </a:pPr>
            <a:r>
              <a:rPr lang="es-MX" sz="1400" b="1" dirty="0">
                <a:latin typeface="Century Gothic" panose="020B0502020202020204" pitchFamily="34" charset="0"/>
              </a:rPr>
              <a:t>Actualización en Tiempo Real</a:t>
            </a:r>
            <a:r>
              <a:rPr lang="es-MX" sz="1400" dirty="0">
                <a:latin typeface="Century Gothic" panose="020B0502020202020204" pitchFamily="34" charset="0"/>
              </a:rPr>
              <a:t>: una vez confirmado, el sistema queda listo para la siguiente operación sin necesidad de recargar la página manualmente.</a:t>
            </a:r>
          </a:p>
          <a:p>
            <a:pPr marL="285750" indent="-285750" algn="just">
              <a:buFont typeface="Arial" panose="020B0604020202020204" pitchFamily="34" charset="0"/>
              <a:buChar char="•"/>
            </a:pPr>
            <a:endParaRPr lang="es-MX" sz="1400" dirty="0">
              <a:latin typeface="Century Gothic" panose="020B0502020202020204" pitchFamily="34" charset="0"/>
            </a:endParaRPr>
          </a:p>
          <a:p>
            <a:r>
              <a:rPr lang="es-MX" sz="1400" dirty="0">
                <a:latin typeface="Century Gothic" panose="020B0502020202020204" pitchFamily="34" charset="0"/>
              </a:rPr>
              <a:t>Esta parte permite </a:t>
            </a:r>
            <a:r>
              <a:rPr lang="es-MX" sz="1400" b="1" dirty="0">
                <a:latin typeface="Century Gothic" panose="020B0502020202020204" pitchFamily="34" charset="0"/>
              </a:rPr>
              <a:t>cerrar el ciclo de asistencia</a:t>
            </a:r>
            <a:r>
              <a:rPr lang="es-MX" sz="1400" dirty="0">
                <a:latin typeface="Century Gothic" panose="020B0502020202020204" pitchFamily="34" charset="0"/>
              </a:rPr>
              <a:t>, enviando la marca de tiempo final a la base de datos MySQL para el cálculo de horas trabajadas.</a:t>
            </a:r>
          </a:p>
        </p:txBody>
      </p:sp>
    </p:spTree>
    <p:extLst>
      <p:ext uri="{BB962C8B-B14F-4D97-AF65-F5344CB8AC3E}">
        <p14:creationId xmlns:p14="http://schemas.microsoft.com/office/powerpoint/2010/main" val="12851176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D543A9-E277-BEFC-BF3E-3F9E78BADC82}"/>
              </a:ext>
            </a:extLst>
          </p:cNvPr>
          <p:cNvSpPr>
            <a:spLocks noGrp="1"/>
          </p:cNvSpPr>
          <p:nvPr>
            <p:ph type="title"/>
          </p:nvPr>
        </p:nvSpPr>
        <p:spPr>
          <a:xfrm>
            <a:off x="335280" y="491668"/>
            <a:ext cx="8305800" cy="640715"/>
          </a:xfrm>
        </p:spPr>
        <p:txBody>
          <a:bodyPr>
            <a:noAutofit/>
          </a:bodyPr>
          <a:lstStyle/>
          <a:p>
            <a:r>
              <a:rPr lang="es-MX" sz="3200" dirty="0">
                <a:latin typeface="Century Gothic" panose="020B0502020202020204" pitchFamily="34" charset="0"/>
              </a:rPr>
              <a:t>10. Panel de Generación de Reportes</a:t>
            </a:r>
          </a:p>
        </p:txBody>
      </p:sp>
      <p:sp>
        <p:nvSpPr>
          <p:cNvPr id="3" name="Marcador de contenido 2">
            <a:extLst>
              <a:ext uri="{FF2B5EF4-FFF2-40B4-BE49-F238E27FC236}">
                <a16:creationId xmlns:a16="http://schemas.microsoft.com/office/drawing/2014/main" id="{8BAD0E32-88A0-0D5A-FBC8-0DCCB56F9A21}"/>
              </a:ext>
            </a:extLst>
          </p:cNvPr>
          <p:cNvSpPr>
            <a:spLocks noGrp="1"/>
          </p:cNvSpPr>
          <p:nvPr>
            <p:ph idx="1"/>
          </p:nvPr>
        </p:nvSpPr>
        <p:spPr>
          <a:xfrm>
            <a:off x="838200" y="1825625"/>
            <a:ext cx="5257800" cy="297815"/>
          </a:xfrm>
        </p:spPr>
        <p:txBody>
          <a:bodyPr>
            <a:normAutofit/>
          </a:bodyPr>
          <a:lstStyle/>
          <a:p>
            <a:pPr marL="0" indent="0">
              <a:buNone/>
            </a:pPr>
            <a:r>
              <a:rPr lang="es-MX" sz="1400" dirty="0">
                <a:latin typeface="Century Gothic" panose="020B0502020202020204" pitchFamily="34" charset="0"/>
              </a:rPr>
              <a:t>Un siguiente aparto nos </a:t>
            </a:r>
            <a:r>
              <a:rPr lang="es-MX" sz="1400" dirty="0" err="1">
                <a:latin typeface="Century Gothic" panose="020B0502020202020204" pitchFamily="34" charset="0"/>
              </a:rPr>
              <a:t>dirijimos</a:t>
            </a:r>
            <a:r>
              <a:rPr lang="es-MX" sz="1400" dirty="0">
                <a:latin typeface="Century Gothic" panose="020B0502020202020204" pitchFamily="34" charset="0"/>
              </a:rPr>
              <a:t> a reportes – informe diario</a:t>
            </a:r>
          </a:p>
        </p:txBody>
      </p:sp>
      <p:pic>
        <p:nvPicPr>
          <p:cNvPr id="5" name="Imagen 4">
            <a:extLst>
              <a:ext uri="{FF2B5EF4-FFF2-40B4-BE49-F238E27FC236}">
                <a16:creationId xmlns:a16="http://schemas.microsoft.com/office/drawing/2014/main" id="{12393AE5-1A2A-2535-6C5C-90A4E580CACB}"/>
              </a:ext>
            </a:extLst>
          </p:cNvPr>
          <p:cNvPicPr>
            <a:picLocks noChangeAspect="1"/>
          </p:cNvPicPr>
          <p:nvPr/>
        </p:nvPicPr>
        <p:blipFill>
          <a:blip r:embed="rId2">
            <a:extLst>
              <a:ext uri="{28A0092B-C50C-407E-A947-70E740481C1C}">
                <a14:useLocalDpi xmlns:a14="http://schemas.microsoft.com/office/drawing/2010/main" val="0"/>
              </a:ext>
            </a:extLst>
          </a:blip>
          <a:srcRect l="53500" b="65482"/>
          <a:stretch/>
        </p:blipFill>
        <p:spPr>
          <a:xfrm>
            <a:off x="7386320" y="1086485"/>
            <a:ext cx="4470400" cy="1866672"/>
          </a:xfrm>
          <a:prstGeom prst="rect">
            <a:avLst/>
          </a:prstGeom>
        </p:spPr>
      </p:pic>
      <p:pic>
        <p:nvPicPr>
          <p:cNvPr id="7" name="Imagen 6">
            <a:extLst>
              <a:ext uri="{FF2B5EF4-FFF2-40B4-BE49-F238E27FC236}">
                <a16:creationId xmlns:a16="http://schemas.microsoft.com/office/drawing/2014/main" id="{9DB48BC8-4FB1-54A6-686E-C7DB8E86AB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24889" y="3429000"/>
            <a:ext cx="4967111" cy="2794000"/>
          </a:xfrm>
          <a:prstGeom prst="rect">
            <a:avLst/>
          </a:prstGeom>
        </p:spPr>
      </p:pic>
      <p:sp>
        <p:nvSpPr>
          <p:cNvPr id="8" name="Rectangle 1">
            <a:extLst>
              <a:ext uri="{FF2B5EF4-FFF2-40B4-BE49-F238E27FC236}">
                <a16:creationId xmlns:a16="http://schemas.microsoft.com/office/drawing/2014/main" id="{7B69857C-9EBA-BB41-E841-278EC0B72742}"/>
              </a:ext>
            </a:extLst>
          </p:cNvPr>
          <p:cNvSpPr>
            <a:spLocks noChangeArrowheads="1"/>
          </p:cNvSpPr>
          <p:nvPr/>
        </p:nvSpPr>
        <p:spPr bwMode="auto">
          <a:xfrm>
            <a:off x="243840" y="2385795"/>
            <a:ext cx="677672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s-MX" altLang="es-MX" sz="1400" dirty="0">
                <a:latin typeface="Century Gothic" panose="020B0502020202020204" pitchFamily="34" charset="0"/>
              </a:rPr>
              <a:t>la pantalla de control de informes, la cual actúa como un filtro avanzado antes de mostrar el historial detallado. Se utilizan elementos como:</a:t>
            </a:r>
          </a:p>
          <a:p>
            <a:pPr marL="0" marR="0" lvl="0" indent="0" algn="just" defTabSz="914400" rtl="0" eaLnBrk="0" fontAlgn="base" latinLnBrk="0" hangingPunct="0">
              <a:lnSpc>
                <a:spcPct val="100000"/>
              </a:lnSpc>
              <a:spcBef>
                <a:spcPct val="0"/>
              </a:spcBef>
              <a:spcAft>
                <a:spcPct val="0"/>
              </a:spcAft>
              <a:buClrTx/>
              <a:buSzTx/>
              <a:buFontTx/>
              <a:buNone/>
              <a:tabLst/>
            </a:pPr>
            <a:endParaRPr lang="es-MX" altLang="es-MX" sz="1400" dirty="0">
              <a:latin typeface="Century Gothic" panose="020B0502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b="1" dirty="0">
                <a:latin typeface="Century Gothic" panose="020B0502020202020204" pitchFamily="34" charset="0"/>
              </a:rPr>
              <a:t>Selectores de Rango de Fecha: </a:t>
            </a:r>
            <a:r>
              <a:rPr lang="es-MX" altLang="es-MX" sz="1400" dirty="0">
                <a:latin typeface="Century Gothic" panose="020B0502020202020204" pitchFamily="34" charset="0"/>
              </a:rPr>
              <a:t>campos específicos para elegir la "Fecha de inicio" y la "Fecha final", permitiendo consultar periodos exactos (días, semanas o meses).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b="1" dirty="0">
                <a:latin typeface="Century Gothic" panose="020B0502020202020204" pitchFamily="34" charset="0"/>
              </a:rPr>
              <a:t>Buscador de Personal</a:t>
            </a:r>
            <a:r>
              <a:rPr lang="es-MX" altLang="es-MX" sz="1400" dirty="0">
                <a:latin typeface="Century Gothic" panose="020B0502020202020204" pitchFamily="34" charset="0"/>
              </a:rPr>
              <a:t>: una barra de búsqueda para filtrar la información por el Nombre o el ID de un trabajador específico.</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b="1" dirty="0">
                <a:latin typeface="Century Gothic" panose="020B0502020202020204" pitchFamily="34" charset="0"/>
              </a:rPr>
              <a:t>Botón de Generar Informe (.</a:t>
            </a:r>
            <a:r>
              <a:rPr lang="es-MX" altLang="es-MX" sz="1400" b="1" dirty="0" err="1">
                <a:latin typeface="Century Gothic" panose="020B0502020202020204" pitchFamily="34" charset="0"/>
              </a:rPr>
              <a:t>btn-primary</a:t>
            </a:r>
            <a:r>
              <a:rPr lang="es-MX" altLang="es-MX" sz="1400" b="1" dirty="0">
                <a:latin typeface="Century Gothic" panose="020B0502020202020204" pitchFamily="34" charset="0"/>
              </a:rPr>
              <a:t>): </a:t>
            </a:r>
            <a:r>
              <a:rPr lang="es-MX" altLang="es-MX" sz="1400" dirty="0">
                <a:latin typeface="Century Gothic" panose="020B0502020202020204" pitchFamily="34" charset="0"/>
              </a:rPr>
              <a:t>la acción principal que procesa la búsqueda y activa el despliegue del historial de asistencia en la parte inferior o en una nueva vista.</a:t>
            </a:r>
          </a:p>
          <a:p>
            <a:pPr marL="285750" indent="-285750" algn="just" eaLnBrk="0" fontAlgn="base" hangingPunct="0">
              <a:spcBef>
                <a:spcPct val="0"/>
              </a:spcBef>
              <a:spcAft>
                <a:spcPct val="0"/>
              </a:spcAft>
              <a:buFont typeface="Arial" panose="020B0604020202020204" pitchFamily="34" charset="0"/>
              <a:buChar char="•"/>
            </a:pPr>
            <a:r>
              <a:rPr lang="es-MX" sz="1400" b="1" dirty="0">
                <a:latin typeface="Century Gothic" panose="020B0502020202020204" pitchFamily="34" charset="0"/>
              </a:rPr>
              <a:t>Herramientas de Exportación</a:t>
            </a:r>
            <a:r>
              <a:rPr lang="es-MX" sz="1400" dirty="0">
                <a:latin typeface="Century Gothic" panose="020B0502020202020204" pitchFamily="34" charset="0"/>
              </a:rPr>
              <a:t>: botones especializados para descargar la información en formatos </a:t>
            </a:r>
            <a:r>
              <a:rPr lang="es-MX" sz="1400" b="1" dirty="0">
                <a:latin typeface="Century Gothic" panose="020B0502020202020204" pitchFamily="34" charset="0"/>
              </a:rPr>
              <a:t>Excel</a:t>
            </a:r>
            <a:r>
              <a:rPr lang="es-MX" sz="1400" dirty="0">
                <a:latin typeface="Century Gothic" panose="020B0502020202020204" pitchFamily="34" charset="0"/>
              </a:rPr>
              <a:t>, </a:t>
            </a:r>
            <a:r>
              <a:rPr lang="es-MX" sz="1400" b="1" dirty="0">
                <a:latin typeface="Century Gothic" panose="020B0502020202020204" pitchFamily="34" charset="0"/>
              </a:rPr>
              <a:t>PDF</a:t>
            </a:r>
            <a:r>
              <a:rPr lang="es-MX" sz="1400" dirty="0">
                <a:latin typeface="Century Gothic" panose="020B0502020202020204" pitchFamily="34" charset="0"/>
              </a:rPr>
              <a:t> o enviar directamente a </a:t>
            </a:r>
            <a:r>
              <a:rPr lang="es-MX" sz="1400" b="1" dirty="0">
                <a:latin typeface="Century Gothic" panose="020B0502020202020204" pitchFamily="34" charset="0"/>
              </a:rPr>
              <a:t>Imprimir</a:t>
            </a:r>
            <a:r>
              <a:rPr lang="es-MX" sz="1400" dirty="0">
                <a:latin typeface="Century Gothic" panose="020B0502020202020204" pitchFamily="34" charset="0"/>
              </a:rPr>
              <a:t>, facilitando el respaldo físico de la asistencia.</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dirty="0">
              <a:latin typeface="Century Gothic" panose="020B0502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es-MX" altLang="es-MX" sz="1400" dirty="0">
              <a:latin typeface="Century Gothic" panose="020B0502020202020204" pitchFamily="34" charset="0"/>
            </a:endParaRPr>
          </a:p>
        </p:txBody>
      </p:sp>
    </p:spTree>
    <p:extLst>
      <p:ext uri="{BB962C8B-B14F-4D97-AF65-F5344CB8AC3E}">
        <p14:creationId xmlns:p14="http://schemas.microsoft.com/office/powerpoint/2010/main" val="37258142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1B8C76-87F4-E2AF-B517-780A55B4E608}"/>
              </a:ext>
            </a:extLst>
          </p:cNvPr>
          <p:cNvSpPr>
            <a:spLocks noGrp="1"/>
          </p:cNvSpPr>
          <p:nvPr>
            <p:ph type="title"/>
          </p:nvPr>
        </p:nvSpPr>
        <p:spPr>
          <a:xfrm>
            <a:off x="0" y="152082"/>
            <a:ext cx="10429240" cy="528955"/>
          </a:xfrm>
        </p:spPr>
        <p:txBody>
          <a:bodyPr>
            <a:normAutofit fontScale="90000"/>
          </a:bodyPr>
          <a:lstStyle/>
          <a:p>
            <a:r>
              <a:rPr lang="es-MX" sz="3600" dirty="0">
                <a:latin typeface="Century Gothic" panose="020B0502020202020204" pitchFamily="34" charset="0"/>
              </a:rPr>
              <a:t>11. Visualización de Resultados y Exportación</a:t>
            </a:r>
          </a:p>
        </p:txBody>
      </p:sp>
      <p:pic>
        <p:nvPicPr>
          <p:cNvPr id="5" name="Marcador de contenido 4">
            <a:extLst>
              <a:ext uri="{FF2B5EF4-FFF2-40B4-BE49-F238E27FC236}">
                <a16:creationId xmlns:a16="http://schemas.microsoft.com/office/drawing/2014/main" id="{92A7B6B4-A9A3-A42B-2DD9-D183E40EDB3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67502" y="3728720"/>
            <a:ext cx="5171440" cy="2908935"/>
          </a:xfrm>
        </p:spPr>
      </p:pic>
      <p:pic>
        <p:nvPicPr>
          <p:cNvPr id="7" name="Imagen 6">
            <a:extLst>
              <a:ext uri="{FF2B5EF4-FFF2-40B4-BE49-F238E27FC236}">
                <a16:creationId xmlns:a16="http://schemas.microsoft.com/office/drawing/2014/main" id="{3863E3B8-CE17-5BD8-CFE2-5B6A3B94AF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67502" y="994648"/>
            <a:ext cx="4858738" cy="2733040"/>
          </a:xfrm>
          <a:prstGeom prst="rect">
            <a:avLst/>
          </a:prstGeom>
        </p:spPr>
      </p:pic>
      <p:sp>
        <p:nvSpPr>
          <p:cNvPr id="9" name="CuadroTexto 8">
            <a:extLst>
              <a:ext uri="{FF2B5EF4-FFF2-40B4-BE49-F238E27FC236}">
                <a16:creationId xmlns:a16="http://schemas.microsoft.com/office/drawing/2014/main" id="{ECF57517-7EC4-DAA6-C9B9-06767B05E048}"/>
              </a:ext>
            </a:extLst>
          </p:cNvPr>
          <p:cNvSpPr txBox="1"/>
          <p:nvPr/>
        </p:nvSpPr>
        <p:spPr>
          <a:xfrm>
            <a:off x="254000" y="1216581"/>
            <a:ext cx="6535420" cy="2462213"/>
          </a:xfrm>
          <a:prstGeom prst="rect">
            <a:avLst/>
          </a:prstGeom>
          <a:noFill/>
        </p:spPr>
        <p:txBody>
          <a:bodyPr wrap="square">
            <a:spAutoFit/>
          </a:bodyPr>
          <a:lstStyle/>
          <a:p>
            <a:pPr algn="just"/>
            <a:r>
              <a:rPr lang="es-MX" sz="1400" dirty="0">
                <a:latin typeface="Century Gothic" panose="020B0502020202020204" pitchFamily="34" charset="0"/>
              </a:rPr>
              <a:t>la culminación del proceso de reportes, donde los datos filtrados se presentan de forma estructurada para su análisis legal o administrativo. Se utilizan elementos como:</a:t>
            </a:r>
          </a:p>
          <a:p>
            <a:pPr algn="just"/>
            <a:endParaRPr lang="es-MX" sz="1400" dirty="0">
              <a:latin typeface="Century Gothic" panose="020B0502020202020204" pitchFamily="34" charset="0"/>
            </a:endParaRPr>
          </a:p>
          <a:p>
            <a:pPr algn="just"/>
            <a:endParaRPr lang="es-MX" sz="1400" dirty="0">
              <a:latin typeface="Century Gothic" panose="020B0502020202020204" pitchFamily="34" charset="0"/>
            </a:endParaRPr>
          </a:p>
          <a:p>
            <a:pPr marL="285750" indent="-285750" algn="just">
              <a:buFont typeface="Arial" panose="020B0604020202020204" pitchFamily="34" charset="0"/>
              <a:buChar char="•"/>
            </a:pPr>
            <a:r>
              <a:rPr lang="es-MX" sz="1400" b="1" dirty="0">
                <a:latin typeface="Century Gothic" panose="020B0502020202020204" pitchFamily="34" charset="0"/>
              </a:rPr>
              <a:t>Tabla de Resultados Detallada</a:t>
            </a:r>
            <a:r>
              <a:rPr lang="es-MX" sz="1400" dirty="0">
                <a:latin typeface="Century Gothic" panose="020B0502020202020204" pitchFamily="34" charset="0"/>
              </a:rPr>
              <a:t>: un listado organizado que incluye el nombre del usuario, el tipo de evento (</a:t>
            </a:r>
            <a:r>
              <a:rPr lang="es-MX" sz="1400" b="1" dirty="0">
                <a:latin typeface="Century Gothic" panose="020B0502020202020204" pitchFamily="34" charset="0"/>
              </a:rPr>
              <a:t>Entrada/Salida</a:t>
            </a:r>
            <a:r>
              <a:rPr lang="es-MX" sz="1400" dirty="0">
                <a:latin typeface="Century Gothic" panose="020B0502020202020204" pitchFamily="34" charset="0"/>
              </a:rPr>
              <a:t>) y la marca de tiempo exacta (</a:t>
            </a:r>
            <a:r>
              <a:rPr lang="es-MX" sz="1400" b="1" dirty="0">
                <a:latin typeface="Century Gothic" panose="020B0502020202020204" pitchFamily="34" charset="0"/>
              </a:rPr>
              <a:t>Fecha y Hora</a:t>
            </a:r>
            <a:r>
              <a:rPr lang="es-MX" sz="1400" dirty="0">
                <a:latin typeface="Century Gothic" panose="020B0502020202020204" pitchFamily="34" charset="0"/>
              </a:rPr>
              <a:t>).</a:t>
            </a:r>
          </a:p>
          <a:p>
            <a:pPr marL="285750" indent="-285750" algn="just">
              <a:buFont typeface="Arial" panose="020B0604020202020204" pitchFamily="34" charset="0"/>
              <a:buChar char="•"/>
            </a:pPr>
            <a:r>
              <a:rPr lang="es-MX" sz="1400" b="1" dirty="0">
                <a:latin typeface="Century Gothic" panose="020B0502020202020204" pitchFamily="34" charset="0"/>
              </a:rPr>
              <a:t>Indicadores de Estado</a:t>
            </a:r>
            <a:r>
              <a:rPr lang="es-MX" sz="1400" dirty="0">
                <a:latin typeface="Century Gothic" panose="020B0502020202020204" pitchFamily="34" charset="0"/>
              </a:rPr>
              <a:t>: uso de etiquetas visuales (colores diferenciados) para identificar rápidamente si el registro corresponde a un inicio o fin de jornada.</a:t>
            </a:r>
          </a:p>
        </p:txBody>
      </p:sp>
      <p:sp>
        <p:nvSpPr>
          <p:cNvPr id="11" name="CuadroTexto 10">
            <a:extLst>
              <a:ext uri="{FF2B5EF4-FFF2-40B4-BE49-F238E27FC236}">
                <a16:creationId xmlns:a16="http://schemas.microsoft.com/office/drawing/2014/main" id="{63C65227-7EED-5109-F39C-5B93F7E8100C}"/>
              </a:ext>
            </a:extLst>
          </p:cNvPr>
          <p:cNvSpPr txBox="1"/>
          <p:nvPr/>
        </p:nvSpPr>
        <p:spPr>
          <a:xfrm>
            <a:off x="795302" y="5183187"/>
            <a:ext cx="6172200" cy="738664"/>
          </a:xfrm>
          <a:prstGeom prst="rect">
            <a:avLst/>
          </a:prstGeom>
          <a:noFill/>
        </p:spPr>
        <p:txBody>
          <a:bodyPr wrap="square">
            <a:spAutoFit/>
          </a:bodyPr>
          <a:lstStyle/>
          <a:p>
            <a:r>
              <a:rPr lang="es-MX" sz="1400" dirty="0">
                <a:latin typeface="Century Gothic" panose="020B0502020202020204" pitchFamily="34" charset="0"/>
              </a:rPr>
              <a:t>Esta parte permite </a:t>
            </a:r>
            <a:r>
              <a:rPr lang="es-MX" sz="1400" b="1" dirty="0">
                <a:latin typeface="Century Gothic" panose="020B0502020202020204" pitchFamily="34" charset="0"/>
              </a:rPr>
              <a:t>convertir los datos técnicos en documentos administrativos</a:t>
            </a:r>
            <a:r>
              <a:rPr lang="es-MX" sz="1400" dirty="0">
                <a:latin typeface="Century Gothic" panose="020B0502020202020204" pitchFamily="34" charset="0"/>
              </a:rPr>
              <a:t>, cerrando el flujo del sistema al entregar reportes listos para la gestión de nómina o recursos humanos.</a:t>
            </a:r>
          </a:p>
        </p:txBody>
      </p:sp>
    </p:spTree>
    <p:extLst>
      <p:ext uri="{BB962C8B-B14F-4D97-AF65-F5344CB8AC3E}">
        <p14:creationId xmlns:p14="http://schemas.microsoft.com/office/powerpoint/2010/main" val="6300818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015512-05BD-0EE4-AB0A-B58B73C68A59}"/>
              </a:ext>
            </a:extLst>
          </p:cNvPr>
          <p:cNvSpPr>
            <a:spLocks noGrp="1"/>
          </p:cNvSpPr>
          <p:nvPr>
            <p:ph type="title"/>
          </p:nvPr>
        </p:nvSpPr>
        <p:spPr>
          <a:xfrm>
            <a:off x="233680" y="215642"/>
            <a:ext cx="9174480" cy="427355"/>
          </a:xfrm>
        </p:spPr>
        <p:txBody>
          <a:bodyPr>
            <a:normAutofit fontScale="90000"/>
          </a:bodyPr>
          <a:lstStyle/>
          <a:p>
            <a:r>
              <a:rPr lang="es-MX" sz="2800" dirty="0">
                <a:latin typeface="Century Gothic" panose="020B0502020202020204" pitchFamily="34" charset="0"/>
              </a:rPr>
              <a:t>12. Configuración de Acceso Remoto (Red Local)</a:t>
            </a:r>
          </a:p>
        </p:txBody>
      </p:sp>
      <p:sp>
        <p:nvSpPr>
          <p:cNvPr id="4" name="Rectangle 1">
            <a:extLst>
              <a:ext uri="{FF2B5EF4-FFF2-40B4-BE49-F238E27FC236}">
                <a16:creationId xmlns:a16="http://schemas.microsoft.com/office/drawing/2014/main" id="{D92BC2DE-20D4-7313-01F0-27C0B156342B}"/>
              </a:ext>
            </a:extLst>
          </p:cNvPr>
          <p:cNvSpPr>
            <a:spLocks noChangeArrowheads="1"/>
          </p:cNvSpPr>
          <p:nvPr/>
        </p:nvSpPr>
        <p:spPr bwMode="auto">
          <a:xfrm>
            <a:off x="189088" y="557876"/>
            <a:ext cx="6053384"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s-MX" altLang="es-MX" sz="1200" dirty="0">
                <a:latin typeface="Century Gothic" panose="020B0502020202020204" pitchFamily="34" charset="0"/>
              </a:rPr>
              <a:t>la configuración del sistema para permitir el acceso desde otros dispositivos dentro de la misma red. Se utilizan elementos como:</a:t>
            </a:r>
          </a:p>
          <a:p>
            <a:pPr marL="0" marR="0" lvl="0" indent="0" algn="just" defTabSz="914400" rtl="0" eaLnBrk="0" fontAlgn="base" latinLnBrk="0" hangingPunct="0">
              <a:lnSpc>
                <a:spcPct val="100000"/>
              </a:lnSpc>
              <a:spcBef>
                <a:spcPct val="0"/>
              </a:spcBef>
              <a:spcAft>
                <a:spcPct val="0"/>
              </a:spcAft>
              <a:buClrTx/>
              <a:buSzTx/>
              <a:buFontTx/>
              <a:buNone/>
              <a:tabLst/>
            </a:pPr>
            <a:endParaRPr lang="es-MX" altLang="es-MX" sz="1200" dirty="0">
              <a:latin typeface="Century Gothic" panose="020B0502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es-MX" altLang="es-MX" sz="1200" dirty="0">
              <a:latin typeface="Century Gothic" panose="020B0502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es-MX" altLang="es-MX" sz="1200" dirty="0">
              <a:latin typeface="Century Gothic" panose="020B0502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es-MX" altLang="es-MX" sz="1200" dirty="0">
              <a:latin typeface="Century Gothic" panose="020B0502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es-MX" altLang="es-MX" sz="1200" dirty="0">
              <a:latin typeface="Century Gothic" panose="020B0502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200" dirty="0">
                <a:latin typeface="Century Gothic" panose="020B0502020202020204" pitchFamily="34" charset="0"/>
              </a:rPr>
              <a:t>Dirección IP Local (192.168.1.X): el identificador único de tu computadora en la red, que sirve como "dirección" para que otros equipos encuentren el servidor.</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200" dirty="0">
                <a:latin typeface="Century Gothic" panose="020B0502020202020204" pitchFamily="34" charset="0"/>
              </a:rPr>
              <a:t>Puerto de Comunicación (3001): el canal específico que se deja abierto en el firewall para que los datos del reconocimiento facial viajen sin bloqueos.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200" dirty="0">
                <a:latin typeface="Century Gothic" panose="020B0502020202020204" pitchFamily="34" charset="0"/>
              </a:rPr>
              <a:t>URL de Acceso: la combinación de la IP y el puerto que se escribe en el navegador de cualquier otro dispositivo para cargar la aplicación.</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200" dirty="0">
              <a:latin typeface="Century Gothic" panose="020B0502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200" dirty="0">
              <a:latin typeface="Century Gothic" panose="020B0502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200" dirty="0">
                <a:latin typeface="Century Gothic" panose="020B0502020202020204" pitchFamily="34" charset="0"/>
              </a:rPr>
              <a:t>Conexión Inalámbrica/LAN: se confirma que el servidor está vinculado a un </a:t>
            </a:r>
            <a:r>
              <a:rPr lang="es-MX" altLang="es-MX" sz="1200" dirty="0" err="1">
                <a:latin typeface="Century Gothic" panose="020B0502020202020204" pitchFamily="34" charset="0"/>
              </a:rPr>
              <a:t>router</a:t>
            </a:r>
            <a:r>
              <a:rPr lang="es-MX" altLang="es-MX" sz="1200" dirty="0">
                <a:latin typeface="Century Gothic" panose="020B0502020202020204" pitchFamily="34" charset="0"/>
              </a:rPr>
              <a:t>, permitiendo que un supervisor revise los reportes desde su propio teléfono o </a:t>
            </a:r>
            <a:r>
              <a:rPr lang="es-MX" altLang="es-MX" sz="1200" dirty="0" err="1">
                <a:latin typeface="Century Gothic" panose="020B0502020202020204" pitchFamily="34" charset="0"/>
              </a:rPr>
              <a:t>tablet</a:t>
            </a:r>
            <a:r>
              <a:rPr lang="es-MX" altLang="es-MX" sz="1200" dirty="0">
                <a:latin typeface="Century Gothic" panose="020B0502020202020204" pitchFamily="34" charset="0"/>
              </a:rPr>
              <a:t>.</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200" dirty="0">
                <a:latin typeface="Century Gothic" panose="020B0502020202020204" pitchFamily="34" charset="0"/>
              </a:rPr>
              <a:t>Sincronización en Tiempo Real: esta configuración garantiza que, aunque el registro se haga en una </a:t>
            </a:r>
            <a:r>
              <a:rPr lang="es-MX" altLang="es-MX" sz="1200" dirty="0" err="1">
                <a:latin typeface="Century Gothic" panose="020B0502020202020204" pitchFamily="34" charset="0"/>
              </a:rPr>
              <a:t>tablet</a:t>
            </a:r>
            <a:r>
              <a:rPr lang="es-MX" altLang="es-MX" sz="1200" dirty="0">
                <a:latin typeface="Century Gothic" panose="020B0502020202020204" pitchFamily="34" charset="0"/>
              </a:rPr>
              <a:t> en la entrada, los datos aparezcan instantáneamente en la base de datos de la PC principal.</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200" dirty="0">
                <a:latin typeface="Century Gothic" panose="020B0502020202020204" pitchFamily="34" charset="0"/>
              </a:rPr>
              <a:t>Versatilidad del Sistema: demuestra que la aplicación es escalable y puede funcionar como una estación de trabajo distribuida.</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200" dirty="0">
              <a:latin typeface="Century Gothic" panose="020B0502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200" dirty="0">
              <a:latin typeface="Century Gothic" panose="020B0502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200" dirty="0">
              <a:latin typeface="Century Gothic" panose="020B0502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200" dirty="0">
              <a:latin typeface="Century Gothic" panose="020B0502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lang="es-MX" altLang="es-MX" sz="1200" dirty="0">
                <a:latin typeface="Century Gothic" panose="020B0502020202020204" pitchFamily="34" charset="0"/>
              </a:rPr>
              <a:t>Esta parte permite eliminar las barreras físicas, permitiendo que el sistema de reconocimiento facial sea operado y supervisado desde cualquier sitio de la oficina o empresa.</a:t>
            </a:r>
          </a:p>
        </p:txBody>
      </p:sp>
      <p:pic>
        <p:nvPicPr>
          <p:cNvPr id="6" name="Imagen 5">
            <a:extLst>
              <a:ext uri="{FF2B5EF4-FFF2-40B4-BE49-F238E27FC236}">
                <a16:creationId xmlns:a16="http://schemas.microsoft.com/office/drawing/2014/main" id="{CD34F6D1-8853-22B7-800F-AA6D02EEB2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19520" y="2310448"/>
            <a:ext cx="5683392" cy="3196908"/>
          </a:xfrm>
          <a:prstGeom prst="rect">
            <a:avLst/>
          </a:prstGeom>
        </p:spPr>
      </p:pic>
    </p:spTree>
    <p:extLst>
      <p:ext uri="{BB962C8B-B14F-4D97-AF65-F5344CB8AC3E}">
        <p14:creationId xmlns:p14="http://schemas.microsoft.com/office/powerpoint/2010/main" val="7708130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4279F8-8FCC-1D9C-D055-D5D17EB8D4A5}"/>
              </a:ext>
            </a:extLst>
          </p:cNvPr>
          <p:cNvSpPr>
            <a:spLocks noGrp="1"/>
          </p:cNvSpPr>
          <p:nvPr>
            <p:ph type="title"/>
          </p:nvPr>
        </p:nvSpPr>
        <p:spPr/>
        <p:txBody>
          <a:bodyPr/>
          <a:lstStyle/>
          <a:p>
            <a:r>
              <a:rPr lang="es-MX" dirty="0"/>
              <a:t>CONCLUSIÓN </a:t>
            </a:r>
          </a:p>
        </p:txBody>
      </p:sp>
      <p:sp>
        <p:nvSpPr>
          <p:cNvPr id="5" name="CuadroTexto 4">
            <a:extLst>
              <a:ext uri="{FF2B5EF4-FFF2-40B4-BE49-F238E27FC236}">
                <a16:creationId xmlns:a16="http://schemas.microsoft.com/office/drawing/2014/main" id="{45C8D714-1DE0-7547-BAFD-7600C914C1C9}"/>
              </a:ext>
            </a:extLst>
          </p:cNvPr>
          <p:cNvSpPr txBox="1"/>
          <p:nvPr/>
        </p:nvSpPr>
        <p:spPr>
          <a:xfrm>
            <a:off x="629920" y="1551563"/>
            <a:ext cx="10515600" cy="3754874"/>
          </a:xfrm>
          <a:prstGeom prst="rect">
            <a:avLst/>
          </a:prstGeom>
          <a:noFill/>
        </p:spPr>
        <p:txBody>
          <a:bodyPr wrap="square">
            <a:spAutoFit/>
          </a:bodyPr>
          <a:lstStyle/>
          <a:p>
            <a:pPr algn="just"/>
            <a:r>
              <a:rPr lang="es-MX" sz="1400" dirty="0">
                <a:latin typeface="Century Gothic" panose="020B0502020202020204" pitchFamily="34" charset="0"/>
              </a:rPr>
              <a:t>El desarrollo e implementación de este Sistema de Reconocimiento Facial para el Control de Asistencia demuestra cómo la integración de tecnologías modernas como Node.js, Express y MySQL puede resolver problemas administrativos críticos en una institución educativa. A través de esta práctica, se logró consolidar un ecosistema funcional donde el software no solo identifica rostros con precisión, sino que también gestiona bases de datos complejas y genera reportes detallados para la toma de decisiones.</a:t>
            </a:r>
          </a:p>
          <a:p>
            <a:pPr algn="just"/>
            <a:endParaRPr lang="es-MX" sz="1400" dirty="0">
              <a:latin typeface="Century Gothic" panose="020B0502020202020204" pitchFamily="34" charset="0"/>
            </a:endParaRPr>
          </a:p>
          <a:p>
            <a:pPr algn="just"/>
            <a:r>
              <a:rPr lang="es-MX" sz="1400" dirty="0">
                <a:latin typeface="Century Gothic" panose="020B0502020202020204" pitchFamily="34" charset="0"/>
              </a:rPr>
              <a:t>Los puntos más destacados de este proyecto incluyen:</a:t>
            </a:r>
          </a:p>
          <a:p>
            <a:pPr marL="285750" indent="-285750" algn="just">
              <a:buFont typeface="Arial" panose="020B0604020202020204" pitchFamily="34" charset="0"/>
              <a:buChar char="•"/>
            </a:pPr>
            <a:r>
              <a:rPr lang="es-MX" sz="1400" dirty="0">
                <a:latin typeface="Century Gothic" panose="020B0502020202020204" pitchFamily="34" charset="0"/>
              </a:rPr>
              <a:t>Eficiencia Operativa: Se eliminó el error humano en el registro de tiempos, automatizando las entradas y salidas mediante biometría.</a:t>
            </a:r>
          </a:p>
          <a:p>
            <a:pPr marL="285750" indent="-285750" algn="just">
              <a:buFont typeface="Arial" panose="020B0604020202020204" pitchFamily="34" charset="0"/>
              <a:buChar char="•"/>
            </a:pPr>
            <a:r>
              <a:rPr lang="es-MX" sz="1400" dirty="0">
                <a:latin typeface="Century Gothic" panose="020B0502020202020204" pitchFamily="34" charset="0"/>
              </a:rPr>
              <a:t>Escalabilidad y Acceso: Gracias a la configuración de red local, el sistema dejó de ser una aplicación aislada para convertirse en una herramienta accesible desde múltiples dispositivos, permitiendo la supervisión remota.</a:t>
            </a:r>
          </a:p>
          <a:p>
            <a:pPr marL="285750" indent="-285750" algn="just">
              <a:buFont typeface="Arial" panose="020B0604020202020204" pitchFamily="34" charset="0"/>
              <a:buChar char="•"/>
            </a:pPr>
            <a:r>
              <a:rPr lang="es-MX" sz="1400" dirty="0">
                <a:latin typeface="Century Gothic" panose="020B0502020202020204" pitchFamily="34" charset="0"/>
              </a:rPr>
              <a:t>Seguridad de la Información: La estructuración de los datos en MySQL asegura que los registros de los docentes estén protegidos y disponibles para auditorías o consultas históricas mediante reportes profesionales en PDF o Excel.</a:t>
            </a:r>
          </a:p>
          <a:p>
            <a:pPr marL="285750" indent="-285750" algn="just">
              <a:buFont typeface="Arial" panose="020B0604020202020204" pitchFamily="34" charset="0"/>
              <a:buChar char="•"/>
            </a:pPr>
            <a:endParaRPr lang="es-MX" sz="1400" dirty="0">
              <a:latin typeface="Century Gothic" panose="020B0502020202020204" pitchFamily="34" charset="0"/>
            </a:endParaRPr>
          </a:p>
          <a:p>
            <a:pPr algn="just"/>
            <a:r>
              <a:rPr lang="es-MX" sz="1400" dirty="0">
                <a:latin typeface="Century Gothic" panose="020B0502020202020204" pitchFamily="34" charset="0"/>
              </a:rPr>
              <a:t>En conclusión, este proyecto reafirma que la ingeniería de software aplicada a la biometría ofrece soluciones robustas, seguras y transparentes, optimizando el control de asistencia y modernizando los procesos internos del Instituto Tecnológico de Frontera Comalapa.</a:t>
            </a:r>
          </a:p>
        </p:txBody>
      </p:sp>
    </p:spTree>
    <p:extLst>
      <p:ext uri="{BB962C8B-B14F-4D97-AF65-F5344CB8AC3E}">
        <p14:creationId xmlns:p14="http://schemas.microsoft.com/office/powerpoint/2010/main" val="16372485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39A434-6530-DA9B-5892-419006A47002}"/>
              </a:ext>
            </a:extLst>
          </p:cNvPr>
          <p:cNvSpPr>
            <a:spLocks noGrp="1"/>
          </p:cNvSpPr>
          <p:nvPr>
            <p:ph type="title"/>
          </p:nvPr>
        </p:nvSpPr>
        <p:spPr/>
        <p:txBody>
          <a:bodyPr>
            <a:normAutofit fontScale="90000"/>
          </a:bodyPr>
          <a:lstStyle/>
          <a:p>
            <a:r>
              <a:rPr lang="es-MX" dirty="0"/>
              <a:t>Anexo link de la actividad presentada y solicitada por el docente y enviada a la nube de </a:t>
            </a:r>
            <a:r>
              <a:rPr lang="es-MX" dirty="0" err="1"/>
              <a:t>github</a:t>
            </a:r>
            <a:r>
              <a:rPr lang="es-MX" dirty="0"/>
              <a:t>:</a:t>
            </a:r>
          </a:p>
        </p:txBody>
      </p:sp>
      <p:sp>
        <p:nvSpPr>
          <p:cNvPr id="3" name="Marcador de contenido 2">
            <a:extLst>
              <a:ext uri="{FF2B5EF4-FFF2-40B4-BE49-F238E27FC236}">
                <a16:creationId xmlns:a16="http://schemas.microsoft.com/office/drawing/2014/main" id="{60CA7CD7-34D6-6479-C57F-5C213472913F}"/>
              </a:ext>
            </a:extLst>
          </p:cNvPr>
          <p:cNvSpPr>
            <a:spLocks noGrp="1"/>
          </p:cNvSpPr>
          <p:nvPr>
            <p:ph idx="1"/>
          </p:nvPr>
        </p:nvSpPr>
        <p:spPr/>
        <p:txBody>
          <a:bodyPr/>
          <a:lstStyle/>
          <a:p>
            <a:endParaRPr lang="es-MX"/>
          </a:p>
        </p:txBody>
      </p:sp>
    </p:spTree>
    <p:extLst>
      <p:ext uri="{BB962C8B-B14F-4D97-AF65-F5344CB8AC3E}">
        <p14:creationId xmlns:p14="http://schemas.microsoft.com/office/powerpoint/2010/main" val="137392893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185</TotalTime>
  <Words>3642</Words>
  <Application>Microsoft Office PowerPoint</Application>
  <PresentationFormat>Panorámica</PresentationFormat>
  <Paragraphs>381</Paragraphs>
  <Slides>27</Slides>
  <Notes>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27</vt:i4>
      </vt:variant>
    </vt:vector>
  </HeadingPairs>
  <TitlesOfParts>
    <vt:vector size="32" baseType="lpstr">
      <vt:lpstr>Arial</vt:lpstr>
      <vt:lpstr>Calibri</vt:lpstr>
      <vt:lpstr>Calibri Light</vt:lpstr>
      <vt:lpstr>Century Gothic</vt:lpstr>
      <vt:lpstr>Tema de Office</vt:lpstr>
      <vt:lpstr>Presentación de PowerPoint</vt:lpstr>
      <vt:lpstr>Presentación de PowerPoint</vt:lpstr>
      <vt:lpstr>INTRODUCCIÓN </vt:lpstr>
      <vt:lpstr>JUSTIFICACIÓN</vt:lpstr>
      <vt:lpstr>1. INICIAMOS CON LA BASE DE DATOS (MySQL Workbench)</vt:lpstr>
      <vt:lpstr>Presentación de PowerPoint</vt:lpstr>
      <vt:lpstr>Presentación de PowerPoint</vt:lpstr>
      <vt:lpstr>Presentación de PowerPoint</vt:lpstr>
      <vt:lpstr>Presentación de PowerPoint</vt:lpstr>
      <vt:lpstr>2. Backend (database.js)</vt:lpstr>
      <vt:lpstr>3. Frontend: interfaz </vt:lpstr>
      <vt:lpstr>Envió de datos del frontend hacia el servidor</vt:lpstr>
      <vt:lpstr>Envió de datos del frontend hacia el servidor</vt:lpstr>
      <vt:lpstr>Diseño y Estilos (styles.css) </vt:lpstr>
      <vt:lpstr>Diseño Responsivo styles.css (Media Queries)</vt:lpstr>
      <vt:lpstr>4. Estructura del Proyecto (Archivos)</vt:lpstr>
      <vt:lpstr>5. Ejecución y Conexión (Terminal)</vt:lpstr>
      <vt:lpstr>6. Interfaz de Registro y Confirmación </vt:lpstr>
      <vt:lpstr>7. Gestión Administrativa (Departamentos y Usuarios)</vt:lpstr>
      <vt:lpstr>8. Persistencia de Datos (MySQL Workbench)</vt:lpstr>
      <vt:lpstr>9. Proceso de Reconocimiento y Registro de Entrada</vt:lpstr>
      <vt:lpstr>Proceso de Reconocimiento y Registro de salida</vt:lpstr>
      <vt:lpstr>10. Panel de Generación de Reportes</vt:lpstr>
      <vt:lpstr>11. Visualización de Resultados y Exportación</vt:lpstr>
      <vt:lpstr>12. Configuración de Acceso Remoto (Red Local)</vt:lpstr>
      <vt:lpstr>CONCLUSIÓN </vt:lpstr>
      <vt:lpstr>Anexo link de la actividad presentada y solicitada por el docente y enviada a la nube de github: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 840 G5</dc:creator>
  <cp:lastModifiedBy>HP 840 G5</cp:lastModifiedBy>
  <cp:revision>3</cp:revision>
  <dcterms:created xsi:type="dcterms:W3CDTF">2026-03-27T18:21:12Z</dcterms:created>
  <dcterms:modified xsi:type="dcterms:W3CDTF">2026-03-27T23:13:04Z</dcterms:modified>
</cp:coreProperties>
</file>