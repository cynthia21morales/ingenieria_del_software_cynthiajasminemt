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61" r:id="rId6"/>
    <p:sldId id="263" r:id="rId7"/>
    <p:sldId id="262" r:id="rId8"/>
    <p:sldId id="264" r:id="rId9"/>
    <p:sldId id="265" r:id="rId10"/>
    <p:sldId id="259" r:id="rId11"/>
    <p:sldId id="266" r:id="rId12"/>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946" y="1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91E35AE-54B7-DFFA-7E4B-8C90340B956A}"/>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EE3F865D-0E35-5235-9715-F11D3C01412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5BA50CA5-AA11-1E2C-8AA5-08FA586FC451}"/>
              </a:ext>
            </a:extLst>
          </p:cNvPr>
          <p:cNvSpPr>
            <a:spLocks noGrp="1"/>
          </p:cNvSpPr>
          <p:nvPr>
            <p:ph type="dt" sz="half" idx="10"/>
          </p:nvPr>
        </p:nvSpPr>
        <p:spPr/>
        <p:txBody>
          <a:bodyPr/>
          <a:lstStyle/>
          <a:p>
            <a:fld id="{1CAC312E-220B-41BA-9872-D6A62FFE16D2}" type="datetimeFigureOut">
              <a:rPr lang="es-MX" smtClean="0"/>
              <a:t>27/03/2026</a:t>
            </a:fld>
            <a:endParaRPr lang="es-MX"/>
          </a:p>
        </p:txBody>
      </p:sp>
      <p:sp>
        <p:nvSpPr>
          <p:cNvPr id="5" name="Marcador de pie de página 4">
            <a:extLst>
              <a:ext uri="{FF2B5EF4-FFF2-40B4-BE49-F238E27FC236}">
                <a16:creationId xmlns:a16="http://schemas.microsoft.com/office/drawing/2014/main" id="{71CF3C27-8135-00C6-B650-9CC7DDD2A81B}"/>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72219579-C343-FF49-4EBE-1D66FD60CE12}"/>
              </a:ext>
            </a:extLst>
          </p:cNvPr>
          <p:cNvSpPr>
            <a:spLocks noGrp="1"/>
          </p:cNvSpPr>
          <p:nvPr>
            <p:ph type="sldNum" sz="quarter" idx="12"/>
          </p:nvPr>
        </p:nvSpPr>
        <p:spPr/>
        <p:txBody>
          <a:bodyPr/>
          <a:lstStyle/>
          <a:p>
            <a:fld id="{62AAD811-EF95-49C1-9DA8-47B48D1E4975}" type="slidenum">
              <a:rPr lang="es-MX" smtClean="0"/>
              <a:t>‹Nº›</a:t>
            </a:fld>
            <a:endParaRPr lang="es-MX"/>
          </a:p>
        </p:txBody>
      </p:sp>
    </p:spTree>
    <p:extLst>
      <p:ext uri="{BB962C8B-B14F-4D97-AF65-F5344CB8AC3E}">
        <p14:creationId xmlns:p14="http://schemas.microsoft.com/office/powerpoint/2010/main" val="15484723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8F2B795-C61E-7F48-FB9F-92498949D55C}"/>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EC90A88F-355B-5826-04C1-DF6E69DF6740}"/>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65116563-3FF2-5A23-62A9-46FB6894EE3B}"/>
              </a:ext>
            </a:extLst>
          </p:cNvPr>
          <p:cNvSpPr>
            <a:spLocks noGrp="1"/>
          </p:cNvSpPr>
          <p:nvPr>
            <p:ph type="dt" sz="half" idx="10"/>
          </p:nvPr>
        </p:nvSpPr>
        <p:spPr/>
        <p:txBody>
          <a:bodyPr/>
          <a:lstStyle/>
          <a:p>
            <a:fld id="{1CAC312E-220B-41BA-9872-D6A62FFE16D2}" type="datetimeFigureOut">
              <a:rPr lang="es-MX" smtClean="0"/>
              <a:t>27/03/2026</a:t>
            </a:fld>
            <a:endParaRPr lang="es-MX"/>
          </a:p>
        </p:txBody>
      </p:sp>
      <p:sp>
        <p:nvSpPr>
          <p:cNvPr id="5" name="Marcador de pie de página 4">
            <a:extLst>
              <a:ext uri="{FF2B5EF4-FFF2-40B4-BE49-F238E27FC236}">
                <a16:creationId xmlns:a16="http://schemas.microsoft.com/office/drawing/2014/main" id="{0E6F5DB4-128B-7EAF-AB41-C01F11797D92}"/>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F5C0C076-C298-0FD7-558F-709E8173CC8C}"/>
              </a:ext>
            </a:extLst>
          </p:cNvPr>
          <p:cNvSpPr>
            <a:spLocks noGrp="1"/>
          </p:cNvSpPr>
          <p:nvPr>
            <p:ph type="sldNum" sz="quarter" idx="12"/>
          </p:nvPr>
        </p:nvSpPr>
        <p:spPr/>
        <p:txBody>
          <a:bodyPr/>
          <a:lstStyle/>
          <a:p>
            <a:fld id="{62AAD811-EF95-49C1-9DA8-47B48D1E4975}" type="slidenum">
              <a:rPr lang="es-MX" smtClean="0"/>
              <a:t>‹Nº›</a:t>
            </a:fld>
            <a:endParaRPr lang="es-MX"/>
          </a:p>
        </p:txBody>
      </p:sp>
    </p:spTree>
    <p:extLst>
      <p:ext uri="{BB962C8B-B14F-4D97-AF65-F5344CB8AC3E}">
        <p14:creationId xmlns:p14="http://schemas.microsoft.com/office/powerpoint/2010/main" val="38195061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2B80CD5-DCAB-48BD-044F-0CC880D58B55}"/>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DE7575CF-34DC-825E-C6AE-E78C515FA7E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241674E5-03E6-08B2-12C4-EE73AA86A2CE}"/>
              </a:ext>
            </a:extLst>
          </p:cNvPr>
          <p:cNvSpPr>
            <a:spLocks noGrp="1"/>
          </p:cNvSpPr>
          <p:nvPr>
            <p:ph type="dt" sz="half" idx="10"/>
          </p:nvPr>
        </p:nvSpPr>
        <p:spPr/>
        <p:txBody>
          <a:bodyPr/>
          <a:lstStyle/>
          <a:p>
            <a:fld id="{1CAC312E-220B-41BA-9872-D6A62FFE16D2}" type="datetimeFigureOut">
              <a:rPr lang="es-MX" smtClean="0"/>
              <a:t>27/03/2026</a:t>
            </a:fld>
            <a:endParaRPr lang="es-MX"/>
          </a:p>
        </p:txBody>
      </p:sp>
      <p:sp>
        <p:nvSpPr>
          <p:cNvPr id="5" name="Marcador de pie de página 4">
            <a:extLst>
              <a:ext uri="{FF2B5EF4-FFF2-40B4-BE49-F238E27FC236}">
                <a16:creationId xmlns:a16="http://schemas.microsoft.com/office/drawing/2014/main" id="{8339DC0D-1557-A17A-47B7-E3D4DB8C10AB}"/>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C6524A0F-25F5-38A1-96BD-6C37C35DF91F}"/>
              </a:ext>
            </a:extLst>
          </p:cNvPr>
          <p:cNvSpPr>
            <a:spLocks noGrp="1"/>
          </p:cNvSpPr>
          <p:nvPr>
            <p:ph type="sldNum" sz="quarter" idx="12"/>
          </p:nvPr>
        </p:nvSpPr>
        <p:spPr/>
        <p:txBody>
          <a:bodyPr/>
          <a:lstStyle/>
          <a:p>
            <a:fld id="{62AAD811-EF95-49C1-9DA8-47B48D1E4975}" type="slidenum">
              <a:rPr lang="es-MX" smtClean="0"/>
              <a:t>‹Nº›</a:t>
            </a:fld>
            <a:endParaRPr lang="es-MX"/>
          </a:p>
        </p:txBody>
      </p:sp>
    </p:spTree>
    <p:extLst>
      <p:ext uri="{BB962C8B-B14F-4D97-AF65-F5344CB8AC3E}">
        <p14:creationId xmlns:p14="http://schemas.microsoft.com/office/powerpoint/2010/main" val="41768466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FA05979-EBC9-D84D-366B-B0FE8C7B1E49}"/>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65A64A7C-63B3-2D96-8515-63C49BFCF53C}"/>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A0A19FF3-26AA-D471-D3DD-7681A09331D6}"/>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8BE08412-A7AC-E747-4E56-97C84F81D9B5}"/>
              </a:ext>
            </a:extLst>
          </p:cNvPr>
          <p:cNvSpPr>
            <a:spLocks noGrp="1"/>
          </p:cNvSpPr>
          <p:nvPr>
            <p:ph type="dt" sz="half" idx="10"/>
          </p:nvPr>
        </p:nvSpPr>
        <p:spPr/>
        <p:txBody>
          <a:bodyPr/>
          <a:lstStyle/>
          <a:p>
            <a:fld id="{1CAC312E-220B-41BA-9872-D6A62FFE16D2}" type="datetimeFigureOut">
              <a:rPr lang="es-MX" smtClean="0"/>
              <a:t>27/03/2026</a:t>
            </a:fld>
            <a:endParaRPr lang="es-MX"/>
          </a:p>
        </p:txBody>
      </p:sp>
      <p:sp>
        <p:nvSpPr>
          <p:cNvPr id="6" name="Marcador de pie de página 5">
            <a:extLst>
              <a:ext uri="{FF2B5EF4-FFF2-40B4-BE49-F238E27FC236}">
                <a16:creationId xmlns:a16="http://schemas.microsoft.com/office/drawing/2014/main" id="{FC39595B-4E4C-8F93-3C18-F7F76E1EB86C}"/>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ABAE3F8C-62B3-5D47-5202-3877ADC14AA1}"/>
              </a:ext>
            </a:extLst>
          </p:cNvPr>
          <p:cNvSpPr>
            <a:spLocks noGrp="1"/>
          </p:cNvSpPr>
          <p:nvPr>
            <p:ph type="sldNum" sz="quarter" idx="12"/>
          </p:nvPr>
        </p:nvSpPr>
        <p:spPr/>
        <p:txBody>
          <a:bodyPr/>
          <a:lstStyle/>
          <a:p>
            <a:fld id="{62AAD811-EF95-49C1-9DA8-47B48D1E4975}" type="slidenum">
              <a:rPr lang="es-MX" smtClean="0"/>
              <a:t>‹Nº›</a:t>
            </a:fld>
            <a:endParaRPr lang="es-MX"/>
          </a:p>
        </p:txBody>
      </p:sp>
    </p:spTree>
    <p:extLst>
      <p:ext uri="{BB962C8B-B14F-4D97-AF65-F5344CB8AC3E}">
        <p14:creationId xmlns:p14="http://schemas.microsoft.com/office/powerpoint/2010/main" val="26138717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5408CED-12C9-C5C3-3FF7-31FBE3F7B07B}"/>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FB5A5727-F71F-374F-9C36-B84D8BE54B5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E71EDDF5-CC4F-18EF-510E-0F7CA7715F42}"/>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3D940359-DD96-12F5-278A-DA3F8BCBDF0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EA99596F-8950-D126-B1D2-B65AAAFB6ACF}"/>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59EAEC46-91AE-82B4-39D8-9788BA879888}"/>
              </a:ext>
            </a:extLst>
          </p:cNvPr>
          <p:cNvSpPr>
            <a:spLocks noGrp="1"/>
          </p:cNvSpPr>
          <p:nvPr>
            <p:ph type="dt" sz="half" idx="10"/>
          </p:nvPr>
        </p:nvSpPr>
        <p:spPr/>
        <p:txBody>
          <a:bodyPr/>
          <a:lstStyle/>
          <a:p>
            <a:fld id="{1CAC312E-220B-41BA-9872-D6A62FFE16D2}" type="datetimeFigureOut">
              <a:rPr lang="es-MX" smtClean="0"/>
              <a:t>27/03/2026</a:t>
            </a:fld>
            <a:endParaRPr lang="es-MX"/>
          </a:p>
        </p:txBody>
      </p:sp>
      <p:sp>
        <p:nvSpPr>
          <p:cNvPr id="8" name="Marcador de pie de página 7">
            <a:extLst>
              <a:ext uri="{FF2B5EF4-FFF2-40B4-BE49-F238E27FC236}">
                <a16:creationId xmlns:a16="http://schemas.microsoft.com/office/drawing/2014/main" id="{273818E2-E0FB-7C7B-185C-F4C13C292CCA}"/>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E10FEA5A-B691-37AC-DBC3-812956368745}"/>
              </a:ext>
            </a:extLst>
          </p:cNvPr>
          <p:cNvSpPr>
            <a:spLocks noGrp="1"/>
          </p:cNvSpPr>
          <p:nvPr>
            <p:ph type="sldNum" sz="quarter" idx="12"/>
          </p:nvPr>
        </p:nvSpPr>
        <p:spPr/>
        <p:txBody>
          <a:bodyPr/>
          <a:lstStyle/>
          <a:p>
            <a:fld id="{62AAD811-EF95-49C1-9DA8-47B48D1E4975}" type="slidenum">
              <a:rPr lang="es-MX" smtClean="0"/>
              <a:t>‹Nº›</a:t>
            </a:fld>
            <a:endParaRPr lang="es-MX"/>
          </a:p>
        </p:txBody>
      </p:sp>
    </p:spTree>
    <p:extLst>
      <p:ext uri="{BB962C8B-B14F-4D97-AF65-F5344CB8AC3E}">
        <p14:creationId xmlns:p14="http://schemas.microsoft.com/office/powerpoint/2010/main" val="22314809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EF0A346-22C5-480E-48E9-62F62D7D5356}"/>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08DDA559-3939-E60A-B802-424D68BEFF71}"/>
              </a:ext>
            </a:extLst>
          </p:cNvPr>
          <p:cNvSpPr>
            <a:spLocks noGrp="1"/>
          </p:cNvSpPr>
          <p:nvPr>
            <p:ph type="dt" sz="half" idx="10"/>
          </p:nvPr>
        </p:nvSpPr>
        <p:spPr/>
        <p:txBody>
          <a:bodyPr/>
          <a:lstStyle/>
          <a:p>
            <a:fld id="{1CAC312E-220B-41BA-9872-D6A62FFE16D2}" type="datetimeFigureOut">
              <a:rPr lang="es-MX" smtClean="0"/>
              <a:t>27/03/2026</a:t>
            </a:fld>
            <a:endParaRPr lang="es-MX"/>
          </a:p>
        </p:txBody>
      </p:sp>
      <p:sp>
        <p:nvSpPr>
          <p:cNvPr id="4" name="Marcador de pie de página 3">
            <a:extLst>
              <a:ext uri="{FF2B5EF4-FFF2-40B4-BE49-F238E27FC236}">
                <a16:creationId xmlns:a16="http://schemas.microsoft.com/office/drawing/2014/main" id="{2C938834-3F70-DB7F-87BB-E1D1EBA491C7}"/>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DC9779AC-B4C4-B38B-33F5-8D266906C661}"/>
              </a:ext>
            </a:extLst>
          </p:cNvPr>
          <p:cNvSpPr>
            <a:spLocks noGrp="1"/>
          </p:cNvSpPr>
          <p:nvPr>
            <p:ph type="sldNum" sz="quarter" idx="12"/>
          </p:nvPr>
        </p:nvSpPr>
        <p:spPr/>
        <p:txBody>
          <a:bodyPr/>
          <a:lstStyle/>
          <a:p>
            <a:fld id="{62AAD811-EF95-49C1-9DA8-47B48D1E4975}" type="slidenum">
              <a:rPr lang="es-MX" smtClean="0"/>
              <a:t>‹Nº›</a:t>
            </a:fld>
            <a:endParaRPr lang="es-MX"/>
          </a:p>
        </p:txBody>
      </p:sp>
    </p:spTree>
    <p:extLst>
      <p:ext uri="{BB962C8B-B14F-4D97-AF65-F5344CB8AC3E}">
        <p14:creationId xmlns:p14="http://schemas.microsoft.com/office/powerpoint/2010/main" val="32804919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421A6A50-E746-98B1-C97B-843CAD12AFB1}"/>
              </a:ext>
            </a:extLst>
          </p:cNvPr>
          <p:cNvSpPr>
            <a:spLocks noGrp="1"/>
          </p:cNvSpPr>
          <p:nvPr>
            <p:ph type="dt" sz="half" idx="10"/>
          </p:nvPr>
        </p:nvSpPr>
        <p:spPr/>
        <p:txBody>
          <a:bodyPr/>
          <a:lstStyle/>
          <a:p>
            <a:fld id="{1CAC312E-220B-41BA-9872-D6A62FFE16D2}" type="datetimeFigureOut">
              <a:rPr lang="es-MX" smtClean="0"/>
              <a:t>27/03/2026</a:t>
            </a:fld>
            <a:endParaRPr lang="es-MX"/>
          </a:p>
        </p:txBody>
      </p:sp>
      <p:sp>
        <p:nvSpPr>
          <p:cNvPr id="3" name="Marcador de pie de página 2">
            <a:extLst>
              <a:ext uri="{FF2B5EF4-FFF2-40B4-BE49-F238E27FC236}">
                <a16:creationId xmlns:a16="http://schemas.microsoft.com/office/drawing/2014/main" id="{389FE6DB-8DC6-D6B7-E4EC-EBB0E1D59F0D}"/>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6F4EA6FA-308A-01F6-31BC-437123B938B9}"/>
              </a:ext>
            </a:extLst>
          </p:cNvPr>
          <p:cNvSpPr>
            <a:spLocks noGrp="1"/>
          </p:cNvSpPr>
          <p:nvPr>
            <p:ph type="sldNum" sz="quarter" idx="12"/>
          </p:nvPr>
        </p:nvSpPr>
        <p:spPr/>
        <p:txBody>
          <a:bodyPr/>
          <a:lstStyle/>
          <a:p>
            <a:fld id="{62AAD811-EF95-49C1-9DA8-47B48D1E4975}" type="slidenum">
              <a:rPr lang="es-MX" smtClean="0"/>
              <a:t>‹Nº›</a:t>
            </a:fld>
            <a:endParaRPr lang="es-MX"/>
          </a:p>
        </p:txBody>
      </p:sp>
    </p:spTree>
    <p:extLst>
      <p:ext uri="{BB962C8B-B14F-4D97-AF65-F5344CB8AC3E}">
        <p14:creationId xmlns:p14="http://schemas.microsoft.com/office/powerpoint/2010/main" val="13631475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390C341-8BF6-D75C-369A-33F6E3551C9C}"/>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3EEEDBFC-42E7-4EE9-2EEE-570EC30CB99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C1DA77E0-C0EC-6B88-AB48-781417944A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B2B3594F-D021-15E8-3118-C407D2DDADE4}"/>
              </a:ext>
            </a:extLst>
          </p:cNvPr>
          <p:cNvSpPr>
            <a:spLocks noGrp="1"/>
          </p:cNvSpPr>
          <p:nvPr>
            <p:ph type="dt" sz="half" idx="10"/>
          </p:nvPr>
        </p:nvSpPr>
        <p:spPr/>
        <p:txBody>
          <a:bodyPr/>
          <a:lstStyle/>
          <a:p>
            <a:fld id="{1CAC312E-220B-41BA-9872-D6A62FFE16D2}" type="datetimeFigureOut">
              <a:rPr lang="es-MX" smtClean="0"/>
              <a:t>27/03/2026</a:t>
            </a:fld>
            <a:endParaRPr lang="es-MX"/>
          </a:p>
        </p:txBody>
      </p:sp>
      <p:sp>
        <p:nvSpPr>
          <p:cNvPr id="6" name="Marcador de pie de página 5">
            <a:extLst>
              <a:ext uri="{FF2B5EF4-FFF2-40B4-BE49-F238E27FC236}">
                <a16:creationId xmlns:a16="http://schemas.microsoft.com/office/drawing/2014/main" id="{FCA89A33-EF4A-E326-BB5C-4432FDE313E3}"/>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76A94247-955E-2693-665B-B27D502A98CD}"/>
              </a:ext>
            </a:extLst>
          </p:cNvPr>
          <p:cNvSpPr>
            <a:spLocks noGrp="1"/>
          </p:cNvSpPr>
          <p:nvPr>
            <p:ph type="sldNum" sz="quarter" idx="12"/>
          </p:nvPr>
        </p:nvSpPr>
        <p:spPr/>
        <p:txBody>
          <a:bodyPr/>
          <a:lstStyle/>
          <a:p>
            <a:fld id="{62AAD811-EF95-49C1-9DA8-47B48D1E4975}" type="slidenum">
              <a:rPr lang="es-MX" smtClean="0"/>
              <a:t>‹Nº›</a:t>
            </a:fld>
            <a:endParaRPr lang="es-MX"/>
          </a:p>
        </p:txBody>
      </p:sp>
    </p:spTree>
    <p:extLst>
      <p:ext uri="{BB962C8B-B14F-4D97-AF65-F5344CB8AC3E}">
        <p14:creationId xmlns:p14="http://schemas.microsoft.com/office/powerpoint/2010/main" val="38764077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FD07D34-2043-F259-EC33-371B56F18AF9}"/>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F30F4DB4-20C5-83D1-85ED-C62EFD7EFF9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9AFEF7A5-61D7-1617-5165-EA6F8366C8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37DD54BE-F5DB-C7A4-1641-BFED89119397}"/>
              </a:ext>
            </a:extLst>
          </p:cNvPr>
          <p:cNvSpPr>
            <a:spLocks noGrp="1"/>
          </p:cNvSpPr>
          <p:nvPr>
            <p:ph type="dt" sz="half" idx="10"/>
          </p:nvPr>
        </p:nvSpPr>
        <p:spPr/>
        <p:txBody>
          <a:bodyPr/>
          <a:lstStyle/>
          <a:p>
            <a:fld id="{1CAC312E-220B-41BA-9872-D6A62FFE16D2}" type="datetimeFigureOut">
              <a:rPr lang="es-MX" smtClean="0"/>
              <a:t>27/03/2026</a:t>
            </a:fld>
            <a:endParaRPr lang="es-MX"/>
          </a:p>
        </p:txBody>
      </p:sp>
      <p:sp>
        <p:nvSpPr>
          <p:cNvPr id="6" name="Marcador de pie de página 5">
            <a:extLst>
              <a:ext uri="{FF2B5EF4-FFF2-40B4-BE49-F238E27FC236}">
                <a16:creationId xmlns:a16="http://schemas.microsoft.com/office/drawing/2014/main" id="{2177CA1E-8BAB-0D14-B340-547B7BA91648}"/>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E3FDA9F8-184B-C9F9-56A7-2E52D537A67C}"/>
              </a:ext>
            </a:extLst>
          </p:cNvPr>
          <p:cNvSpPr>
            <a:spLocks noGrp="1"/>
          </p:cNvSpPr>
          <p:nvPr>
            <p:ph type="sldNum" sz="quarter" idx="12"/>
          </p:nvPr>
        </p:nvSpPr>
        <p:spPr/>
        <p:txBody>
          <a:bodyPr/>
          <a:lstStyle/>
          <a:p>
            <a:fld id="{62AAD811-EF95-49C1-9DA8-47B48D1E4975}" type="slidenum">
              <a:rPr lang="es-MX" smtClean="0"/>
              <a:t>‹Nº›</a:t>
            </a:fld>
            <a:endParaRPr lang="es-MX"/>
          </a:p>
        </p:txBody>
      </p:sp>
    </p:spTree>
    <p:extLst>
      <p:ext uri="{BB962C8B-B14F-4D97-AF65-F5344CB8AC3E}">
        <p14:creationId xmlns:p14="http://schemas.microsoft.com/office/powerpoint/2010/main" val="21588410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F08790-2826-2BFC-D711-ADC9005B9B21}"/>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BE240D1F-14E2-4A8C-168D-18DD0E459080}"/>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E32E4222-8D76-580D-7CCE-ADEA3FFAB694}"/>
              </a:ext>
            </a:extLst>
          </p:cNvPr>
          <p:cNvSpPr>
            <a:spLocks noGrp="1"/>
          </p:cNvSpPr>
          <p:nvPr>
            <p:ph type="dt" sz="half" idx="10"/>
          </p:nvPr>
        </p:nvSpPr>
        <p:spPr/>
        <p:txBody>
          <a:bodyPr/>
          <a:lstStyle/>
          <a:p>
            <a:fld id="{1CAC312E-220B-41BA-9872-D6A62FFE16D2}" type="datetimeFigureOut">
              <a:rPr lang="es-MX" smtClean="0"/>
              <a:t>27/03/2026</a:t>
            </a:fld>
            <a:endParaRPr lang="es-MX"/>
          </a:p>
        </p:txBody>
      </p:sp>
      <p:sp>
        <p:nvSpPr>
          <p:cNvPr id="5" name="Marcador de pie de página 4">
            <a:extLst>
              <a:ext uri="{FF2B5EF4-FFF2-40B4-BE49-F238E27FC236}">
                <a16:creationId xmlns:a16="http://schemas.microsoft.com/office/drawing/2014/main" id="{E52126A5-B596-B2A6-9858-DBEFEA9D9CDC}"/>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0448CF61-DEDC-F259-49ED-00A92403AF23}"/>
              </a:ext>
            </a:extLst>
          </p:cNvPr>
          <p:cNvSpPr>
            <a:spLocks noGrp="1"/>
          </p:cNvSpPr>
          <p:nvPr>
            <p:ph type="sldNum" sz="quarter" idx="12"/>
          </p:nvPr>
        </p:nvSpPr>
        <p:spPr/>
        <p:txBody>
          <a:bodyPr/>
          <a:lstStyle/>
          <a:p>
            <a:fld id="{62AAD811-EF95-49C1-9DA8-47B48D1E4975}" type="slidenum">
              <a:rPr lang="es-MX" smtClean="0"/>
              <a:t>‹Nº›</a:t>
            </a:fld>
            <a:endParaRPr lang="es-MX"/>
          </a:p>
        </p:txBody>
      </p:sp>
    </p:spTree>
    <p:extLst>
      <p:ext uri="{BB962C8B-B14F-4D97-AF65-F5344CB8AC3E}">
        <p14:creationId xmlns:p14="http://schemas.microsoft.com/office/powerpoint/2010/main" val="5660025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0C9A9376-FBEF-1E93-F35B-DAE33A855F31}"/>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20F5AD2F-0FB5-BAB4-B851-7B2BCF45DAA6}"/>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45DE8BE0-0886-CB4B-2428-749DD2F0B5F4}"/>
              </a:ext>
            </a:extLst>
          </p:cNvPr>
          <p:cNvSpPr>
            <a:spLocks noGrp="1"/>
          </p:cNvSpPr>
          <p:nvPr>
            <p:ph type="dt" sz="half" idx="10"/>
          </p:nvPr>
        </p:nvSpPr>
        <p:spPr/>
        <p:txBody>
          <a:bodyPr/>
          <a:lstStyle/>
          <a:p>
            <a:fld id="{1CAC312E-220B-41BA-9872-D6A62FFE16D2}" type="datetimeFigureOut">
              <a:rPr lang="es-MX" smtClean="0"/>
              <a:t>27/03/2026</a:t>
            </a:fld>
            <a:endParaRPr lang="es-MX"/>
          </a:p>
        </p:txBody>
      </p:sp>
      <p:sp>
        <p:nvSpPr>
          <p:cNvPr id="5" name="Marcador de pie de página 4">
            <a:extLst>
              <a:ext uri="{FF2B5EF4-FFF2-40B4-BE49-F238E27FC236}">
                <a16:creationId xmlns:a16="http://schemas.microsoft.com/office/drawing/2014/main" id="{1D2BBC97-8D8A-B237-EF83-624C137B9AB4}"/>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795580BF-7C88-01D2-F297-DE7030E15C9A}"/>
              </a:ext>
            </a:extLst>
          </p:cNvPr>
          <p:cNvSpPr>
            <a:spLocks noGrp="1"/>
          </p:cNvSpPr>
          <p:nvPr>
            <p:ph type="sldNum" sz="quarter" idx="12"/>
          </p:nvPr>
        </p:nvSpPr>
        <p:spPr/>
        <p:txBody>
          <a:bodyPr/>
          <a:lstStyle/>
          <a:p>
            <a:fld id="{62AAD811-EF95-49C1-9DA8-47B48D1E4975}" type="slidenum">
              <a:rPr lang="es-MX" smtClean="0"/>
              <a:t>‹Nº›</a:t>
            </a:fld>
            <a:endParaRPr lang="es-MX"/>
          </a:p>
        </p:txBody>
      </p:sp>
    </p:spTree>
    <p:extLst>
      <p:ext uri="{BB962C8B-B14F-4D97-AF65-F5344CB8AC3E}">
        <p14:creationId xmlns:p14="http://schemas.microsoft.com/office/powerpoint/2010/main" val="12773545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9EDF7106-8F48-DB1A-3151-1A0EAFFF8AE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FE685514-73C9-3292-0237-E997376909B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7553B231-9E63-E7AE-CD1C-5AAA50F21CF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CAC312E-220B-41BA-9872-D6A62FFE16D2}" type="datetimeFigureOut">
              <a:rPr lang="es-MX" smtClean="0"/>
              <a:t>27/03/2026</a:t>
            </a:fld>
            <a:endParaRPr lang="es-MX"/>
          </a:p>
        </p:txBody>
      </p:sp>
      <p:sp>
        <p:nvSpPr>
          <p:cNvPr id="5" name="Marcador de pie de página 4">
            <a:extLst>
              <a:ext uri="{FF2B5EF4-FFF2-40B4-BE49-F238E27FC236}">
                <a16:creationId xmlns:a16="http://schemas.microsoft.com/office/drawing/2014/main" id="{F0A4761E-F2F0-2679-5694-04914BCB320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92DFAB92-18BB-4710-6770-14307A36CEC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AAD811-EF95-49C1-9DA8-47B48D1E4975}" type="slidenum">
              <a:rPr lang="es-MX" smtClean="0"/>
              <a:t>‹Nº›</a:t>
            </a:fld>
            <a:endParaRPr lang="es-MX"/>
          </a:p>
        </p:txBody>
      </p:sp>
    </p:spTree>
    <p:extLst>
      <p:ext uri="{BB962C8B-B14F-4D97-AF65-F5344CB8AC3E}">
        <p14:creationId xmlns:p14="http://schemas.microsoft.com/office/powerpoint/2010/main" val="26199637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12" Type="http://schemas.openxmlformats.org/officeDocument/2006/relationships/image" Target="../media/image17.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16.png"/><Relationship Id="rId5" Type="http://schemas.openxmlformats.org/officeDocument/2006/relationships/image" Target="../media/image11.png"/><Relationship Id="rId10" Type="http://schemas.openxmlformats.org/officeDocument/2006/relationships/image" Target="../media/image15.png"/><Relationship Id="rId4" Type="http://schemas.openxmlformats.org/officeDocument/2006/relationships/image" Target="../media/image10.png"/><Relationship Id="rId9"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9">
            <a:extLst>
              <a:ext uri="{FF2B5EF4-FFF2-40B4-BE49-F238E27FC236}">
                <a16:creationId xmlns:a16="http://schemas.microsoft.com/office/drawing/2014/main" id="{C2805109-83A0-CD4E-4F10-B64088928B26}"/>
              </a:ext>
            </a:extLst>
          </p:cNvPr>
          <p:cNvSpPr txBox="1"/>
          <p:nvPr/>
        </p:nvSpPr>
        <p:spPr>
          <a:xfrm>
            <a:off x="2707444" y="1891611"/>
            <a:ext cx="7644625" cy="4924425"/>
          </a:xfrm>
          <a:prstGeom prst="rect">
            <a:avLst/>
          </a:prstGeom>
        </p:spPr>
        <p:txBody>
          <a:bodyPr wrap="square" lIns="0" tIns="0" rIns="0" bIns="0" rtlCol="0" anchor="t">
            <a:spAutoFit/>
          </a:bodyPr>
          <a:ls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dirty="0">
                <a:solidFill>
                  <a:srgbClr val="000000"/>
                </a:solidFill>
                <a:latin typeface="Century Gothic" panose="020B0502020202020204" pitchFamily="34" charset="0"/>
                <a:ea typeface="Glacial Indifference"/>
                <a:cs typeface="Glacial Indifference"/>
                <a:sym typeface="Glacial Indifference"/>
              </a:rPr>
              <a:t>Materia:</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Ingenieria del software </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Semestre: </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Sexto Semestre </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Especialidad:</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Ingeniería en Sistemas Computacionales.</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Nombre del alumno:</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Cynthia Jasmine Morales Torres / 231260014</a:t>
            </a:r>
          </a:p>
          <a:p>
            <a:pPr algn="ctr"/>
            <a:r>
              <a:rPr lang="es-MX" sz="1600" dirty="0">
                <a:latin typeface="Century Gothic" panose="020B0502020202020204" pitchFamily="34" charset="0"/>
              </a:rPr>
              <a:t>Luis Daniel Gómez Santizo / 231260017</a:t>
            </a:r>
          </a:p>
          <a:p>
            <a:pPr algn="ctr"/>
            <a:r>
              <a:rPr lang="es-MX" sz="1600" dirty="0">
                <a:latin typeface="Century Gothic" panose="020B0502020202020204" pitchFamily="34" charset="0"/>
              </a:rPr>
              <a:t>Ángel de Jesús Mazariegos Ortiz / 231260003</a:t>
            </a:r>
          </a:p>
          <a:p>
            <a:pPr algn="ctr"/>
            <a:r>
              <a:rPr lang="es-MX" sz="1600" dirty="0">
                <a:latin typeface="Century Gothic" panose="020B0502020202020204" pitchFamily="34" charset="0"/>
              </a:rPr>
              <a:t>Simone belén López Ramírez / 231260010</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Nombre del docente: </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Ing. Francisco Javier Mingo Velazquez </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Nombre del trabajo:</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4.3 Reporte de practica</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Frontera Comalapa, Chiapas. A 29 de Marzo del 2026</a:t>
            </a:r>
          </a:p>
        </p:txBody>
      </p:sp>
      <p:grpSp>
        <p:nvGrpSpPr>
          <p:cNvPr id="5" name="Group 2">
            <a:extLst>
              <a:ext uri="{FF2B5EF4-FFF2-40B4-BE49-F238E27FC236}">
                <a16:creationId xmlns:a16="http://schemas.microsoft.com/office/drawing/2014/main" id="{5B1EAA32-A003-74F9-A7F8-46434A210294}"/>
              </a:ext>
            </a:extLst>
          </p:cNvPr>
          <p:cNvGrpSpPr/>
          <p:nvPr/>
        </p:nvGrpSpPr>
        <p:grpSpPr>
          <a:xfrm>
            <a:off x="827871" y="41963"/>
            <a:ext cx="2709599" cy="1198176"/>
            <a:chOff x="0" y="0"/>
            <a:chExt cx="3073400" cy="1308100"/>
          </a:xfrm>
        </p:grpSpPr>
        <p:sp>
          <p:nvSpPr>
            <p:cNvPr id="11" name="Freeform 3">
              <a:extLst>
                <a:ext uri="{FF2B5EF4-FFF2-40B4-BE49-F238E27FC236}">
                  <a16:creationId xmlns:a16="http://schemas.microsoft.com/office/drawing/2014/main" id="{1AA9EB4F-84CE-C7FD-9850-CA438AEFC3A6}"/>
                </a:ext>
              </a:extLst>
            </p:cNvPr>
            <p:cNvSpPr/>
            <p:nvPr/>
          </p:nvSpPr>
          <p:spPr>
            <a:xfrm>
              <a:off x="0" y="0"/>
              <a:ext cx="3073400" cy="1308100"/>
            </a:xfrm>
            <a:custGeom>
              <a:avLst/>
              <a:gdLst/>
              <a:ahLst/>
              <a:cxnLst/>
              <a:rect l="l" t="t" r="r" b="b"/>
              <a:pathLst>
                <a:path w="3073400" h="1308100">
                  <a:moveTo>
                    <a:pt x="0" y="0"/>
                  </a:moveTo>
                  <a:lnTo>
                    <a:pt x="3073400" y="0"/>
                  </a:lnTo>
                  <a:lnTo>
                    <a:pt x="3073400" y="1308100"/>
                  </a:lnTo>
                  <a:lnTo>
                    <a:pt x="0" y="1308100"/>
                  </a:lnTo>
                  <a:lnTo>
                    <a:pt x="0" y="0"/>
                  </a:lnTo>
                  <a:close/>
                </a:path>
              </a:pathLst>
            </a:custGeom>
            <a:blipFill>
              <a:blip r:embed="rId2"/>
              <a:stretch>
                <a:fillRect/>
              </a:stretch>
            </a:blipFill>
          </p:spPr>
          <p:txBody>
            <a:bodyPr/>
            <a:lstStyle/>
            <a:p>
              <a:endParaRPr lang="es-MX"/>
            </a:p>
          </p:txBody>
        </p:sp>
      </p:grpSp>
      <p:grpSp>
        <p:nvGrpSpPr>
          <p:cNvPr id="6" name="Group 4">
            <a:extLst>
              <a:ext uri="{FF2B5EF4-FFF2-40B4-BE49-F238E27FC236}">
                <a16:creationId xmlns:a16="http://schemas.microsoft.com/office/drawing/2014/main" id="{3AFEF480-3F7C-514C-750B-CC1DD3B6B759}"/>
              </a:ext>
            </a:extLst>
          </p:cNvPr>
          <p:cNvGrpSpPr/>
          <p:nvPr/>
        </p:nvGrpSpPr>
        <p:grpSpPr>
          <a:xfrm>
            <a:off x="9491858" y="117558"/>
            <a:ext cx="1872270" cy="1245240"/>
            <a:chOff x="0" y="0"/>
            <a:chExt cx="1981200" cy="1625600"/>
          </a:xfrm>
        </p:grpSpPr>
        <p:sp>
          <p:nvSpPr>
            <p:cNvPr id="10" name="Freeform 5">
              <a:extLst>
                <a:ext uri="{FF2B5EF4-FFF2-40B4-BE49-F238E27FC236}">
                  <a16:creationId xmlns:a16="http://schemas.microsoft.com/office/drawing/2014/main" id="{B84E5C5A-AC42-1BF3-6F60-6556E17C7145}"/>
                </a:ext>
              </a:extLst>
            </p:cNvPr>
            <p:cNvSpPr/>
            <p:nvPr/>
          </p:nvSpPr>
          <p:spPr>
            <a:xfrm>
              <a:off x="0" y="0"/>
              <a:ext cx="1981200" cy="1625600"/>
            </a:xfrm>
            <a:custGeom>
              <a:avLst/>
              <a:gdLst/>
              <a:ahLst/>
              <a:cxnLst/>
              <a:rect l="l" t="t" r="r" b="b"/>
              <a:pathLst>
                <a:path w="1981200" h="1625600">
                  <a:moveTo>
                    <a:pt x="0" y="0"/>
                  </a:moveTo>
                  <a:lnTo>
                    <a:pt x="1981200" y="0"/>
                  </a:lnTo>
                  <a:lnTo>
                    <a:pt x="1981200" y="1625600"/>
                  </a:lnTo>
                  <a:lnTo>
                    <a:pt x="0" y="1625600"/>
                  </a:lnTo>
                  <a:lnTo>
                    <a:pt x="0" y="0"/>
                  </a:lnTo>
                  <a:close/>
                </a:path>
              </a:pathLst>
            </a:custGeom>
            <a:blipFill>
              <a:blip r:embed="rId3"/>
              <a:stretch>
                <a:fillRect/>
              </a:stretch>
            </a:blipFill>
          </p:spPr>
          <p:txBody>
            <a:bodyPr/>
            <a:lstStyle/>
            <a:p>
              <a:endParaRPr lang="es-MX"/>
            </a:p>
          </p:txBody>
        </p:sp>
      </p:grpSp>
      <p:grpSp>
        <p:nvGrpSpPr>
          <p:cNvPr id="7" name="Group 6">
            <a:extLst>
              <a:ext uri="{FF2B5EF4-FFF2-40B4-BE49-F238E27FC236}">
                <a16:creationId xmlns:a16="http://schemas.microsoft.com/office/drawing/2014/main" id="{EAB66CE1-FEF4-B08C-AB05-7DCB357FC163}"/>
              </a:ext>
            </a:extLst>
          </p:cNvPr>
          <p:cNvGrpSpPr/>
          <p:nvPr/>
        </p:nvGrpSpPr>
        <p:grpSpPr>
          <a:xfrm>
            <a:off x="4318551" y="280632"/>
            <a:ext cx="3812814" cy="709234"/>
            <a:chOff x="0" y="0"/>
            <a:chExt cx="4343400" cy="901700"/>
          </a:xfrm>
        </p:grpSpPr>
        <p:sp>
          <p:nvSpPr>
            <p:cNvPr id="9" name="Freeform 7">
              <a:extLst>
                <a:ext uri="{FF2B5EF4-FFF2-40B4-BE49-F238E27FC236}">
                  <a16:creationId xmlns:a16="http://schemas.microsoft.com/office/drawing/2014/main" id="{7E768D43-13FF-1267-6AE4-6C84F6E0FA71}"/>
                </a:ext>
              </a:extLst>
            </p:cNvPr>
            <p:cNvSpPr/>
            <p:nvPr/>
          </p:nvSpPr>
          <p:spPr>
            <a:xfrm>
              <a:off x="0" y="0"/>
              <a:ext cx="4343400" cy="901700"/>
            </a:xfrm>
            <a:custGeom>
              <a:avLst/>
              <a:gdLst/>
              <a:ahLst/>
              <a:cxnLst/>
              <a:rect l="l" t="t" r="r" b="b"/>
              <a:pathLst>
                <a:path w="4343400" h="901700">
                  <a:moveTo>
                    <a:pt x="0" y="0"/>
                  </a:moveTo>
                  <a:lnTo>
                    <a:pt x="4343400" y="0"/>
                  </a:lnTo>
                  <a:lnTo>
                    <a:pt x="4343400" y="901700"/>
                  </a:lnTo>
                  <a:lnTo>
                    <a:pt x="0" y="901700"/>
                  </a:lnTo>
                  <a:lnTo>
                    <a:pt x="0" y="0"/>
                  </a:lnTo>
                  <a:close/>
                </a:path>
              </a:pathLst>
            </a:custGeom>
            <a:blipFill>
              <a:blip r:embed="rId4"/>
              <a:stretch>
                <a:fillRect/>
              </a:stretch>
            </a:blipFill>
          </p:spPr>
          <p:txBody>
            <a:bodyPr/>
            <a:lstStyle/>
            <a:p>
              <a:endParaRPr lang="es-MX"/>
            </a:p>
          </p:txBody>
        </p:sp>
      </p:grpSp>
      <p:sp>
        <p:nvSpPr>
          <p:cNvPr id="8" name="CuadroTexto 10">
            <a:extLst>
              <a:ext uri="{FF2B5EF4-FFF2-40B4-BE49-F238E27FC236}">
                <a16:creationId xmlns:a16="http://schemas.microsoft.com/office/drawing/2014/main" id="{28595230-F10A-F0EA-1440-1E0CDA21C1CC}"/>
              </a:ext>
            </a:extLst>
          </p:cNvPr>
          <p:cNvSpPr txBox="1"/>
          <p:nvPr/>
        </p:nvSpPr>
        <p:spPr>
          <a:xfrm>
            <a:off x="2809611" y="1039632"/>
            <a:ext cx="7181850" cy="646331"/>
          </a:xfrm>
          <a:prstGeom prst="rect">
            <a:avLst/>
          </a:prstGeom>
          <a:noFill/>
        </p:spPr>
        <p:txBody>
          <a:bodyPr wrap="square" rtlCol="0">
            <a:spAutoFit/>
          </a:bodyPr>
          <a:ls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s-MX" b="1" dirty="0">
                <a:latin typeface="Century Gothic" panose="020B0502020202020204" pitchFamily="34" charset="0"/>
              </a:rPr>
              <a:t>Instituto tecnológico de frontera Comalapa</a:t>
            </a:r>
          </a:p>
          <a:p>
            <a:pPr algn="ctr"/>
            <a:r>
              <a:rPr lang="es-MX" b="1" dirty="0">
                <a:latin typeface="Century Gothic" panose="020B0502020202020204" pitchFamily="34" charset="0"/>
              </a:rPr>
              <a:t>Modalidad Mixta</a:t>
            </a:r>
          </a:p>
        </p:txBody>
      </p:sp>
    </p:spTree>
    <p:extLst>
      <p:ext uri="{BB962C8B-B14F-4D97-AF65-F5344CB8AC3E}">
        <p14:creationId xmlns:p14="http://schemas.microsoft.com/office/powerpoint/2010/main" val="12475246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2AE3246-6272-B5E9-9833-41236BEAF7AD}"/>
              </a:ext>
            </a:extLst>
          </p:cNvPr>
          <p:cNvSpPr>
            <a:spLocks noGrp="1"/>
          </p:cNvSpPr>
          <p:nvPr>
            <p:ph type="title"/>
          </p:nvPr>
        </p:nvSpPr>
        <p:spPr/>
        <p:txBody>
          <a:bodyPr/>
          <a:lstStyle/>
          <a:p>
            <a:r>
              <a:rPr lang="es-MX" dirty="0">
                <a:latin typeface="Century Gothic" panose="020B0502020202020204" pitchFamily="34" charset="0"/>
              </a:rPr>
              <a:t>INTRODUCCIÓN</a:t>
            </a:r>
          </a:p>
        </p:txBody>
      </p:sp>
      <p:sp>
        <p:nvSpPr>
          <p:cNvPr id="3" name="Marcador de contenido 2">
            <a:extLst>
              <a:ext uri="{FF2B5EF4-FFF2-40B4-BE49-F238E27FC236}">
                <a16:creationId xmlns:a16="http://schemas.microsoft.com/office/drawing/2014/main" id="{C7C6EF8E-D1B8-DB80-9B35-B4D49C622B26}"/>
              </a:ext>
            </a:extLst>
          </p:cNvPr>
          <p:cNvSpPr>
            <a:spLocks noGrp="1"/>
          </p:cNvSpPr>
          <p:nvPr>
            <p:ph idx="1"/>
          </p:nvPr>
        </p:nvSpPr>
        <p:spPr/>
        <p:txBody>
          <a:bodyPr>
            <a:normAutofit/>
          </a:bodyPr>
          <a:lstStyle/>
          <a:p>
            <a:pPr marL="0" indent="0" algn="just">
              <a:buNone/>
            </a:pPr>
            <a:r>
              <a:rPr lang="es-MX" sz="2000" dirty="0">
                <a:latin typeface="Century Gothic" panose="020B0502020202020204" pitchFamily="34" charset="0"/>
              </a:rPr>
              <a:t>Este ejercicio detalla el funcionamiento integral del </a:t>
            </a:r>
            <a:r>
              <a:rPr lang="es-MX" sz="2000" b="1" dirty="0">
                <a:latin typeface="Century Gothic" panose="020B0502020202020204" pitchFamily="34" charset="0"/>
              </a:rPr>
              <a:t>Sistema de Reconocimiento Facial</a:t>
            </a:r>
            <a:r>
              <a:rPr lang="es-MX" sz="2000" dirty="0">
                <a:latin typeface="Century Gothic" panose="020B0502020202020204" pitchFamily="34" charset="0"/>
              </a:rPr>
              <a:t>, abarcando desde la administración de la base de datos de usuarios hasta la obtención de reportes de asistencia. El enfoque principal es demostrar la viabilidad operativa del software, asegurando que el flujo de información, desde la captura biométrica hasta el documento administrativo final, sea preciso, seguro y automatizado.</a:t>
            </a:r>
            <a:endParaRPr lang="es-MX" sz="3200" dirty="0">
              <a:latin typeface="Century Gothic" panose="020B0502020202020204" pitchFamily="34" charset="0"/>
            </a:endParaRPr>
          </a:p>
        </p:txBody>
      </p:sp>
    </p:spTree>
    <p:extLst>
      <p:ext uri="{BB962C8B-B14F-4D97-AF65-F5344CB8AC3E}">
        <p14:creationId xmlns:p14="http://schemas.microsoft.com/office/powerpoint/2010/main" val="36477173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F492343-8D74-A99E-5F0F-66CD1F8FF03C}"/>
              </a:ext>
            </a:extLst>
          </p:cNvPr>
          <p:cNvSpPr>
            <a:spLocks noGrp="1"/>
          </p:cNvSpPr>
          <p:nvPr>
            <p:ph type="title"/>
          </p:nvPr>
        </p:nvSpPr>
        <p:spPr/>
        <p:txBody>
          <a:bodyPr/>
          <a:lstStyle/>
          <a:p>
            <a:r>
              <a:rPr lang="es-MX" dirty="0">
                <a:latin typeface="Century Gothic" panose="020B0502020202020204" pitchFamily="34" charset="0"/>
              </a:rPr>
              <a:t>JUSTIFICACIÓN</a:t>
            </a:r>
          </a:p>
        </p:txBody>
      </p:sp>
      <p:sp>
        <p:nvSpPr>
          <p:cNvPr id="3" name="Marcador de contenido 2">
            <a:extLst>
              <a:ext uri="{FF2B5EF4-FFF2-40B4-BE49-F238E27FC236}">
                <a16:creationId xmlns:a16="http://schemas.microsoft.com/office/drawing/2014/main" id="{08907032-1F44-9C11-0C65-ED873D51ED56}"/>
              </a:ext>
            </a:extLst>
          </p:cNvPr>
          <p:cNvSpPr>
            <a:spLocks noGrp="1"/>
          </p:cNvSpPr>
          <p:nvPr>
            <p:ph idx="1"/>
          </p:nvPr>
        </p:nvSpPr>
        <p:spPr/>
        <p:txBody>
          <a:bodyPr>
            <a:normAutofit/>
          </a:bodyPr>
          <a:lstStyle/>
          <a:p>
            <a:pPr marL="0" indent="0" algn="just">
              <a:buNone/>
            </a:pPr>
            <a:r>
              <a:rPr lang="es-MX" sz="1800" dirty="0">
                <a:latin typeface="Century Gothic" panose="020B0502020202020204" pitchFamily="34" charset="0"/>
              </a:rPr>
              <a:t>La transición hacia sistemas biométricos responde a la necesidad de modernizar el control de estancias, eliminando la manipulación manual de registros. Este ejercicio se justifica en la validación de tres pilares fundamentales:</a:t>
            </a:r>
          </a:p>
          <a:p>
            <a:pPr algn="just">
              <a:buFont typeface="Arial" panose="020B0604020202020204" pitchFamily="34" charset="0"/>
              <a:buChar char="•"/>
            </a:pPr>
            <a:r>
              <a:rPr lang="es-MX" sz="1800" b="1" dirty="0">
                <a:latin typeface="Century Gothic" panose="020B0502020202020204" pitchFamily="34" charset="0"/>
              </a:rPr>
              <a:t>Integridad de Datos:</a:t>
            </a:r>
            <a:r>
              <a:rPr lang="es-MX" sz="1800" dirty="0">
                <a:latin typeface="Century Gothic" panose="020B0502020202020204" pitchFamily="34" charset="0"/>
              </a:rPr>
              <a:t> Garantizar que cada perfil de usuario esté correctamente vinculado a sus rasgos faciales.</a:t>
            </a:r>
          </a:p>
          <a:p>
            <a:pPr algn="just">
              <a:buFont typeface="Arial" panose="020B0604020202020204" pitchFamily="34" charset="0"/>
              <a:buChar char="•"/>
            </a:pPr>
            <a:r>
              <a:rPr lang="es-MX" sz="1800" b="1" dirty="0">
                <a:latin typeface="Century Gothic" panose="020B0502020202020204" pitchFamily="34" charset="0"/>
              </a:rPr>
              <a:t>Eficiencia en el Marcaje:</a:t>
            </a:r>
            <a:r>
              <a:rPr lang="es-MX" sz="1800" dirty="0">
                <a:latin typeface="Century Gothic" panose="020B0502020202020204" pitchFamily="34" charset="0"/>
              </a:rPr>
              <a:t> Minimizar el tiempo de registro mediante un algoritmo de alta velocidad.</a:t>
            </a:r>
          </a:p>
          <a:p>
            <a:pPr algn="just">
              <a:buFont typeface="Arial" panose="020B0604020202020204" pitchFamily="34" charset="0"/>
              <a:buChar char="•"/>
            </a:pPr>
            <a:r>
              <a:rPr lang="es-MX" sz="1800" b="1" dirty="0">
                <a:latin typeface="Century Gothic" panose="020B0502020202020204" pitchFamily="34" charset="0"/>
              </a:rPr>
              <a:t>Disponibilidad de Información:</a:t>
            </a:r>
            <a:r>
              <a:rPr lang="es-MX" sz="1800" dirty="0">
                <a:latin typeface="Century Gothic" panose="020B0502020202020204" pitchFamily="34" charset="0"/>
              </a:rPr>
              <a:t> Asegurar que los datos recolectados sean exportables y útiles para auditorías inmediatas.</a:t>
            </a:r>
          </a:p>
          <a:p>
            <a:pPr marL="0" indent="0" algn="just">
              <a:buNone/>
            </a:pPr>
            <a:endParaRPr lang="es-MX" dirty="0">
              <a:latin typeface="Century Gothic" panose="020B0502020202020204" pitchFamily="34" charset="0"/>
            </a:endParaRPr>
          </a:p>
        </p:txBody>
      </p:sp>
    </p:spTree>
    <p:extLst>
      <p:ext uri="{BB962C8B-B14F-4D97-AF65-F5344CB8AC3E}">
        <p14:creationId xmlns:p14="http://schemas.microsoft.com/office/powerpoint/2010/main" val="42425779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564BEFD-E7DE-6E17-8F0D-03EB51053CD8}"/>
              </a:ext>
            </a:extLst>
          </p:cNvPr>
          <p:cNvSpPr>
            <a:spLocks noGrp="1"/>
          </p:cNvSpPr>
          <p:nvPr>
            <p:ph type="title"/>
          </p:nvPr>
        </p:nvSpPr>
        <p:spPr>
          <a:xfrm>
            <a:off x="838200" y="365125"/>
            <a:ext cx="6829425" cy="168275"/>
          </a:xfrm>
        </p:spPr>
        <p:txBody>
          <a:bodyPr>
            <a:noAutofit/>
          </a:bodyPr>
          <a:lstStyle/>
          <a:p>
            <a:r>
              <a:rPr lang="es-MX" sz="3200" dirty="0">
                <a:latin typeface="Century Gothic" panose="020B0502020202020204" pitchFamily="34" charset="0"/>
              </a:rPr>
              <a:t>1.Gestión y Registro de Usuarios:</a:t>
            </a:r>
          </a:p>
        </p:txBody>
      </p:sp>
      <p:sp>
        <p:nvSpPr>
          <p:cNvPr id="4" name="Rectangle 1">
            <a:extLst>
              <a:ext uri="{FF2B5EF4-FFF2-40B4-BE49-F238E27FC236}">
                <a16:creationId xmlns:a16="http://schemas.microsoft.com/office/drawing/2014/main" id="{9163E41E-7F69-BC78-7BA3-7E2DA3DDC6B8}"/>
              </a:ext>
            </a:extLst>
          </p:cNvPr>
          <p:cNvSpPr>
            <a:spLocks noChangeArrowheads="1"/>
          </p:cNvSpPr>
          <p:nvPr/>
        </p:nvSpPr>
        <p:spPr bwMode="auto">
          <a:xfrm>
            <a:off x="714375" y="757421"/>
            <a:ext cx="968286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s-MX" altLang="es-MX" sz="1200" dirty="0">
                <a:latin typeface="Century Gothic" panose="020B0502020202020204" pitchFamily="34" charset="0"/>
              </a:rPr>
              <a:t>Esta fase es el "corazón" del sistema, ya que sin un registro previo, el reconocimiento facial no tiene un punto de comparación. El proceso de capacitación mostró los siguientes pasos clave:</a:t>
            </a:r>
          </a:p>
        </p:txBody>
      </p:sp>
      <p:sp>
        <p:nvSpPr>
          <p:cNvPr id="6" name="CuadroTexto 5">
            <a:extLst>
              <a:ext uri="{FF2B5EF4-FFF2-40B4-BE49-F238E27FC236}">
                <a16:creationId xmlns:a16="http://schemas.microsoft.com/office/drawing/2014/main" id="{00427C33-05E3-EBAC-34D7-4F3B99618875}"/>
              </a:ext>
            </a:extLst>
          </p:cNvPr>
          <p:cNvSpPr txBox="1"/>
          <p:nvPr/>
        </p:nvSpPr>
        <p:spPr>
          <a:xfrm>
            <a:off x="-9525" y="1321522"/>
            <a:ext cx="3169426" cy="1107996"/>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lang="es-MX" altLang="es-MX" sz="1100" dirty="0">
                <a:latin typeface="Century Gothic" panose="020B0502020202020204" pitchFamily="34" charset="0"/>
              </a:rPr>
              <a:t>Captura de Datos Biográficos: El administrador ingresa la información de identificación del usuario en el formulario. Esto permite que cada rostro esté vinculado a una identidad legal única en la base de datos.</a:t>
            </a:r>
          </a:p>
        </p:txBody>
      </p:sp>
      <p:sp>
        <p:nvSpPr>
          <p:cNvPr id="8" name="CuadroTexto 7">
            <a:extLst>
              <a:ext uri="{FF2B5EF4-FFF2-40B4-BE49-F238E27FC236}">
                <a16:creationId xmlns:a16="http://schemas.microsoft.com/office/drawing/2014/main" id="{FCC6AB9F-64FC-D001-86E7-568BD3187B57}"/>
              </a:ext>
            </a:extLst>
          </p:cNvPr>
          <p:cNvSpPr txBox="1"/>
          <p:nvPr/>
        </p:nvSpPr>
        <p:spPr>
          <a:xfrm>
            <a:off x="3356363" y="1288303"/>
            <a:ext cx="3543300" cy="830997"/>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lang="es-MX" altLang="es-MX" sz="1200" dirty="0">
                <a:latin typeface="Century Gothic" panose="020B0502020202020204" pitchFamily="34" charset="0"/>
              </a:rPr>
              <a:t>Enrolamiento Facial (Captura de Imagen): Se utiliza la cámara del dispositivo para tomar una fotografía clara del usuario o ya sea una imagen.</a:t>
            </a:r>
          </a:p>
        </p:txBody>
      </p:sp>
      <p:sp>
        <p:nvSpPr>
          <p:cNvPr id="10" name="CuadroTexto 9">
            <a:extLst>
              <a:ext uri="{FF2B5EF4-FFF2-40B4-BE49-F238E27FC236}">
                <a16:creationId xmlns:a16="http://schemas.microsoft.com/office/drawing/2014/main" id="{D17862F8-5636-187C-F990-2BADBA8703F1}"/>
              </a:ext>
            </a:extLst>
          </p:cNvPr>
          <p:cNvSpPr txBox="1"/>
          <p:nvPr/>
        </p:nvSpPr>
        <p:spPr>
          <a:xfrm>
            <a:off x="3178950" y="4040404"/>
            <a:ext cx="4056546" cy="1015663"/>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tabLst/>
            </a:pPr>
            <a:r>
              <a:rPr lang="es-MX" altLang="es-MX" sz="1200" dirty="0">
                <a:latin typeface="Century Gothic" panose="020B0502020202020204" pitchFamily="34" charset="0"/>
              </a:rPr>
              <a:t>Almacenamiento en Base de Datos: Una vez completado el formulario y capturada la imagen, se presiona el botón de registro. Los datos se envían al servidor y la imagen se guarda en un campo tipo BLOB en la tabla </a:t>
            </a:r>
            <a:r>
              <a:rPr lang="es-MX" altLang="es-MX" sz="1200" dirty="0" err="1">
                <a:latin typeface="Century Gothic" panose="020B0502020202020204" pitchFamily="34" charset="0"/>
              </a:rPr>
              <a:t>tabla_usuarios</a:t>
            </a:r>
            <a:r>
              <a:rPr lang="es-MX" altLang="es-MX" sz="1200" dirty="0">
                <a:latin typeface="Century Gothic" panose="020B0502020202020204" pitchFamily="34" charset="0"/>
              </a:rPr>
              <a:t> de MySQL.</a:t>
            </a:r>
          </a:p>
        </p:txBody>
      </p:sp>
      <p:sp>
        <p:nvSpPr>
          <p:cNvPr id="12" name="CuadroTexto 11">
            <a:extLst>
              <a:ext uri="{FF2B5EF4-FFF2-40B4-BE49-F238E27FC236}">
                <a16:creationId xmlns:a16="http://schemas.microsoft.com/office/drawing/2014/main" id="{26FA0DCA-8BCB-DC17-C28C-618872F9E53D}"/>
              </a:ext>
            </a:extLst>
          </p:cNvPr>
          <p:cNvSpPr txBox="1"/>
          <p:nvPr/>
        </p:nvSpPr>
        <p:spPr>
          <a:xfrm>
            <a:off x="7324725" y="1219086"/>
            <a:ext cx="4591050" cy="1015663"/>
          </a:xfrm>
          <a:prstGeom prst="rect">
            <a:avLst/>
          </a:prstGeom>
          <a:noFill/>
        </p:spPr>
        <p:txBody>
          <a:bodyPr wrap="square">
            <a:spAutoFit/>
          </a:bodyPr>
          <a:lstStyle/>
          <a:p>
            <a:pPr eaLnBrk="0" fontAlgn="base" hangingPunct="0">
              <a:spcBef>
                <a:spcPct val="0"/>
              </a:spcBef>
              <a:spcAft>
                <a:spcPct val="0"/>
              </a:spcAft>
              <a:buFontTx/>
              <a:buChar char="•"/>
            </a:pPr>
            <a:r>
              <a:rPr lang="es-MX" altLang="es-MX" sz="1200" dirty="0">
                <a:latin typeface="Century Gothic" panose="020B0502020202020204" pitchFamily="34" charset="0"/>
              </a:rPr>
              <a:t>Validación de Registro: El sistema arroja una notificación de confirmación. A partir de este momento, el usuario queda "activo" en el sistema, permitiendo que la cámara lo reconozca instantáneamente cuando intente marcar su entrada o salida.</a:t>
            </a:r>
          </a:p>
        </p:txBody>
      </p:sp>
      <p:sp>
        <p:nvSpPr>
          <p:cNvPr id="14" name="CuadroTexto 13">
            <a:extLst>
              <a:ext uri="{FF2B5EF4-FFF2-40B4-BE49-F238E27FC236}">
                <a16:creationId xmlns:a16="http://schemas.microsoft.com/office/drawing/2014/main" id="{A6A8124F-E7E1-EEA7-7EBC-5F4FC0A3EF76}"/>
              </a:ext>
            </a:extLst>
          </p:cNvPr>
          <p:cNvSpPr txBox="1"/>
          <p:nvPr/>
        </p:nvSpPr>
        <p:spPr>
          <a:xfrm>
            <a:off x="7467600" y="3895725"/>
            <a:ext cx="3971925" cy="1092607"/>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endParaRPr lang="es-MX" altLang="es-MX" sz="1000" dirty="0">
              <a:latin typeface="Century Gothic" panose="020B0502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s-MX" altLang="es-MX" sz="1100" dirty="0">
                <a:latin typeface="Century Gothic" panose="020B0502020202020204" pitchFamily="34" charset="0"/>
              </a:rPr>
              <a:t>Nota técnica: Durante la adecuación, se verificó que el registro sea fluido tanto en computadoras de escritorio como en dispositivos móviles, asegurando que la gestión de usuarios sea versátil y no dependa de un solo equipo.</a:t>
            </a:r>
          </a:p>
        </p:txBody>
      </p:sp>
      <p:pic>
        <p:nvPicPr>
          <p:cNvPr id="16" name="Imagen 15">
            <a:extLst>
              <a:ext uri="{FF2B5EF4-FFF2-40B4-BE49-F238E27FC236}">
                <a16:creationId xmlns:a16="http://schemas.microsoft.com/office/drawing/2014/main" id="{A66940F6-DBA2-8F9F-2EC8-D8F6AE4CE4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8673" y="2458575"/>
            <a:ext cx="2843936" cy="1882326"/>
          </a:xfrm>
          <a:prstGeom prst="rect">
            <a:avLst/>
          </a:prstGeom>
        </p:spPr>
      </p:pic>
      <p:pic>
        <p:nvPicPr>
          <p:cNvPr id="18" name="Imagen 17">
            <a:extLst>
              <a:ext uri="{FF2B5EF4-FFF2-40B4-BE49-F238E27FC236}">
                <a16:creationId xmlns:a16="http://schemas.microsoft.com/office/drawing/2014/main" id="{587460C4-F8D2-538E-BAF8-A50C5D18E21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52825" y="2117520"/>
            <a:ext cx="3308796" cy="1861198"/>
          </a:xfrm>
          <a:prstGeom prst="rect">
            <a:avLst/>
          </a:prstGeom>
        </p:spPr>
      </p:pic>
      <p:pic>
        <p:nvPicPr>
          <p:cNvPr id="20" name="Imagen 19">
            <a:extLst>
              <a:ext uri="{FF2B5EF4-FFF2-40B4-BE49-F238E27FC236}">
                <a16:creationId xmlns:a16="http://schemas.microsoft.com/office/drawing/2014/main" id="{60FA223A-90C8-ECFE-A41E-AE288C50BC4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52825" y="5109518"/>
            <a:ext cx="3031067" cy="1704975"/>
          </a:xfrm>
          <a:prstGeom prst="rect">
            <a:avLst/>
          </a:prstGeom>
        </p:spPr>
      </p:pic>
      <p:pic>
        <p:nvPicPr>
          <p:cNvPr id="22" name="Imagen 21">
            <a:extLst>
              <a:ext uri="{FF2B5EF4-FFF2-40B4-BE49-F238E27FC236}">
                <a16:creationId xmlns:a16="http://schemas.microsoft.com/office/drawing/2014/main" id="{98ABD33E-A8D3-C070-0AE5-DE2CB8B95309}"/>
              </a:ext>
            </a:extLst>
          </p:cNvPr>
          <p:cNvPicPr>
            <a:picLocks noChangeAspect="1"/>
          </p:cNvPicPr>
          <p:nvPr/>
        </p:nvPicPr>
        <p:blipFill>
          <a:blip r:embed="rId5">
            <a:extLst>
              <a:ext uri="{28A0092B-C50C-407E-A947-70E740481C1C}">
                <a14:useLocalDpi xmlns:a14="http://schemas.microsoft.com/office/drawing/2010/main" val="0"/>
              </a:ext>
            </a:extLst>
          </a:blip>
          <a:srcRect l="53125" b="71111"/>
          <a:stretch/>
        </p:blipFill>
        <p:spPr>
          <a:xfrm>
            <a:off x="7647470" y="2409138"/>
            <a:ext cx="4288232" cy="1486587"/>
          </a:xfrm>
          <a:prstGeom prst="rect">
            <a:avLst/>
          </a:prstGeom>
        </p:spPr>
      </p:pic>
      <p:sp>
        <p:nvSpPr>
          <p:cNvPr id="23" name="CuadroTexto 22">
            <a:extLst>
              <a:ext uri="{FF2B5EF4-FFF2-40B4-BE49-F238E27FC236}">
                <a16:creationId xmlns:a16="http://schemas.microsoft.com/office/drawing/2014/main" id="{C5EA85A3-9CC9-DA01-E05C-B419759AF23D}"/>
              </a:ext>
            </a:extLst>
          </p:cNvPr>
          <p:cNvSpPr txBox="1"/>
          <p:nvPr/>
        </p:nvSpPr>
        <p:spPr>
          <a:xfrm>
            <a:off x="50253" y="1274468"/>
            <a:ext cx="3109648" cy="3226170"/>
          </a:xfrm>
          <a:prstGeom prst="rect">
            <a:avLst/>
          </a:prstGeom>
          <a:noFill/>
          <a:ln>
            <a:solidFill>
              <a:schemeClr val="tx1"/>
            </a:solidFill>
          </a:ln>
        </p:spPr>
        <p:txBody>
          <a:bodyPr wrap="square" rtlCol="0">
            <a:spAutoFit/>
          </a:bodyPr>
          <a:lstStyle/>
          <a:p>
            <a:endParaRPr lang="es-MX" dirty="0"/>
          </a:p>
        </p:txBody>
      </p:sp>
      <p:sp>
        <p:nvSpPr>
          <p:cNvPr id="24" name="Rectángulo 23">
            <a:extLst>
              <a:ext uri="{FF2B5EF4-FFF2-40B4-BE49-F238E27FC236}">
                <a16:creationId xmlns:a16="http://schemas.microsoft.com/office/drawing/2014/main" id="{A04B14AA-D9F0-4A08-22DF-6B4527C8A271}"/>
              </a:ext>
            </a:extLst>
          </p:cNvPr>
          <p:cNvSpPr/>
          <p:nvPr/>
        </p:nvSpPr>
        <p:spPr>
          <a:xfrm>
            <a:off x="3211029" y="1288303"/>
            <a:ext cx="3971925" cy="556969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5" name="Rectángulo 24">
            <a:extLst>
              <a:ext uri="{FF2B5EF4-FFF2-40B4-BE49-F238E27FC236}">
                <a16:creationId xmlns:a16="http://schemas.microsoft.com/office/drawing/2014/main" id="{81FABA47-74E1-32FE-F87C-7FC34BEB2CE2}"/>
              </a:ext>
            </a:extLst>
          </p:cNvPr>
          <p:cNvSpPr/>
          <p:nvPr/>
        </p:nvSpPr>
        <p:spPr>
          <a:xfrm>
            <a:off x="7324725" y="1274468"/>
            <a:ext cx="4817022" cy="276593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29978785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29D69B41-8962-FE67-6566-84E3D78B99F8}"/>
              </a:ext>
            </a:extLst>
          </p:cNvPr>
          <p:cNvSpPr>
            <a:spLocks noGrp="1"/>
          </p:cNvSpPr>
          <p:nvPr>
            <p:ph type="title"/>
          </p:nvPr>
        </p:nvSpPr>
        <p:spPr>
          <a:xfrm>
            <a:off x="838200" y="365125"/>
            <a:ext cx="6829425" cy="168275"/>
          </a:xfrm>
        </p:spPr>
        <p:txBody>
          <a:bodyPr>
            <a:noAutofit/>
          </a:bodyPr>
          <a:lstStyle/>
          <a:p>
            <a:r>
              <a:rPr lang="es-MX" sz="3200" dirty="0">
                <a:latin typeface="Century Gothic" panose="020B0502020202020204" pitchFamily="34" charset="0"/>
              </a:rPr>
              <a:t>Gestión y Registro de Usuarios:</a:t>
            </a:r>
          </a:p>
        </p:txBody>
      </p:sp>
      <p:pic>
        <p:nvPicPr>
          <p:cNvPr id="6" name="Imagen 5">
            <a:extLst>
              <a:ext uri="{FF2B5EF4-FFF2-40B4-BE49-F238E27FC236}">
                <a16:creationId xmlns:a16="http://schemas.microsoft.com/office/drawing/2014/main" id="{D99AE0EA-B24E-08B7-95ED-80DDB4946F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12186" y="2712541"/>
            <a:ext cx="2717537" cy="1528614"/>
          </a:xfrm>
          <a:prstGeom prst="rect">
            <a:avLst/>
          </a:prstGeom>
        </p:spPr>
      </p:pic>
      <p:pic>
        <p:nvPicPr>
          <p:cNvPr id="10" name="Imagen 9">
            <a:extLst>
              <a:ext uri="{FF2B5EF4-FFF2-40B4-BE49-F238E27FC236}">
                <a16:creationId xmlns:a16="http://schemas.microsoft.com/office/drawing/2014/main" id="{D1C51C39-335E-BB75-DABD-ECA4B63437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7352" y="4693635"/>
            <a:ext cx="3198649" cy="1799240"/>
          </a:xfrm>
          <a:prstGeom prst="rect">
            <a:avLst/>
          </a:prstGeom>
        </p:spPr>
      </p:pic>
      <p:pic>
        <p:nvPicPr>
          <p:cNvPr id="12" name="Imagen 11">
            <a:extLst>
              <a:ext uri="{FF2B5EF4-FFF2-40B4-BE49-F238E27FC236}">
                <a16:creationId xmlns:a16="http://schemas.microsoft.com/office/drawing/2014/main" id="{770B3EC5-D402-179F-FDEC-FA7D9B7C227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74727" y="4774252"/>
            <a:ext cx="2790878" cy="1569869"/>
          </a:xfrm>
          <a:prstGeom prst="rect">
            <a:avLst/>
          </a:prstGeom>
        </p:spPr>
      </p:pic>
      <p:pic>
        <p:nvPicPr>
          <p:cNvPr id="14" name="Imagen 13">
            <a:extLst>
              <a:ext uri="{FF2B5EF4-FFF2-40B4-BE49-F238E27FC236}">
                <a16:creationId xmlns:a16="http://schemas.microsoft.com/office/drawing/2014/main" id="{319A51D8-9FDD-A0D0-502F-D35528F35E06}"/>
              </a:ext>
            </a:extLst>
          </p:cNvPr>
          <p:cNvPicPr>
            <a:picLocks noChangeAspect="1"/>
          </p:cNvPicPr>
          <p:nvPr/>
        </p:nvPicPr>
        <p:blipFill>
          <a:blip r:embed="rId5">
            <a:extLst>
              <a:ext uri="{28A0092B-C50C-407E-A947-70E740481C1C}">
                <a14:useLocalDpi xmlns:a14="http://schemas.microsoft.com/office/drawing/2010/main" val="0"/>
              </a:ext>
            </a:extLst>
          </a:blip>
          <a:srcRect l="55330" b="73548"/>
          <a:stretch/>
        </p:blipFill>
        <p:spPr>
          <a:xfrm>
            <a:off x="9418720" y="5142475"/>
            <a:ext cx="2706603" cy="901560"/>
          </a:xfrm>
          <a:prstGeom prst="rect">
            <a:avLst/>
          </a:prstGeom>
        </p:spPr>
      </p:pic>
      <p:pic>
        <p:nvPicPr>
          <p:cNvPr id="16" name="Imagen 15">
            <a:extLst>
              <a:ext uri="{FF2B5EF4-FFF2-40B4-BE49-F238E27FC236}">
                <a16:creationId xmlns:a16="http://schemas.microsoft.com/office/drawing/2014/main" id="{6063FEC3-A44D-4C34-930B-F3E8A92CBBF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94272" y="2642769"/>
            <a:ext cx="3087161" cy="1736528"/>
          </a:xfrm>
          <a:prstGeom prst="rect">
            <a:avLst/>
          </a:prstGeom>
        </p:spPr>
      </p:pic>
      <p:pic>
        <p:nvPicPr>
          <p:cNvPr id="18" name="Imagen 17">
            <a:extLst>
              <a:ext uri="{FF2B5EF4-FFF2-40B4-BE49-F238E27FC236}">
                <a16:creationId xmlns:a16="http://schemas.microsoft.com/office/drawing/2014/main" id="{5345B1E9-886D-58B3-5445-74A53CCA65E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569441" y="2644065"/>
            <a:ext cx="2790878" cy="1569869"/>
          </a:xfrm>
          <a:prstGeom prst="rect">
            <a:avLst/>
          </a:prstGeom>
        </p:spPr>
      </p:pic>
      <p:pic>
        <p:nvPicPr>
          <p:cNvPr id="20" name="Imagen 19">
            <a:extLst>
              <a:ext uri="{FF2B5EF4-FFF2-40B4-BE49-F238E27FC236}">
                <a16:creationId xmlns:a16="http://schemas.microsoft.com/office/drawing/2014/main" id="{690525E2-54A1-80D6-D7D8-70CED5FC8A3E}"/>
              </a:ext>
            </a:extLst>
          </p:cNvPr>
          <p:cNvPicPr>
            <a:picLocks noChangeAspect="1"/>
          </p:cNvPicPr>
          <p:nvPr/>
        </p:nvPicPr>
        <p:blipFill>
          <a:blip r:embed="rId8">
            <a:extLst>
              <a:ext uri="{28A0092B-C50C-407E-A947-70E740481C1C}">
                <a14:useLocalDpi xmlns:a14="http://schemas.microsoft.com/office/drawing/2010/main" val="0"/>
              </a:ext>
            </a:extLst>
          </a:blip>
          <a:srcRect l="57107" b="75161"/>
          <a:stretch/>
        </p:blipFill>
        <p:spPr>
          <a:xfrm>
            <a:off x="9357606" y="2931585"/>
            <a:ext cx="2767717" cy="901560"/>
          </a:xfrm>
          <a:prstGeom prst="rect">
            <a:avLst/>
          </a:prstGeom>
        </p:spPr>
      </p:pic>
      <p:pic>
        <p:nvPicPr>
          <p:cNvPr id="22" name="Imagen 21">
            <a:extLst>
              <a:ext uri="{FF2B5EF4-FFF2-40B4-BE49-F238E27FC236}">
                <a16:creationId xmlns:a16="http://schemas.microsoft.com/office/drawing/2014/main" id="{5F2B8054-8EBA-04AF-C6DF-A55E2382904B}"/>
              </a:ext>
            </a:extLst>
          </p:cNvPr>
          <p:cNvPicPr>
            <a:picLocks noChangeAspect="1"/>
          </p:cNvPicPr>
          <p:nvPr/>
        </p:nvPicPr>
        <p:blipFill>
          <a:blip r:embed="rId9">
            <a:extLst>
              <a:ext uri="{28A0092B-C50C-407E-A947-70E740481C1C}">
                <a14:useLocalDpi xmlns:a14="http://schemas.microsoft.com/office/drawing/2010/main" val="0"/>
              </a:ext>
            </a:extLst>
          </a:blip>
          <a:srcRect l="57344" b="76389"/>
          <a:stretch/>
        </p:blipFill>
        <p:spPr>
          <a:xfrm>
            <a:off x="9229724" y="1079644"/>
            <a:ext cx="2895599" cy="901560"/>
          </a:xfrm>
          <a:prstGeom prst="rect">
            <a:avLst/>
          </a:prstGeom>
        </p:spPr>
      </p:pic>
      <p:pic>
        <p:nvPicPr>
          <p:cNvPr id="24" name="Imagen 23">
            <a:extLst>
              <a:ext uri="{FF2B5EF4-FFF2-40B4-BE49-F238E27FC236}">
                <a16:creationId xmlns:a16="http://schemas.microsoft.com/office/drawing/2014/main" id="{1FE7C983-AD7C-E43E-B033-AFC1B0CCB7D2}"/>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391905" y="757417"/>
            <a:ext cx="3087161" cy="1736527"/>
          </a:xfrm>
          <a:prstGeom prst="rect">
            <a:avLst/>
          </a:prstGeom>
        </p:spPr>
      </p:pic>
      <p:pic>
        <p:nvPicPr>
          <p:cNvPr id="26" name="Imagen 25">
            <a:extLst>
              <a:ext uri="{FF2B5EF4-FFF2-40B4-BE49-F238E27FC236}">
                <a16:creationId xmlns:a16="http://schemas.microsoft.com/office/drawing/2014/main" id="{50C9442B-0280-6F20-2B06-49DF23B0B164}"/>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3569441" y="785855"/>
            <a:ext cx="2852370" cy="1604458"/>
          </a:xfrm>
          <a:prstGeom prst="rect">
            <a:avLst/>
          </a:prstGeom>
        </p:spPr>
      </p:pic>
      <p:pic>
        <p:nvPicPr>
          <p:cNvPr id="28" name="Imagen 27">
            <a:extLst>
              <a:ext uri="{FF2B5EF4-FFF2-40B4-BE49-F238E27FC236}">
                <a16:creationId xmlns:a16="http://schemas.microsoft.com/office/drawing/2014/main" id="{3AC538E5-AE7E-309C-C771-4FD79E096B1A}"/>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6512186" y="893778"/>
            <a:ext cx="2609951" cy="1468098"/>
          </a:xfrm>
          <a:prstGeom prst="rect">
            <a:avLst/>
          </a:prstGeom>
        </p:spPr>
      </p:pic>
      <p:pic>
        <p:nvPicPr>
          <p:cNvPr id="29" name="Imagen 28">
            <a:extLst>
              <a:ext uri="{FF2B5EF4-FFF2-40B4-BE49-F238E27FC236}">
                <a16:creationId xmlns:a16="http://schemas.microsoft.com/office/drawing/2014/main" id="{7F2DDB35-5F46-BFC6-7C07-E39C9CAD36A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671388" y="4774253"/>
            <a:ext cx="2790878" cy="1569869"/>
          </a:xfrm>
          <a:prstGeom prst="rect">
            <a:avLst/>
          </a:prstGeom>
        </p:spPr>
      </p:pic>
    </p:spTree>
    <p:extLst>
      <p:ext uri="{BB962C8B-B14F-4D97-AF65-F5344CB8AC3E}">
        <p14:creationId xmlns:p14="http://schemas.microsoft.com/office/powerpoint/2010/main" val="36144699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86B7536-1E69-6BE0-DB50-6E7DF4219F43}"/>
              </a:ext>
            </a:extLst>
          </p:cNvPr>
          <p:cNvSpPr>
            <a:spLocks noGrp="1"/>
          </p:cNvSpPr>
          <p:nvPr>
            <p:ph type="title"/>
          </p:nvPr>
        </p:nvSpPr>
        <p:spPr/>
        <p:txBody>
          <a:bodyPr/>
          <a:lstStyle/>
          <a:p>
            <a:r>
              <a:rPr lang="es-MX" dirty="0"/>
              <a:t>Gestión de usuario</a:t>
            </a:r>
          </a:p>
        </p:txBody>
      </p:sp>
      <p:sp>
        <p:nvSpPr>
          <p:cNvPr id="3" name="Marcador de contenido 2">
            <a:extLst>
              <a:ext uri="{FF2B5EF4-FFF2-40B4-BE49-F238E27FC236}">
                <a16:creationId xmlns:a16="http://schemas.microsoft.com/office/drawing/2014/main" id="{21FB0BAF-8549-12BE-83E2-BA2140286F5F}"/>
              </a:ext>
            </a:extLst>
          </p:cNvPr>
          <p:cNvSpPr>
            <a:spLocks noGrp="1"/>
          </p:cNvSpPr>
          <p:nvPr>
            <p:ph idx="1"/>
          </p:nvPr>
        </p:nvSpPr>
        <p:spPr>
          <a:xfrm>
            <a:off x="838200" y="1825625"/>
            <a:ext cx="10515600" cy="841375"/>
          </a:xfrm>
        </p:spPr>
        <p:txBody>
          <a:bodyPr>
            <a:normAutofit/>
          </a:bodyPr>
          <a:lstStyle/>
          <a:p>
            <a:pPr marL="0" indent="0" algn="just">
              <a:buNone/>
            </a:pPr>
            <a:r>
              <a:rPr lang="es-MX" sz="1400" dirty="0">
                <a:latin typeface="Century Gothic" panose="020B0502020202020204" pitchFamily="34" charset="0"/>
              </a:rPr>
              <a:t>Se instruyó sobre el formulario de alta, donde se vinculan datos como nombre, cargo e ID con la captura del rostro (</a:t>
            </a:r>
            <a:r>
              <a:rPr lang="es-MX" sz="1400" b="1" dirty="0">
                <a:latin typeface="Century Gothic" panose="020B0502020202020204" pitchFamily="34" charset="0"/>
              </a:rPr>
              <a:t>BLOB</a:t>
            </a:r>
            <a:r>
              <a:rPr lang="es-MX" sz="1400" dirty="0">
                <a:latin typeface="Century Gothic" panose="020B0502020202020204" pitchFamily="34" charset="0"/>
              </a:rPr>
              <a:t> en la base de datos). Las imágenes muestran al personal aprendiendo a registrar a un nuevo usuario para que el sistema pueda reconocerlo posteriormente.</a:t>
            </a:r>
          </a:p>
        </p:txBody>
      </p:sp>
      <p:pic>
        <p:nvPicPr>
          <p:cNvPr id="5" name="Imagen 4">
            <a:extLst>
              <a:ext uri="{FF2B5EF4-FFF2-40B4-BE49-F238E27FC236}">
                <a16:creationId xmlns:a16="http://schemas.microsoft.com/office/drawing/2014/main" id="{D7F19BDE-B84B-D822-906F-00D9606FDD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500" y="2952749"/>
            <a:ext cx="5689597" cy="3200399"/>
          </a:xfrm>
          <a:prstGeom prst="rect">
            <a:avLst/>
          </a:prstGeom>
        </p:spPr>
      </p:pic>
      <p:pic>
        <p:nvPicPr>
          <p:cNvPr id="7" name="Imagen 6">
            <a:extLst>
              <a:ext uri="{FF2B5EF4-FFF2-40B4-BE49-F238E27FC236}">
                <a16:creationId xmlns:a16="http://schemas.microsoft.com/office/drawing/2014/main" id="{1949285C-CEFA-3DBB-46F2-10395264F5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2952748"/>
            <a:ext cx="5689600" cy="3200400"/>
          </a:xfrm>
          <a:prstGeom prst="rect">
            <a:avLst/>
          </a:prstGeom>
        </p:spPr>
      </p:pic>
    </p:spTree>
    <p:extLst>
      <p:ext uri="{BB962C8B-B14F-4D97-AF65-F5344CB8AC3E}">
        <p14:creationId xmlns:p14="http://schemas.microsoft.com/office/powerpoint/2010/main" val="7042426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8BE065F-1A5D-A4EE-84B8-D85867B372C7}"/>
              </a:ext>
            </a:extLst>
          </p:cNvPr>
          <p:cNvSpPr>
            <a:spLocks noGrp="1"/>
          </p:cNvSpPr>
          <p:nvPr>
            <p:ph type="title"/>
          </p:nvPr>
        </p:nvSpPr>
        <p:spPr>
          <a:xfrm>
            <a:off x="523875" y="212726"/>
            <a:ext cx="8543925" cy="315912"/>
          </a:xfrm>
        </p:spPr>
        <p:txBody>
          <a:bodyPr>
            <a:normAutofit fontScale="90000"/>
          </a:bodyPr>
          <a:lstStyle/>
          <a:p>
            <a:r>
              <a:rPr lang="es-MX" sz="3200" dirty="0">
                <a:latin typeface="Century Gothic" panose="020B0502020202020204" pitchFamily="34" charset="0"/>
              </a:rPr>
              <a:t>2. Operación de Marcaje (Entrada y Salida)</a:t>
            </a:r>
          </a:p>
        </p:txBody>
      </p:sp>
      <p:sp>
        <p:nvSpPr>
          <p:cNvPr id="3" name="Marcador de contenido 2">
            <a:extLst>
              <a:ext uri="{FF2B5EF4-FFF2-40B4-BE49-F238E27FC236}">
                <a16:creationId xmlns:a16="http://schemas.microsoft.com/office/drawing/2014/main" id="{04917CC1-F0D3-94CF-BD6E-858A69DA33B1}"/>
              </a:ext>
            </a:extLst>
          </p:cNvPr>
          <p:cNvSpPr>
            <a:spLocks noGrp="1"/>
          </p:cNvSpPr>
          <p:nvPr>
            <p:ph idx="1"/>
          </p:nvPr>
        </p:nvSpPr>
        <p:spPr>
          <a:xfrm>
            <a:off x="647700" y="635000"/>
            <a:ext cx="10515600" cy="315912"/>
          </a:xfrm>
        </p:spPr>
        <p:txBody>
          <a:bodyPr>
            <a:normAutofit/>
          </a:bodyPr>
          <a:lstStyle/>
          <a:p>
            <a:pPr marL="0" indent="0">
              <a:buNone/>
            </a:pPr>
            <a:r>
              <a:rPr lang="es-MX" sz="1400" dirty="0">
                <a:latin typeface="Century Gothic" panose="020B0502020202020204" pitchFamily="34" charset="0"/>
              </a:rPr>
              <a:t>Esta fase de la capacitación se centra en la interacción diaria del docente con la interfaz de reconocimiento.</a:t>
            </a:r>
          </a:p>
        </p:txBody>
      </p:sp>
      <p:sp>
        <p:nvSpPr>
          <p:cNvPr id="5" name="CuadroTexto 4">
            <a:extLst>
              <a:ext uri="{FF2B5EF4-FFF2-40B4-BE49-F238E27FC236}">
                <a16:creationId xmlns:a16="http://schemas.microsoft.com/office/drawing/2014/main" id="{A4BB245A-6B2D-4D27-8206-7EC36D4DF5C6}"/>
              </a:ext>
            </a:extLst>
          </p:cNvPr>
          <p:cNvSpPr txBox="1"/>
          <p:nvPr/>
        </p:nvSpPr>
        <p:spPr>
          <a:xfrm>
            <a:off x="1767840" y="1079174"/>
            <a:ext cx="3771900" cy="1384995"/>
          </a:xfrm>
          <a:prstGeom prst="rect">
            <a:avLst/>
          </a:prstGeom>
          <a:noFill/>
        </p:spPr>
        <p:txBody>
          <a:bodyPr wrap="square">
            <a:spAutoFit/>
          </a:bodyPr>
          <a:lstStyle/>
          <a:p>
            <a:pPr algn="just"/>
            <a:r>
              <a:rPr lang="es-MX" sz="1200" b="1" dirty="0">
                <a:latin typeface="Century Gothic" panose="020B0502020202020204" pitchFamily="34" charset="0"/>
              </a:rPr>
              <a:t>Detección y Reconocimiento en Tiempo Real</a:t>
            </a:r>
            <a:r>
              <a:rPr lang="es-MX" sz="1200" dirty="0">
                <a:latin typeface="Century Gothic" panose="020B0502020202020204" pitchFamily="34" charset="0"/>
              </a:rPr>
              <a:t>: Se muestra cómo el docente debe posicionarse frente a la cámara. El sistema utiliza un recuadro de enfoque que detecta el rostro y, en milisegundos, compara los rasgos con la base de datos para mostrar el nombre del usuario (ej. </a:t>
            </a:r>
            <a:r>
              <a:rPr lang="es-MX" sz="1200" b="1" dirty="0">
                <a:latin typeface="Century Gothic" panose="020B0502020202020204" pitchFamily="34" charset="0"/>
              </a:rPr>
              <a:t>"Cynthia"</a:t>
            </a:r>
            <a:r>
              <a:rPr lang="es-MX" sz="1200" dirty="0">
                <a:latin typeface="Century Gothic" panose="020B0502020202020204" pitchFamily="34" charset="0"/>
              </a:rPr>
              <a:t> o </a:t>
            </a:r>
            <a:r>
              <a:rPr lang="es-MX" sz="1200" b="1" dirty="0">
                <a:latin typeface="Century Gothic" panose="020B0502020202020204" pitchFamily="34" charset="0"/>
              </a:rPr>
              <a:t>"Luis Daniel"</a:t>
            </a:r>
            <a:r>
              <a:rPr lang="es-MX" sz="1200" dirty="0">
                <a:latin typeface="Century Gothic" panose="020B0502020202020204" pitchFamily="34" charset="0"/>
              </a:rPr>
              <a:t>) y su ID.</a:t>
            </a:r>
          </a:p>
        </p:txBody>
      </p:sp>
      <p:pic>
        <p:nvPicPr>
          <p:cNvPr id="7" name="Imagen 6">
            <a:extLst>
              <a:ext uri="{FF2B5EF4-FFF2-40B4-BE49-F238E27FC236}">
                <a16:creationId xmlns:a16="http://schemas.microsoft.com/office/drawing/2014/main" id="{35680A3D-966B-3F70-C8EA-EE34C79D72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86915" y="2414441"/>
            <a:ext cx="3249845" cy="1828038"/>
          </a:xfrm>
          <a:prstGeom prst="rect">
            <a:avLst/>
          </a:prstGeom>
        </p:spPr>
      </p:pic>
      <p:pic>
        <p:nvPicPr>
          <p:cNvPr id="9" name="Imagen 8">
            <a:extLst>
              <a:ext uri="{FF2B5EF4-FFF2-40B4-BE49-F238E27FC236}">
                <a16:creationId xmlns:a16="http://schemas.microsoft.com/office/drawing/2014/main" id="{F2E20A5E-C1EA-3057-28E8-0530311B3E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86913" y="4408095"/>
            <a:ext cx="3249847" cy="1828039"/>
          </a:xfrm>
          <a:prstGeom prst="rect">
            <a:avLst/>
          </a:prstGeom>
        </p:spPr>
      </p:pic>
      <p:sp>
        <p:nvSpPr>
          <p:cNvPr id="11" name="CuadroTexto 10">
            <a:extLst>
              <a:ext uri="{FF2B5EF4-FFF2-40B4-BE49-F238E27FC236}">
                <a16:creationId xmlns:a16="http://schemas.microsoft.com/office/drawing/2014/main" id="{387FC63F-0EA0-631A-C63F-B737812BE3BB}"/>
              </a:ext>
            </a:extLst>
          </p:cNvPr>
          <p:cNvSpPr txBox="1"/>
          <p:nvPr/>
        </p:nvSpPr>
        <p:spPr>
          <a:xfrm>
            <a:off x="5539740" y="1057274"/>
            <a:ext cx="3665220" cy="1200329"/>
          </a:xfrm>
          <a:prstGeom prst="rect">
            <a:avLst/>
          </a:prstGeom>
          <a:noFill/>
        </p:spPr>
        <p:txBody>
          <a:bodyPr wrap="square">
            <a:spAutoFit/>
          </a:bodyPr>
          <a:lstStyle/>
          <a:p>
            <a:pPr algn="just"/>
            <a:r>
              <a:rPr lang="es-MX" sz="1200" b="1" dirty="0">
                <a:latin typeface="Century Gothic" panose="020B0502020202020204" pitchFamily="34" charset="0"/>
              </a:rPr>
              <a:t>Acción de Registro de Entrada</a:t>
            </a:r>
            <a:r>
              <a:rPr lang="es-MX" sz="1200" dirty="0">
                <a:latin typeface="Century Gothic" panose="020B0502020202020204" pitchFamily="34" charset="0"/>
              </a:rPr>
              <a:t>: El usuario aprende a identificar el botón verde de </a:t>
            </a:r>
            <a:r>
              <a:rPr lang="es-MX" sz="1200" b="1" dirty="0">
                <a:latin typeface="Century Gothic" panose="020B0502020202020204" pitchFamily="34" charset="0"/>
              </a:rPr>
              <a:t>"REGISTRAR ENTRADA"</a:t>
            </a:r>
            <a:r>
              <a:rPr lang="es-MX" sz="1200" dirty="0">
                <a:latin typeface="Century Gothic" panose="020B0502020202020204" pitchFamily="34" charset="0"/>
              </a:rPr>
              <a:t>. Al presionarlo, el sistema captura la hora exacta del servidor y la vincula al ID del docente, generando una notificación visual de "Registro exitoso".</a:t>
            </a:r>
          </a:p>
        </p:txBody>
      </p:sp>
      <p:pic>
        <p:nvPicPr>
          <p:cNvPr id="12" name="Imagen 11">
            <a:extLst>
              <a:ext uri="{FF2B5EF4-FFF2-40B4-BE49-F238E27FC236}">
                <a16:creationId xmlns:a16="http://schemas.microsoft.com/office/drawing/2014/main" id="{E77B7CD9-DE71-4C24-5442-CF1698911602}"/>
              </a:ext>
            </a:extLst>
          </p:cNvPr>
          <p:cNvPicPr>
            <a:picLocks noChangeAspect="1"/>
          </p:cNvPicPr>
          <p:nvPr/>
        </p:nvPicPr>
        <p:blipFill>
          <a:blip r:embed="rId2">
            <a:extLst>
              <a:ext uri="{28A0092B-C50C-407E-A947-70E740481C1C}">
                <a14:useLocalDpi xmlns:a14="http://schemas.microsoft.com/office/drawing/2010/main" val="0"/>
              </a:ext>
            </a:extLst>
          </a:blip>
          <a:srcRect l="69541" b="71172"/>
          <a:stretch/>
        </p:blipFill>
        <p:spPr>
          <a:xfrm>
            <a:off x="5740400" y="2475806"/>
            <a:ext cx="2981240" cy="1587140"/>
          </a:xfrm>
          <a:prstGeom prst="rect">
            <a:avLst/>
          </a:prstGeom>
        </p:spPr>
      </p:pic>
      <p:pic>
        <p:nvPicPr>
          <p:cNvPr id="13" name="Imagen 12">
            <a:extLst>
              <a:ext uri="{FF2B5EF4-FFF2-40B4-BE49-F238E27FC236}">
                <a16:creationId xmlns:a16="http://schemas.microsoft.com/office/drawing/2014/main" id="{F46EF9F7-1B90-0BC6-512E-950BEB18A5BB}"/>
              </a:ext>
            </a:extLst>
          </p:cNvPr>
          <p:cNvPicPr>
            <a:picLocks noChangeAspect="1"/>
          </p:cNvPicPr>
          <p:nvPr/>
        </p:nvPicPr>
        <p:blipFill>
          <a:blip r:embed="rId3">
            <a:extLst>
              <a:ext uri="{28A0092B-C50C-407E-A947-70E740481C1C}">
                <a14:useLocalDpi xmlns:a14="http://schemas.microsoft.com/office/drawing/2010/main" val="0"/>
              </a:ext>
            </a:extLst>
          </a:blip>
          <a:srcRect l="70125" b="68907"/>
          <a:stretch/>
        </p:blipFill>
        <p:spPr>
          <a:xfrm>
            <a:off x="5740400" y="4540142"/>
            <a:ext cx="3114633" cy="1823438"/>
          </a:xfrm>
          <a:prstGeom prst="rect">
            <a:avLst/>
          </a:prstGeom>
        </p:spPr>
      </p:pic>
    </p:spTree>
    <p:extLst>
      <p:ext uri="{BB962C8B-B14F-4D97-AF65-F5344CB8AC3E}">
        <p14:creationId xmlns:p14="http://schemas.microsoft.com/office/powerpoint/2010/main" val="39465953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3A313D1-C47F-5003-3928-6B4D685B147F}"/>
              </a:ext>
            </a:extLst>
          </p:cNvPr>
          <p:cNvSpPr>
            <a:spLocks noGrp="1"/>
          </p:cNvSpPr>
          <p:nvPr>
            <p:ph type="title"/>
          </p:nvPr>
        </p:nvSpPr>
        <p:spPr/>
        <p:txBody>
          <a:bodyPr/>
          <a:lstStyle/>
          <a:p>
            <a:endParaRPr lang="es-MX"/>
          </a:p>
        </p:txBody>
      </p:sp>
      <p:sp>
        <p:nvSpPr>
          <p:cNvPr id="3" name="Marcador de contenido 2">
            <a:extLst>
              <a:ext uri="{FF2B5EF4-FFF2-40B4-BE49-F238E27FC236}">
                <a16:creationId xmlns:a16="http://schemas.microsoft.com/office/drawing/2014/main" id="{EE53DF44-6EA9-AE27-2AED-6315B9928570}"/>
              </a:ext>
            </a:extLst>
          </p:cNvPr>
          <p:cNvSpPr>
            <a:spLocks noGrp="1"/>
          </p:cNvSpPr>
          <p:nvPr>
            <p:ph idx="1"/>
          </p:nvPr>
        </p:nvSpPr>
        <p:spPr>
          <a:xfrm>
            <a:off x="1031240" y="1886585"/>
            <a:ext cx="10144760" cy="775335"/>
          </a:xfrm>
        </p:spPr>
        <p:txBody>
          <a:bodyPr>
            <a:normAutofit/>
          </a:bodyPr>
          <a:lstStyle/>
          <a:p>
            <a:pPr marL="0" indent="0" algn="just">
              <a:buNone/>
            </a:pPr>
            <a:r>
              <a:rPr lang="es-MX" sz="1600" b="1" dirty="0">
                <a:latin typeface="Century Gothic" panose="020B0502020202020204" pitchFamily="34" charset="0"/>
              </a:rPr>
              <a:t>Acción de Registro de Salida</a:t>
            </a:r>
            <a:r>
              <a:rPr lang="es-MX" sz="1600" dirty="0">
                <a:latin typeface="Century Gothic" panose="020B0502020202020204" pitchFamily="34" charset="0"/>
              </a:rPr>
              <a:t>: Para finalizar la jornada, el proceso de reconocimiento se repite, pero esta vez se instruye al usuario a utilizar el botón rojo de </a:t>
            </a:r>
            <a:r>
              <a:rPr lang="es-MX" sz="1600" b="1" dirty="0">
                <a:latin typeface="Century Gothic" panose="020B0502020202020204" pitchFamily="34" charset="0"/>
              </a:rPr>
              <a:t>"REGISTRAR SALIDA"</a:t>
            </a:r>
            <a:r>
              <a:rPr lang="es-MX" sz="1600" dirty="0">
                <a:latin typeface="Century Gothic" panose="020B0502020202020204" pitchFamily="34" charset="0"/>
              </a:rPr>
              <a:t>.</a:t>
            </a:r>
          </a:p>
        </p:txBody>
      </p:sp>
      <p:pic>
        <p:nvPicPr>
          <p:cNvPr id="7" name="Imagen 6">
            <a:extLst>
              <a:ext uri="{FF2B5EF4-FFF2-40B4-BE49-F238E27FC236}">
                <a16:creationId xmlns:a16="http://schemas.microsoft.com/office/drawing/2014/main" id="{3D492F0A-1D88-D29A-0AE1-62623E5CFA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70760" y="2852260"/>
            <a:ext cx="3185160" cy="1791653"/>
          </a:xfrm>
          <a:prstGeom prst="rect">
            <a:avLst/>
          </a:prstGeom>
        </p:spPr>
      </p:pic>
      <p:pic>
        <p:nvPicPr>
          <p:cNvPr id="9" name="Imagen 8">
            <a:extLst>
              <a:ext uri="{FF2B5EF4-FFF2-40B4-BE49-F238E27FC236}">
                <a16:creationId xmlns:a16="http://schemas.microsoft.com/office/drawing/2014/main" id="{8FB07F1C-C72A-B2B0-09DB-5DB3A443E5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25539" y="2661920"/>
            <a:ext cx="3307081" cy="1860233"/>
          </a:xfrm>
          <a:prstGeom prst="rect">
            <a:avLst/>
          </a:prstGeom>
        </p:spPr>
      </p:pic>
      <p:sp>
        <p:nvSpPr>
          <p:cNvPr id="11" name="CuadroTexto 10">
            <a:extLst>
              <a:ext uri="{FF2B5EF4-FFF2-40B4-BE49-F238E27FC236}">
                <a16:creationId xmlns:a16="http://schemas.microsoft.com/office/drawing/2014/main" id="{3CEF814D-86C1-D978-1E9B-01BDF117B6F4}"/>
              </a:ext>
            </a:extLst>
          </p:cNvPr>
          <p:cNvSpPr txBox="1"/>
          <p:nvPr/>
        </p:nvSpPr>
        <p:spPr>
          <a:xfrm>
            <a:off x="1031240" y="5292546"/>
            <a:ext cx="9895840" cy="923330"/>
          </a:xfrm>
          <a:prstGeom prst="rect">
            <a:avLst/>
          </a:prstGeom>
          <a:noFill/>
        </p:spPr>
        <p:txBody>
          <a:bodyPr wrap="square">
            <a:spAutoFit/>
          </a:bodyPr>
          <a:lstStyle/>
          <a:p>
            <a:r>
              <a:rPr lang="es-MX" dirty="0">
                <a:latin typeface="Century Gothic" panose="020B0502020202020204" pitchFamily="34" charset="0"/>
              </a:rPr>
              <a:t>Esta etapa garantiza que el docente pueda realizar su marcaje en menos de 3 segundos, cumpliendo con el objetivo de agilizar el flujo de entrada y salida en la institución.</a:t>
            </a:r>
          </a:p>
        </p:txBody>
      </p:sp>
    </p:spTree>
    <p:extLst>
      <p:ext uri="{BB962C8B-B14F-4D97-AF65-F5344CB8AC3E}">
        <p14:creationId xmlns:p14="http://schemas.microsoft.com/office/powerpoint/2010/main" val="27303975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B972BBE-9687-3D48-76FF-8790698AA668}"/>
              </a:ext>
            </a:extLst>
          </p:cNvPr>
          <p:cNvSpPr>
            <a:spLocks noGrp="1"/>
          </p:cNvSpPr>
          <p:nvPr>
            <p:ph type="title"/>
          </p:nvPr>
        </p:nvSpPr>
        <p:spPr>
          <a:xfrm>
            <a:off x="49899" y="185739"/>
            <a:ext cx="8353321" cy="358776"/>
          </a:xfrm>
        </p:spPr>
        <p:txBody>
          <a:bodyPr>
            <a:normAutofit fontScale="90000"/>
          </a:bodyPr>
          <a:lstStyle/>
          <a:p>
            <a:r>
              <a:rPr lang="es-MX" sz="3200" dirty="0">
                <a:latin typeface="Century Gothic" panose="020B0502020202020204" pitchFamily="34" charset="0"/>
              </a:rPr>
              <a:t>3. Consulta de informe diario y descarga</a:t>
            </a:r>
          </a:p>
        </p:txBody>
      </p:sp>
      <p:sp>
        <p:nvSpPr>
          <p:cNvPr id="3" name="Marcador de contenido 2">
            <a:extLst>
              <a:ext uri="{FF2B5EF4-FFF2-40B4-BE49-F238E27FC236}">
                <a16:creationId xmlns:a16="http://schemas.microsoft.com/office/drawing/2014/main" id="{163F8E63-A6CF-A5D4-C7A8-FB4557D83064}"/>
              </a:ext>
            </a:extLst>
          </p:cNvPr>
          <p:cNvSpPr>
            <a:spLocks noGrp="1"/>
          </p:cNvSpPr>
          <p:nvPr>
            <p:ph idx="1"/>
          </p:nvPr>
        </p:nvSpPr>
        <p:spPr>
          <a:xfrm>
            <a:off x="148541" y="652081"/>
            <a:ext cx="10515600" cy="358775"/>
          </a:xfrm>
        </p:spPr>
        <p:txBody>
          <a:bodyPr>
            <a:normAutofit/>
          </a:bodyPr>
          <a:lstStyle/>
          <a:p>
            <a:pPr marL="0" indent="0">
              <a:buNone/>
            </a:pPr>
            <a:r>
              <a:rPr lang="es-MX" sz="1400" dirty="0">
                <a:latin typeface="Century Gothic" panose="020B0502020202020204" pitchFamily="34" charset="0"/>
              </a:rPr>
              <a:t>La fase final del proceso es la transformación de los registros brutos en documentos administrativos:</a:t>
            </a:r>
          </a:p>
        </p:txBody>
      </p:sp>
      <p:sp>
        <p:nvSpPr>
          <p:cNvPr id="5" name="CuadroTexto 4">
            <a:extLst>
              <a:ext uri="{FF2B5EF4-FFF2-40B4-BE49-F238E27FC236}">
                <a16:creationId xmlns:a16="http://schemas.microsoft.com/office/drawing/2014/main" id="{C943F0A4-97F5-F753-6E1A-5451C4166D7C}"/>
              </a:ext>
            </a:extLst>
          </p:cNvPr>
          <p:cNvSpPr txBox="1"/>
          <p:nvPr/>
        </p:nvSpPr>
        <p:spPr>
          <a:xfrm>
            <a:off x="254520" y="1393207"/>
            <a:ext cx="2895600" cy="1200329"/>
          </a:xfrm>
          <a:prstGeom prst="rect">
            <a:avLst/>
          </a:prstGeom>
          <a:noFill/>
        </p:spPr>
        <p:txBody>
          <a:bodyPr wrap="square">
            <a:spAutoFit/>
          </a:bodyPr>
          <a:lstStyle/>
          <a:p>
            <a:pPr algn="just"/>
            <a:r>
              <a:rPr lang="es-MX" sz="1200" b="1" dirty="0">
                <a:latin typeface="Century Gothic" panose="020B0502020202020204" pitchFamily="34" charset="0"/>
              </a:rPr>
              <a:t>Filtro de Información:</a:t>
            </a:r>
            <a:r>
              <a:rPr lang="es-MX" sz="1200" dirty="0">
                <a:latin typeface="Century Gothic" panose="020B0502020202020204" pitchFamily="34" charset="0"/>
              </a:rPr>
              <a:t> El panel de administración permite segmentar los registros por rangos de fecha, facilitando la visualización de la asistencia de una jornada específica.</a:t>
            </a:r>
          </a:p>
        </p:txBody>
      </p:sp>
      <p:pic>
        <p:nvPicPr>
          <p:cNvPr id="7" name="Imagen 6">
            <a:extLst>
              <a:ext uri="{FF2B5EF4-FFF2-40B4-BE49-F238E27FC236}">
                <a16:creationId xmlns:a16="http://schemas.microsoft.com/office/drawing/2014/main" id="{B89E37F2-71D5-FAFB-C4E9-CEA8E3C3CA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87631" y="2805308"/>
            <a:ext cx="2953173" cy="1661160"/>
          </a:xfrm>
          <a:prstGeom prst="rect">
            <a:avLst/>
          </a:prstGeom>
        </p:spPr>
      </p:pic>
      <p:pic>
        <p:nvPicPr>
          <p:cNvPr id="9" name="Imagen 8">
            <a:extLst>
              <a:ext uri="{FF2B5EF4-FFF2-40B4-BE49-F238E27FC236}">
                <a16:creationId xmlns:a16="http://schemas.microsoft.com/office/drawing/2014/main" id="{DE601DE4-DE24-1905-B3C9-FD0E2275E20A}"/>
              </a:ext>
            </a:extLst>
          </p:cNvPr>
          <p:cNvPicPr>
            <a:picLocks noChangeAspect="1"/>
          </p:cNvPicPr>
          <p:nvPr/>
        </p:nvPicPr>
        <p:blipFill>
          <a:blip r:embed="rId3">
            <a:extLst>
              <a:ext uri="{28A0092B-C50C-407E-A947-70E740481C1C}">
                <a14:useLocalDpi xmlns:a14="http://schemas.microsoft.com/office/drawing/2010/main" val="0"/>
              </a:ext>
            </a:extLst>
          </a:blip>
          <a:srcRect l="63250" b="73778"/>
          <a:stretch/>
        </p:blipFill>
        <p:spPr>
          <a:xfrm>
            <a:off x="9403671" y="185739"/>
            <a:ext cx="2306320" cy="925666"/>
          </a:xfrm>
          <a:prstGeom prst="rect">
            <a:avLst/>
          </a:prstGeom>
        </p:spPr>
      </p:pic>
      <p:pic>
        <p:nvPicPr>
          <p:cNvPr id="11" name="Imagen 10">
            <a:extLst>
              <a:ext uri="{FF2B5EF4-FFF2-40B4-BE49-F238E27FC236}">
                <a16:creationId xmlns:a16="http://schemas.microsoft.com/office/drawing/2014/main" id="{04A945CD-5442-320F-9473-DDF55439EAA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4903" y="2805308"/>
            <a:ext cx="2840532" cy="1597799"/>
          </a:xfrm>
          <a:prstGeom prst="rect">
            <a:avLst/>
          </a:prstGeom>
        </p:spPr>
      </p:pic>
      <p:sp>
        <p:nvSpPr>
          <p:cNvPr id="13" name="CuadroTexto 12">
            <a:extLst>
              <a:ext uri="{FF2B5EF4-FFF2-40B4-BE49-F238E27FC236}">
                <a16:creationId xmlns:a16="http://schemas.microsoft.com/office/drawing/2014/main" id="{6C10994D-47FB-97AA-EF25-1B659AFDE59A}"/>
              </a:ext>
            </a:extLst>
          </p:cNvPr>
          <p:cNvSpPr txBox="1"/>
          <p:nvPr/>
        </p:nvSpPr>
        <p:spPr>
          <a:xfrm>
            <a:off x="3287631" y="1372579"/>
            <a:ext cx="2958465" cy="1200329"/>
          </a:xfrm>
          <a:prstGeom prst="rect">
            <a:avLst/>
          </a:prstGeom>
          <a:noFill/>
        </p:spPr>
        <p:txBody>
          <a:bodyPr wrap="square">
            <a:spAutoFit/>
          </a:bodyPr>
          <a:lstStyle/>
          <a:p>
            <a:pPr algn="just"/>
            <a:r>
              <a:rPr lang="es-MX" sz="1200" b="1" dirty="0">
                <a:latin typeface="Century Gothic" panose="020B0502020202020204" pitchFamily="34" charset="0"/>
              </a:rPr>
              <a:t>Previsualización de Reporte:</a:t>
            </a:r>
            <a:r>
              <a:rPr lang="es-MX" sz="1200" dirty="0">
                <a:latin typeface="Century Gothic" panose="020B0502020202020204" pitchFamily="34" charset="0"/>
              </a:rPr>
              <a:t> Se genera una tabla dinámica que muestra el historial de movimientos (Entradas/Salidas), permitiendo una revisión rápida de la puntualidad y permanencia.</a:t>
            </a:r>
          </a:p>
        </p:txBody>
      </p:sp>
      <p:sp>
        <p:nvSpPr>
          <p:cNvPr id="15" name="CuadroTexto 14">
            <a:extLst>
              <a:ext uri="{FF2B5EF4-FFF2-40B4-BE49-F238E27FC236}">
                <a16:creationId xmlns:a16="http://schemas.microsoft.com/office/drawing/2014/main" id="{004C8CF3-6A8C-5B31-6261-CF2B30BEAD53}"/>
              </a:ext>
            </a:extLst>
          </p:cNvPr>
          <p:cNvSpPr txBox="1"/>
          <p:nvPr/>
        </p:nvSpPr>
        <p:spPr>
          <a:xfrm>
            <a:off x="6676337" y="1368041"/>
            <a:ext cx="5176139" cy="1015663"/>
          </a:xfrm>
          <a:prstGeom prst="rect">
            <a:avLst/>
          </a:prstGeom>
          <a:noFill/>
        </p:spPr>
        <p:txBody>
          <a:bodyPr wrap="square">
            <a:spAutoFit/>
          </a:bodyPr>
          <a:lstStyle/>
          <a:p>
            <a:pPr algn="just"/>
            <a:r>
              <a:rPr lang="es-MX" sz="1200" b="1" dirty="0">
                <a:latin typeface="Century Gothic" panose="020B0502020202020204" pitchFamily="34" charset="0"/>
              </a:rPr>
              <a:t>Exportación de Documentación:</a:t>
            </a:r>
            <a:r>
              <a:rPr lang="es-MX" sz="1200" dirty="0">
                <a:latin typeface="Century Gothic" panose="020B0502020202020204" pitchFamily="34" charset="0"/>
              </a:rPr>
              <a:t> El sistema permite la descarga del reporte en formatos estándar (</a:t>
            </a:r>
            <a:r>
              <a:rPr lang="es-MX" sz="1200" b="1" dirty="0">
                <a:latin typeface="Century Gothic" panose="020B0502020202020204" pitchFamily="34" charset="0"/>
              </a:rPr>
              <a:t>PDF y Excel</a:t>
            </a:r>
            <a:r>
              <a:rPr lang="es-MX" sz="1200" dirty="0">
                <a:latin typeface="Century Gothic" panose="020B0502020202020204" pitchFamily="34" charset="0"/>
              </a:rPr>
              <a:t>). Estos archivos contienen el encabezado institucional, la lista de usuarios y las marcas de tiempo oficiales, quedando listos para su entrega física o almacenamiento digital como respaldo oficial de la institución.</a:t>
            </a:r>
          </a:p>
        </p:txBody>
      </p:sp>
      <p:pic>
        <p:nvPicPr>
          <p:cNvPr id="17" name="Imagen 16">
            <a:extLst>
              <a:ext uri="{FF2B5EF4-FFF2-40B4-BE49-F238E27FC236}">
                <a16:creationId xmlns:a16="http://schemas.microsoft.com/office/drawing/2014/main" id="{82D7CED2-0407-193D-354A-7D3BDD3401F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895372" y="4230419"/>
            <a:ext cx="4181600" cy="2352150"/>
          </a:xfrm>
          <a:prstGeom prst="rect">
            <a:avLst/>
          </a:prstGeom>
        </p:spPr>
      </p:pic>
      <p:pic>
        <p:nvPicPr>
          <p:cNvPr id="19" name="Imagen 18">
            <a:extLst>
              <a:ext uri="{FF2B5EF4-FFF2-40B4-BE49-F238E27FC236}">
                <a16:creationId xmlns:a16="http://schemas.microsoft.com/office/drawing/2014/main" id="{4A14BC05-8849-0EA5-16DE-7B77997F8CE3}"/>
              </a:ext>
            </a:extLst>
          </p:cNvPr>
          <p:cNvPicPr>
            <a:picLocks noChangeAspect="1"/>
          </p:cNvPicPr>
          <p:nvPr/>
        </p:nvPicPr>
        <p:blipFill>
          <a:blip r:embed="rId6">
            <a:extLst>
              <a:ext uri="{28A0092B-C50C-407E-A947-70E740481C1C}">
                <a14:useLocalDpi xmlns:a14="http://schemas.microsoft.com/office/drawing/2010/main" val="0"/>
              </a:ext>
            </a:extLst>
          </a:blip>
          <a:srcRect l="71013" b="80278"/>
          <a:stretch/>
        </p:blipFill>
        <p:spPr>
          <a:xfrm>
            <a:off x="7022694" y="2593536"/>
            <a:ext cx="3534137" cy="1352541"/>
          </a:xfrm>
          <a:prstGeom prst="rect">
            <a:avLst/>
          </a:prstGeom>
        </p:spPr>
      </p:pic>
    </p:spTree>
    <p:extLst>
      <p:ext uri="{BB962C8B-B14F-4D97-AF65-F5344CB8AC3E}">
        <p14:creationId xmlns:p14="http://schemas.microsoft.com/office/powerpoint/2010/main" val="14411125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106D113-5894-52D6-163D-C5406C4A05A8}"/>
              </a:ext>
            </a:extLst>
          </p:cNvPr>
          <p:cNvSpPr>
            <a:spLocks noGrp="1"/>
          </p:cNvSpPr>
          <p:nvPr>
            <p:ph type="title"/>
          </p:nvPr>
        </p:nvSpPr>
        <p:spPr/>
        <p:txBody>
          <a:bodyPr/>
          <a:lstStyle/>
          <a:p>
            <a:r>
              <a:rPr lang="es-MX" dirty="0">
                <a:latin typeface="Century Gothic" panose="020B0502020202020204" pitchFamily="34" charset="0"/>
              </a:rPr>
              <a:t>CONCLUSIÓN </a:t>
            </a:r>
          </a:p>
        </p:txBody>
      </p:sp>
      <p:sp>
        <p:nvSpPr>
          <p:cNvPr id="3" name="Marcador de contenido 2">
            <a:extLst>
              <a:ext uri="{FF2B5EF4-FFF2-40B4-BE49-F238E27FC236}">
                <a16:creationId xmlns:a16="http://schemas.microsoft.com/office/drawing/2014/main" id="{0C8234CE-59DF-E041-E132-A5AB7038BC0E}"/>
              </a:ext>
            </a:extLst>
          </p:cNvPr>
          <p:cNvSpPr>
            <a:spLocks noGrp="1"/>
          </p:cNvSpPr>
          <p:nvPr>
            <p:ph idx="1"/>
          </p:nvPr>
        </p:nvSpPr>
        <p:spPr/>
        <p:txBody>
          <a:bodyPr>
            <a:normAutofit/>
          </a:bodyPr>
          <a:lstStyle/>
          <a:p>
            <a:pPr marL="0" indent="0" algn="just">
              <a:buNone/>
            </a:pPr>
            <a:r>
              <a:rPr lang="es-MX" sz="1800" dirty="0">
                <a:latin typeface="Century Gothic" panose="020B0502020202020204" pitchFamily="34" charset="0"/>
              </a:rPr>
              <a:t>El ejercicio de implementación y operación demuestra que el sistema cumple con los requerimientos de un entorno administrativo moderno. La </a:t>
            </a:r>
            <a:r>
              <a:rPr lang="es-MX" sz="1800" b="1" dirty="0">
                <a:latin typeface="Century Gothic" panose="020B0502020202020204" pitchFamily="34" charset="0"/>
              </a:rPr>
              <a:t>gestión de usuarios</a:t>
            </a:r>
            <a:r>
              <a:rPr lang="es-MX" sz="1800" dirty="0">
                <a:latin typeface="Century Gothic" panose="020B0502020202020204" pitchFamily="34" charset="0"/>
              </a:rPr>
              <a:t> es ágil, el </a:t>
            </a:r>
            <a:r>
              <a:rPr lang="es-MX" sz="1800" b="1" dirty="0">
                <a:latin typeface="Century Gothic" panose="020B0502020202020204" pitchFamily="34" charset="0"/>
              </a:rPr>
              <a:t>marcaje biométrico</a:t>
            </a:r>
            <a:r>
              <a:rPr lang="es-MX" sz="1800" dirty="0">
                <a:latin typeface="Century Gothic" panose="020B0502020202020204" pitchFamily="34" charset="0"/>
              </a:rPr>
              <a:t> es preciso y la capacidad de </a:t>
            </a:r>
            <a:r>
              <a:rPr lang="es-MX" sz="1800" b="1" dirty="0">
                <a:latin typeface="Century Gothic" panose="020B0502020202020204" pitchFamily="34" charset="0"/>
              </a:rPr>
              <a:t>generar informes descargables</a:t>
            </a:r>
            <a:r>
              <a:rPr lang="es-MX" sz="1800" dirty="0">
                <a:latin typeface="Century Gothic" panose="020B0502020202020204" pitchFamily="34" charset="0"/>
              </a:rPr>
              <a:t> cierra el ciclo de control de manera eficiente. Con la entrega de esta documentación y la liberación del software, se garantiza una herramienta robusta que optimiza los procesos de supervisión y asegura la veracidad de los registros de asistencia.</a:t>
            </a:r>
            <a:endParaRPr lang="es-MX" dirty="0">
              <a:latin typeface="Century Gothic" panose="020B0502020202020204" pitchFamily="34" charset="0"/>
            </a:endParaRPr>
          </a:p>
        </p:txBody>
      </p:sp>
    </p:spTree>
    <p:extLst>
      <p:ext uri="{BB962C8B-B14F-4D97-AF65-F5344CB8AC3E}">
        <p14:creationId xmlns:p14="http://schemas.microsoft.com/office/powerpoint/2010/main" val="23610800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C30B0FE2-A504-0A6C-8613-2AF1D30A4835}"/>
              </a:ext>
            </a:extLst>
          </p:cNvPr>
          <p:cNvSpPr>
            <a:spLocks noGrp="1"/>
          </p:cNvSpPr>
          <p:nvPr>
            <p:ph type="title"/>
          </p:nvPr>
        </p:nvSpPr>
        <p:spPr>
          <a:xfrm>
            <a:off x="838200" y="365125"/>
            <a:ext cx="10515600" cy="1325563"/>
          </a:xfrm>
        </p:spPr>
        <p:txBody>
          <a:bodyPr>
            <a:normAutofit fontScale="90000"/>
          </a:bodyPr>
          <a:lstStyle/>
          <a:p>
            <a:r>
              <a:rPr lang="es-MX" dirty="0"/>
              <a:t>Anexo link de la actividad presentada y solicitada por el docente y enviada a la nube de </a:t>
            </a:r>
            <a:r>
              <a:rPr lang="es-MX" dirty="0" err="1"/>
              <a:t>github</a:t>
            </a:r>
            <a:r>
              <a:rPr lang="es-MX" dirty="0"/>
              <a:t>:</a:t>
            </a:r>
          </a:p>
        </p:txBody>
      </p:sp>
    </p:spTree>
    <p:extLst>
      <p:ext uri="{BB962C8B-B14F-4D97-AF65-F5344CB8AC3E}">
        <p14:creationId xmlns:p14="http://schemas.microsoft.com/office/powerpoint/2010/main" val="117913335"/>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175</TotalTime>
  <Words>984</Words>
  <Application>Microsoft Office PowerPoint</Application>
  <PresentationFormat>Panorámica</PresentationFormat>
  <Paragraphs>54</Paragraphs>
  <Slides>11</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11</vt:i4>
      </vt:variant>
    </vt:vector>
  </HeadingPairs>
  <TitlesOfParts>
    <vt:vector size="16" baseType="lpstr">
      <vt:lpstr>Arial</vt:lpstr>
      <vt:lpstr>Calibri</vt:lpstr>
      <vt:lpstr>Calibri Light</vt:lpstr>
      <vt:lpstr>Century Gothic</vt:lpstr>
      <vt:lpstr>Tema de Office</vt:lpstr>
      <vt:lpstr>Presentación de PowerPoint</vt:lpstr>
      <vt:lpstr>INTRODUCCIÓN</vt:lpstr>
      <vt:lpstr>JUSTIFICACIÓN</vt:lpstr>
      <vt:lpstr>1.Gestión y Registro de Usuarios:</vt:lpstr>
      <vt:lpstr>Gestión y Registro de Usuarios:</vt:lpstr>
      <vt:lpstr>Gestión de usuario</vt:lpstr>
      <vt:lpstr>2. Operación de Marcaje (Entrada y Salida)</vt:lpstr>
      <vt:lpstr>Presentación de PowerPoint</vt:lpstr>
      <vt:lpstr>3. Consulta de informe diario y descarga</vt:lpstr>
      <vt:lpstr>CONCLUSIÓN </vt:lpstr>
      <vt:lpstr>Anexo link de la actividad presentada y solicitada por el docente y enviada a la nube de github:</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HP 840 G5</dc:creator>
  <cp:lastModifiedBy>HP 840 G5</cp:lastModifiedBy>
  <cp:revision>2</cp:revision>
  <dcterms:created xsi:type="dcterms:W3CDTF">2026-03-27T18:24:41Z</dcterms:created>
  <dcterms:modified xsi:type="dcterms:W3CDTF">2026-03-28T00:29:18Z</dcterms:modified>
</cp:coreProperties>
</file>