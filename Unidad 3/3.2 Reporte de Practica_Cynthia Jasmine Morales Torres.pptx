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59" r:id="rId6"/>
    <p:sldId id="261" r:id="rId7"/>
    <p:sldId id="260" r:id="rId8"/>
    <p:sldId id="262" r:id="rId9"/>
    <p:sldId id="266" r:id="rId10"/>
    <p:sldId id="263" r:id="rId11"/>
    <p:sldId id="269" r:id="rId12"/>
    <p:sldId id="271"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C08B3-BE9C-821C-041D-7425ADDC908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7C81788-6ACD-4D37-9F05-2FA2A085AE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D8C31B9-7149-8EEC-55AF-74914E758F73}"/>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77B969BF-DF36-1D8A-7A49-49D110B5B2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1AE43F5-2F5F-944E-A976-4054962E6E9E}"/>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2300832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9CC9F-DCE2-B49A-CD58-5B9529759C7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3152C33-A8D4-0FFC-5182-E78C308151D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780B183-5F75-4C81-17FF-05BEF9D1C08E}"/>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16D64451-FD40-02E4-DFB0-F5C0932D129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66250F5-183F-C7D5-DC53-E8632DA6404A}"/>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4267021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65E28-0EF7-01A7-DAD7-087B006173B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1F66745-4F27-D3EC-CB7D-A7A2898A42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DA082CC-6FF3-E3D7-2A8D-797B8CB7AE0B}"/>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F054C69E-5908-BC10-1A67-E6BDC282C42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6A9BF45-FA98-105A-D828-A1E00B39D9A3}"/>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2161383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B0605-2909-6830-D887-AFD5EC3EBC9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AB6791B-1128-B8FC-335E-AD4C9CD5D93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6E3ECF7-2A6C-95B7-08F4-8FFB6D7137A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F4C7A52-256B-EBA1-2949-A74686DF01AB}"/>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6" name="Marcador de pie de página 5">
            <a:extLst>
              <a:ext uri="{FF2B5EF4-FFF2-40B4-BE49-F238E27FC236}">
                <a16:creationId xmlns:a16="http://schemas.microsoft.com/office/drawing/2014/main" id="{8FAA5145-1BD3-D0CC-1B73-67BCC7F120B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39AC56D-E263-845B-7502-D97C8602DB2E}"/>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3557850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9F79B-9CEA-D40A-D561-E00A9E8E2D1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9DAE39F-6BFC-A532-BE6B-2464C666D3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24A1873-0A2D-578C-0B6F-99ED05B934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2BA4EEF-EEC1-8230-FA54-4121298B5C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3E202CC-524E-A25A-6737-E186E173B1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2DC28A0-DAB3-2E3F-CE48-6DECB1C8FFF8}"/>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8" name="Marcador de pie de página 7">
            <a:extLst>
              <a:ext uri="{FF2B5EF4-FFF2-40B4-BE49-F238E27FC236}">
                <a16:creationId xmlns:a16="http://schemas.microsoft.com/office/drawing/2014/main" id="{717D8523-7DB5-7C8C-CC74-398EB11CDE0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2AD3430-830F-7A68-DDBF-F96703660296}"/>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2131656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452D0-DE80-4C21-6DEF-C93B058F88B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A8AEAD0-DAB8-469C-3B7F-CF899720410B}"/>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4" name="Marcador de pie de página 3">
            <a:extLst>
              <a:ext uri="{FF2B5EF4-FFF2-40B4-BE49-F238E27FC236}">
                <a16:creationId xmlns:a16="http://schemas.microsoft.com/office/drawing/2014/main" id="{90CF56A9-BEC6-8F66-6A5D-C51D87CE1E84}"/>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BE93CB5-DA02-9243-B49F-03B85D9571F2}"/>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3241031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B7E14B2-43E6-1BD5-5637-79860072DB58}"/>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3" name="Marcador de pie de página 2">
            <a:extLst>
              <a:ext uri="{FF2B5EF4-FFF2-40B4-BE49-F238E27FC236}">
                <a16:creationId xmlns:a16="http://schemas.microsoft.com/office/drawing/2014/main" id="{F99E34A6-ACDD-8D68-1F9A-797C57255EC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24B67A3-6E39-882A-A9EB-192377DD306F}"/>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39934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5D739-BE1C-3D23-771E-FC76F15BE5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97B55C5-C1D3-4CFC-91FF-A4C00A36B7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CCE5CCA-6F3A-C044-1F2D-196852350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52D1B2F-0E3F-7246-63B4-1024629EA671}"/>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6" name="Marcador de pie de página 5">
            <a:extLst>
              <a:ext uri="{FF2B5EF4-FFF2-40B4-BE49-F238E27FC236}">
                <a16:creationId xmlns:a16="http://schemas.microsoft.com/office/drawing/2014/main" id="{96F15150-233B-5BD8-A7C0-53BCAB521C8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BC33AB4-0EF2-6C74-F86A-78EC6CB39594}"/>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2694656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3F840-40C8-8B00-4C71-7FB2322B27C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CD116E7-5FAF-F3DE-A943-AA5D2AD6F6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53EAD57-2665-755D-CC4C-6A76F1817A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A712BEE-E375-3FF9-5E68-81E50DC1F76D}"/>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6" name="Marcador de pie de página 5">
            <a:extLst>
              <a:ext uri="{FF2B5EF4-FFF2-40B4-BE49-F238E27FC236}">
                <a16:creationId xmlns:a16="http://schemas.microsoft.com/office/drawing/2014/main" id="{CD861C6A-35CB-9148-A5E6-29B69FF790C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9080F73-4DCE-7D47-692A-17ED90C1B63E}"/>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1101768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3A84AB-2CF5-92F8-0618-4C88F792E6F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D3CFFFC-4423-3F0F-04E9-E718C75AD6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94BA960-947D-451F-9C2F-FE393A4AD041}"/>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CC53323F-9891-2C73-FB1F-056D2FF2EC6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D3A76CF-0353-9DDF-5B1E-6935B94C5B41}"/>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3107219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2AB887-8304-630D-67FB-ECF03B1279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5925A83-DB6E-A1A3-DB8E-34E0941DA17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BCF2CB5-639A-5BCB-3705-0AF873D590B2}"/>
              </a:ext>
            </a:extLst>
          </p:cNvPr>
          <p:cNvSpPr>
            <a:spLocks noGrp="1"/>
          </p:cNvSpPr>
          <p:nvPr>
            <p:ph type="dt" sz="half" idx="10"/>
          </p:nvPr>
        </p:nvSpPr>
        <p:spPr/>
        <p:txBody>
          <a:body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E1138711-A6D0-397C-12D0-E245A884AC6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17BC408-4F99-41CD-B114-3F1502A190D5}"/>
              </a:ext>
            </a:extLst>
          </p:cNvPr>
          <p:cNvSpPr>
            <a:spLocks noGrp="1"/>
          </p:cNvSpPr>
          <p:nvPr>
            <p:ph type="sldNum" sz="quarter" idx="12"/>
          </p:nvPr>
        </p:nvSpPr>
        <p:spPr/>
        <p:txBody>
          <a:bodyPr/>
          <a:lstStyle/>
          <a:p>
            <a:fld id="{4F346A19-4430-4BF9-BD57-25CCA1EE5562}" type="slidenum">
              <a:rPr lang="es-MX" smtClean="0"/>
              <a:t>‹Nº›</a:t>
            </a:fld>
            <a:endParaRPr lang="es-MX"/>
          </a:p>
        </p:txBody>
      </p:sp>
    </p:spTree>
    <p:extLst>
      <p:ext uri="{BB962C8B-B14F-4D97-AF65-F5344CB8AC3E}">
        <p14:creationId xmlns:p14="http://schemas.microsoft.com/office/powerpoint/2010/main" val="155234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A1A01DB-CE9C-FABA-59F1-41AD46CDB2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FB819E7-829E-6D35-AB9A-B8947EA54B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6A79628-763D-64AF-F0A4-DB983DC45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EA743A-4592-4E5D-866A-35DC4B454C04}" type="datetimeFigureOut">
              <a:rPr lang="es-MX" smtClean="0"/>
              <a:t>25/03/2026</a:t>
            </a:fld>
            <a:endParaRPr lang="es-MX"/>
          </a:p>
        </p:txBody>
      </p:sp>
      <p:sp>
        <p:nvSpPr>
          <p:cNvPr id="5" name="Marcador de pie de página 4">
            <a:extLst>
              <a:ext uri="{FF2B5EF4-FFF2-40B4-BE49-F238E27FC236}">
                <a16:creationId xmlns:a16="http://schemas.microsoft.com/office/drawing/2014/main" id="{FC47B5AA-BE63-FA1E-2260-915CDBCB5A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D4D694F4-5449-E238-476D-E5EEEC8619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346A19-4430-4BF9-BD57-25CCA1EE5562}" type="slidenum">
              <a:rPr lang="es-MX" smtClean="0"/>
              <a:t>‹Nº›</a:t>
            </a:fld>
            <a:endParaRPr lang="es-MX"/>
          </a:p>
        </p:txBody>
      </p:sp>
    </p:spTree>
    <p:extLst>
      <p:ext uri="{BB962C8B-B14F-4D97-AF65-F5344CB8AC3E}">
        <p14:creationId xmlns:p14="http://schemas.microsoft.com/office/powerpoint/2010/main" val="2108956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289A6FE2-6AE4-B6C4-F776-7D49146CB856}"/>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Ingenieria del software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r>
              <a:rPr lang="es-MX" sz="1600" dirty="0">
                <a:latin typeface="Century Gothic" panose="020B0502020202020204" pitchFamily="34" charset="0"/>
              </a:rPr>
              <a:t>Luis </a:t>
            </a:r>
            <a:r>
              <a:rPr lang="es-MX" sz="1600" dirty="0" err="1">
                <a:latin typeface="Century Gothic" panose="020B0502020202020204" pitchFamily="34" charset="0"/>
              </a:rPr>
              <a:t>daniel</a:t>
            </a:r>
            <a:r>
              <a:rPr lang="es-MX" sz="1600" dirty="0">
                <a:latin typeface="Century Gothic" panose="020B0502020202020204" pitchFamily="34" charset="0"/>
              </a:rPr>
              <a:t> </a:t>
            </a:r>
            <a:r>
              <a:rPr lang="es-MX" sz="1600" dirty="0" err="1">
                <a:latin typeface="Century Gothic" panose="020B0502020202020204" pitchFamily="34" charset="0"/>
              </a:rPr>
              <a:t>gomez</a:t>
            </a:r>
            <a:r>
              <a:rPr lang="es-MX" sz="1600" dirty="0">
                <a:latin typeface="Century Gothic" panose="020B0502020202020204" pitchFamily="34" charset="0"/>
              </a:rPr>
              <a:t> </a:t>
            </a:r>
            <a:r>
              <a:rPr lang="es-MX" sz="1600" dirty="0" err="1">
                <a:latin typeface="Century Gothic" panose="020B0502020202020204" pitchFamily="34" charset="0"/>
              </a:rPr>
              <a:t>santizo</a:t>
            </a:r>
            <a:r>
              <a:rPr lang="es-MX" sz="1600" dirty="0">
                <a:latin typeface="Century Gothic" panose="020B0502020202020204" pitchFamily="34" charset="0"/>
              </a:rPr>
              <a:t> / 231260017</a:t>
            </a:r>
          </a:p>
          <a:p>
            <a:pPr algn="ctr"/>
            <a:r>
              <a:rPr lang="es-MX" sz="1600" dirty="0" err="1">
                <a:latin typeface="Century Gothic" panose="020B0502020202020204" pitchFamily="34" charset="0"/>
              </a:rPr>
              <a:t>Angel</a:t>
            </a:r>
            <a:r>
              <a:rPr lang="es-MX" sz="1600" dirty="0">
                <a:latin typeface="Century Gothic" panose="020B0502020202020204" pitchFamily="34" charset="0"/>
              </a:rPr>
              <a:t> de </a:t>
            </a:r>
            <a:r>
              <a:rPr lang="es-MX" sz="1600" dirty="0" err="1">
                <a:latin typeface="Century Gothic" panose="020B0502020202020204" pitchFamily="34" charset="0"/>
              </a:rPr>
              <a:t>jesus</a:t>
            </a:r>
            <a:r>
              <a:rPr lang="es-MX" sz="1600" dirty="0">
                <a:latin typeface="Century Gothic" panose="020B0502020202020204" pitchFamily="34" charset="0"/>
              </a:rPr>
              <a:t> </a:t>
            </a:r>
            <a:r>
              <a:rPr lang="es-MX" sz="1600" dirty="0" err="1">
                <a:latin typeface="Century Gothic" panose="020B0502020202020204" pitchFamily="34" charset="0"/>
              </a:rPr>
              <a:t>mazariegoz</a:t>
            </a:r>
            <a:r>
              <a:rPr lang="es-MX" sz="1600" dirty="0">
                <a:latin typeface="Century Gothic" panose="020B0502020202020204" pitchFamily="34" charset="0"/>
              </a:rPr>
              <a:t> </a:t>
            </a:r>
            <a:r>
              <a:rPr lang="es-MX" sz="1600" dirty="0" err="1">
                <a:latin typeface="Century Gothic" panose="020B0502020202020204" pitchFamily="34" charset="0"/>
              </a:rPr>
              <a:t>ortiz</a:t>
            </a:r>
            <a:r>
              <a:rPr lang="es-MX" sz="1600" dirty="0">
                <a:latin typeface="Century Gothic" panose="020B0502020202020204" pitchFamily="34" charset="0"/>
              </a:rPr>
              <a:t> / 231260003</a:t>
            </a:r>
          </a:p>
          <a:p>
            <a:pPr algn="ctr"/>
            <a:r>
              <a:rPr lang="es-MX" sz="1600" dirty="0">
                <a:latin typeface="Century Gothic" panose="020B0502020202020204" pitchFamily="34" charset="0"/>
              </a:rPr>
              <a:t>Simone </a:t>
            </a:r>
            <a:r>
              <a:rPr lang="es-MX" sz="1600" dirty="0" err="1">
                <a:latin typeface="Century Gothic" panose="020B0502020202020204" pitchFamily="34" charset="0"/>
              </a:rPr>
              <a:t>belen</a:t>
            </a:r>
            <a:r>
              <a:rPr lang="es-MX" sz="1600" dirty="0">
                <a:latin typeface="Century Gothic" panose="020B0502020202020204" pitchFamily="34" charset="0"/>
              </a:rPr>
              <a:t> </a:t>
            </a:r>
            <a:r>
              <a:rPr lang="es-MX" sz="1600" dirty="0" err="1">
                <a:latin typeface="Century Gothic" panose="020B0502020202020204" pitchFamily="34" charset="0"/>
              </a:rPr>
              <a:t>lopez</a:t>
            </a:r>
            <a:r>
              <a:rPr lang="es-MX" sz="1600" dirty="0">
                <a:latin typeface="Century Gothic" panose="020B0502020202020204" pitchFamily="34" charset="0"/>
              </a:rPr>
              <a:t> </a:t>
            </a:r>
            <a:r>
              <a:rPr lang="es-MX" sz="1600" dirty="0" err="1">
                <a:latin typeface="Century Gothic" panose="020B0502020202020204" pitchFamily="34" charset="0"/>
              </a:rPr>
              <a:t>ramirez</a:t>
            </a:r>
            <a:r>
              <a:rPr lang="es-MX" sz="1600" dirty="0">
                <a:latin typeface="Century Gothic" panose="020B0502020202020204" pitchFamily="34" charset="0"/>
              </a:rPr>
              <a:t> / 231260010</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3.2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05 de Marzo del 2026</a:t>
            </a:r>
          </a:p>
        </p:txBody>
      </p:sp>
      <p:sp>
        <p:nvSpPr>
          <p:cNvPr id="5" name="TextBox 8">
            <a:extLst>
              <a:ext uri="{FF2B5EF4-FFF2-40B4-BE49-F238E27FC236}">
                <a16:creationId xmlns:a16="http://schemas.microsoft.com/office/drawing/2014/main" id="{D5A11877-223C-932C-3B9B-605063D41E28}"/>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11E202A6-FCB1-9223-1374-0674F6EC00A0}"/>
              </a:ext>
            </a:extLst>
          </p:cNvPr>
          <p:cNvGrpSpPr/>
          <p:nvPr/>
        </p:nvGrpSpPr>
        <p:grpSpPr>
          <a:xfrm>
            <a:off x="523335" y="31119"/>
            <a:ext cx="2709599" cy="1198176"/>
            <a:chOff x="0" y="0"/>
            <a:chExt cx="3073400" cy="1308100"/>
          </a:xfrm>
        </p:grpSpPr>
        <p:sp>
          <p:nvSpPr>
            <p:cNvPr id="7" name="Freeform 3">
              <a:extLst>
                <a:ext uri="{FF2B5EF4-FFF2-40B4-BE49-F238E27FC236}">
                  <a16:creationId xmlns:a16="http://schemas.microsoft.com/office/drawing/2014/main" id="{CF2D81E7-D645-F325-0877-D66FEADFE9A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DC5766CF-CFEB-6803-2FBA-A17445C23273}"/>
              </a:ext>
            </a:extLst>
          </p:cNvPr>
          <p:cNvGrpSpPr/>
          <p:nvPr/>
        </p:nvGrpSpPr>
        <p:grpSpPr>
          <a:xfrm>
            <a:off x="9187322" y="106714"/>
            <a:ext cx="1872270" cy="1245240"/>
            <a:chOff x="0" y="0"/>
            <a:chExt cx="1981200" cy="1625600"/>
          </a:xfrm>
        </p:grpSpPr>
        <p:sp>
          <p:nvSpPr>
            <p:cNvPr id="9" name="Freeform 5">
              <a:extLst>
                <a:ext uri="{FF2B5EF4-FFF2-40B4-BE49-F238E27FC236}">
                  <a16:creationId xmlns:a16="http://schemas.microsoft.com/office/drawing/2014/main" id="{23595F08-44D3-1501-8DC9-3B5F3E2910D5}"/>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D4417738-FB28-4E20-7918-93A99DEE4063}"/>
              </a:ext>
            </a:extLst>
          </p:cNvPr>
          <p:cNvGrpSpPr/>
          <p:nvPr/>
        </p:nvGrpSpPr>
        <p:grpSpPr>
          <a:xfrm>
            <a:off x="4014015" y="269788"/>
            <a:ext cx="3812814" cy="709234"/>
            <a:chOff x="0" y="0"/>
            <a:chExt cx="4343400" cy="901700"/>
          </a:xfrm>
        </p:grpSpPr>
        <p:sp>
          <p:nvSpPr>
            <p:cNvPr id="11" name="Freeform 7">
              <a:extLst>
                <a:ext uri="{FF2B5EF4-FFF2-40B4-BE49-F238E27FC236}">
                  <a16:creationId xmlns:a16="http://schemas.microsoft.com/office/drawing/2014/main" id="{4ADC5146-4DEC-B3CD-D0F4-63D05916383A}"/>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1521961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15BE46-90CB-BBE5-70D1-D445770C0FDD}"/>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B33E32D7-93D4-BEB0-E865-CA1B9F584517}"/>
              </a:ext>
            </a:extLst>
          </p:cNvPr>
          <p:cNvSpPr>
            <a:spLocks noGrp="1"/>
          </p:cNvSpPr>
          <p:nvPr>
            <p:ph idx="1"/>
          </p:nvPr>
        </p:nvSpPr>
        <p:spPr/>
        <p:txBody>
          <a:bodyPr>
            <a:normAutofit/>
          </a:bodyPr>
          <a:lstStyle/>
          <a:p>
            <a:pPr marL="0" indent="0" algn="just">
              <a:buNone/>
            </a:pPr>
            <a:r>
              <a:rPr lang="es-MX" sz="2000" dirty="0"/>
              <a:t>En la actualidad, el uso de tecnologías biométricas ha cobrado gran importancia en distintos ámbitos, especialmente en el control de asistencia, donde se busca mejorar la seguridad, precisión y automatización de los procesos. En este contexto, el presente trabajo describe el desarrollo de un sistema de reconocimiento facial orientado al registro de asistencia de docentes.</a:t>
            </a:r>
          </a:p>
          <a:p>
            <a:pPr marL="0" indent="0" algn="just">
              <a:buNone/>
            </a:pPr>
            <a:r>
              <a:rPr lang="es-MX" sz="2000" dirty="0"/>
              <a:t>El sistema está conformado por una interfaz gráfica desarrollada en </a:t>
            </a:r>
            <a:r>
              <a:rPr lang="es-MX" sz="2000" dirty="0" err="1"/>
              <a:t>JavaFX</a:t>
            </a:r>
            <a:r>
              <a:rPr lang="es-MX" sz="2000" dirty="0"/>
              <a:t>, un </a:t>
            </a:r>
            <a:r>
              <a:rPr lang="es-MX" sz="2000" dirty="0" err="1"/>
              <a:t>backend</a:t>
            </a:r>
            <a:r>
              <a:rPr lang="es-MX" sz="2000" dirty="0"/>
              <a:t> implementado con Spring </a:t>
            </a:r>
            <a:r>
              <a:rPr lang="es-MX" sz="2000" dirty="0" err="1"/>
              <a:t>Boot</a:t>
            </a:r>
            <a:r>
              <a:rPr lang="es-MX" sz="2000" dirty="0"/>
              <a:t> y una base de datos PostgreSQL, los cuales se integran mediante una API REST. A lo largo de este reporte se presentan los avances realizados, la estructura del sistema, así como los principales problemas encontrados durante su desarrollo.</a:t>
            </a:r>
          </a:p>
          <a:p>
            <a:pPr marL="0" indent="0" algn="just">
              <a:buNone/>
            </a:pPr>
            <a:endParaRPr lang="es-MX" sz="2000" dirty="0"/>
          </a:p>
        </p:txBody>
      </p:sp>
    </p:spTree>
    <p:extLst>
      <p:ext uri="{BB962C8B-B14F-4D97-AF65-F5344CB8AC3E}">
        <p14:creationId xmlns:p14="http://schemas.microsoft.com/office/powerpoint/2010/main" val="74864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5F02FE-0B05-2A72-56E4-ECFE7DD0CA16}"/>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02D3CEF3-85E8-DE8F-552A-6F2BF59CF72C}"/>
              </a:ext>
            </a:extLst>
          </p:cNvPr>
          <p:cNvSpPr>
            <a:spLocks noGrp="1"/>
          </p:cNvSpPr>
          <p:nvPr>
            <p:ph idx="1"/>
          </p:nvPr>
        </p:nvSpPr>
        <p:spPr/>
        <p:txBody>
          <a:bodyPr>
            <a:normAutofit/>
          </a:bodyPr>
          <a:lstStyle/>
          <a:p>
            <a:pPr marL="0" indent="0" algn="just">
              <a:buNone/>
            </a:pPr>
            <a:r>
              <a:rPr lang="es-MX" sz="1800" dirty="0"/>
              <a:t>El desarrollo de un sistema de reconocimiento facial para el registro de asistencia surge como una alternativa innovadora frente a los métodos tradicionales, como listas manuales o tarjetas de acceso, los cuales pueden ser poco eficientes y susceptibles a errores o suplantación de identidad.</a:t>
            </a:r>
          </a:p>
          <a:p>
            <a:pPr marL="0" indent="0" algn="just">
              <a:buNone/>
            </a:pPr>
            <a:r>
              <a:rPr lang="es-MX" sz="1800" dirty="0"/>
              <a:t>Mediante la implementación de tecnologías modernas como </a:t>
            </a:r>
            <a:r>
              <a:rPr lang="es-MX" sz="1800" dirty="0" err="1"/>
              <a:t>JavaFX</a:t>
            </a:r>
            <a:r>
              <a:rPr lang="es-MX" sz="1800" dirty="0"/>
              <a:t>, Spring </a:t>
            </a:r>
            <a:r>
              <a:rPr lang="es-MX" sz="1800" dirty="0" err="1"/>
              <a:t>Boot</a:t>
            </a:r>
            <a:r>
              <a:rPr lang="es-MX" sz="1800" dirty="0"/>
              <a:t> y PostgreSQL, se busca crear un sistema automatizado, seguro y confiable que permita registrar la asistencia de manera precisa utilizando características biométricas únicas de cada docente. Además, este proyecto permite aplicar los conocimientos adquiridos en la materia de ingeniería de software, integrando diferentes herramientas y enfoques de desarrollo.</a:t>
            </a:r>
          </a:p>
          <a:p>
            <a:pPr marL="0" indent="0" algn="just">
              <a:buNone/>
            </a:pPr>
            <a:endParaRPr lang="es-MX" sz="1800" dirty="0"/>
          </a:p>
        </p:txBody>
      </p:sp>
    </p:spTree>
    <p:extLst>
      <p:ext uri="{BB962C8B-B14F-4D97-AF65-F5344CB8AC3E}">
        <p14:creationId xmlns:p14="http://schemas.microsoft.com/office/powerpoint/2010/main" val="69828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0DECD61-9DBD-4793-488A-ABC8A63AB3C9}"/>
              </a:ext>
            </a:extLst>
          </p:cNvPr>
          <p:cNvSpPr>
            <a:spLocks noGrp="1"/>
          </p:cNvSpPr>
          <p:nvPr>
            <p:ph idx="1"/>
          </p:nvPr>
        </p:nvSpPr>
        <p:spPr>
          <a:xfrm>
            <a:off x="1317118" y="869288"/>
            <a:ext cx="8852914" cy="2829171"/>
          </a:xfrm>
        </p:spPr>
        <p:txBody>
          <a:bodyPr>
            <a:normAutofit fontScale="92500" lnSpcReduction="10000"/>
          </a:bodyPr>
          <a:lstStyle/>
          <a:p>
            <a:pPr marL="0" indent="0">
              <a:buNone/>
            </a:pPr>
            <a:r>
              <a:rPr lang="es-MX" sz="2000" b="1" dirty="0"/>
              <a:t>1. Objetivo</a:t>
            </a:r>
          </a:p>
          <a:p>
            <a:pPr marL="0" indent="0">
              <a:buNone/>
            </a:pPr>
            <a:r>
              <a:rPr lang="es-MX" sz="2000" dirty="0"/>
              <a:t>Desarrollar un sistema de reconocimiento facial para registrar asistencia de docentes mediante una interfaz gráfica en </a:t>
            </a:r>
            <a:r>
              <a:rPr lang="es-MX" sz="2000" dirty="0" err="1"/>
              <a:t>JavaFX</a:t>
            </a:r>
            <a:r>
              <a:rPr lang="es-MX" sz="2000" dirty="0"/>
              <a:t> conectada a un </a:t>
            </a:r>
            <a:r>
              <a:rPr lang="es-MX" sz="2000" dirty="0" err="1"/>
              <a:t>backend</a:t>
            </a:r>
            <a:r>
              <a:rPr lang="es-MX" sz="2000" dirty="0"/>
              <a:t> en Spring </a:t>
            </a:r>
            <a:r>
              <a:rPr lang="es-MX" sz="2000" dirty="0" err="1"/>
              <a:t>Boot</a:t>
            </a:r>
            <a:r>
              <a:rPr lang="es-MX" sz="2000" dirty="0"/>
              <a:t>.</a:t>
            </a:r>
          </a:p>
          <a:p>
            <a:pPr marL="0" indent="0">
              <a:buNone/>
            </a:pPr>
            <a:r>
              <a:rPr lang="es-MX" sz="2000" b="1" dirty="0"/>
              <a:t>2. Tecnologías utilizadas</a:t>
            </a:r>
          </a:p>
          <a:p>
            <a:pPr>
              <a:buFont typeface="Arial" panose="020B0604020202020204" pitchFamily="34" charset="0"/>
              <a:buChar char="•"/>
            </a:pPr>
            <a:r>
              <a:rPr lang="es-MX" sz="2000" dirty="0" err="1"/>
              <a:t>Frontend</a:t>
            </a:r>
            <a:r>
              <a:rPr lang="es-MX" sz="2000" dirty="0"/>
              <a:t>: </a:t>
            </a:r>
            <a:r>
              <a:rPr lang="es-MX" sz="2000" dirty="0" err="1"/>
              <a:t>JavaFX</a:t>
            </a:r>
            <a:r>
              <a:rPr lang="es-MX" sz="2000" dirty="0"/>
              <a:t> (IntelliJ) </a:t>
            </a:r>
          </a:p>
          <a:p>
            <a:pPr>
              <a:buFont typeface="Arial" panose="020B0604020202020204" pitchFamily="34" charset="0"/>
              <a:buChar char="•"/>
            </a:pPr>
            <a:r>
              <a:rPr lang="es-MX" sz="2000" dirty="0" err="1"/>
              <a:t>Backend</a:t>
            </a:r>
            <a:r>
              <a:rPr lang="es-MX" sz="2000" dirty="0"/>
              <a:t>: Spring </a:t>
            </a:r>
            <a:r>
              <a:rPr lang="es-MX" sz="2000" dirty="0" err="1"/>
              <a:t>Boot</a:t>
            </a:r>
            <a:r>
              <a:rPr lang="es-MX" sz="2000" dirty="0"/>
              <a:t> (VS </a:t>
            </a:r>
            <a:r>
              <a:rPr lang="es-MX" sz="2000" dirty="0" err="1"/>
              <a:t>Code</a:t>
            </a:r>
            <a:r>
              <a:rPr lang="es-MX" sz="2000" dirty="0"/>
              <a:t>) </a:t>
            </a:r>
          </a:p>
          <a:p>
            <a:pPr>
              <a:buFont typeface="Arial" panose="020B0604020202020204" pitchFamily="34" charset="0"/>
              <a:buChar char="•"/>
            </a:pPr>
            <a:r>
              <a:rPr lang="es-MX" sz="2000" dirty="0"/>
              <a:t>Base de datos: PostgreSQL (</a:t>
            </a:r>
            <a:r>
              <a:rPr lang="es-MX" sz="2000" dirty="0" err="1"/>
              <a:t>DBeaver</a:t>
            </a:r>
            <a:r>
              <a:rPr lang="es-MX" sz="2000" dirty="0"/>
              <a:t>)</a:t>
            </a:r>
          </a:p>
          <a:p>
            <a:pPr>
              <a:buFont typeface="Arial" panose="020B0604020202020204" pitchFamily="34" charset="0"/>
              <a:buChar char="•"/>
            </a:pPr>
            <a:r>
              <a:rPr lang="es-MX" sz="2000" dirty="0"/>
              <a:t>Comunicación: API REST (HTTP)</a:t>
            </a:r>
          </a:p>
          <a:p>
            <a:pPr marL="0" indent="0">
              <a:buNone/>
            </a:pPr>
            <a:endParaRPr lang="es-MX" sz="2000" dirty="0"/>
          </a:p>
          <a:p>
            <a:pPr marL="0" indent="0">
              <a:buNone/>
            </a:pPr>
            <a:endParaRPr lang="es-MX" sz="2000" dirty="0"/>
          </a:p>
        </p:txBody>
      </p:sp>
      <p:pic>
        <p:nvPicPr>
          <p:cNvPr id="1028" name="Picture 4" descr="PostgreSQL: precios, funciones y opiniones">
            <a:extLst>
              <a:ext uri="{FF2B5EF4-FFF2-40B4-BE49-F238E27FC236}">
                <a16:creationId xmlns:a16="http://schemas.microsoft.com/office/drawing/2014/main" id="{DBD12681-39C9-8EC4-D057-77A1BD921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1650" y="433901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uilding a CRUD API with Spring Boot: A Step-by-Step Guide | by Kamindu  Gayantha | Medium">
            <a:extLst>
              <a:ext uri="{FF2B5EF4-FFF2-40B4-BE49-F238E27FC236}">
                <a16:creationId xmlns:a16="http://schemas.microsoft.com/office/drawing/2014/main" id="{B149F5BE-98D5-807A-8941-4E7CC9B40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7250" y="4525481"/>
            <a:ext cx="2952750" cy="1552575"/>
          </a:xfrm>
          <a:prstGeom prst="rect">
            <a:avLst/>
          </a:prstGeom>
          <a:noFill/>
          <a:extLst>
            <a:ext uri="{909E8E84-426E-40DD-AFC4-6F175D3DCCD1}">
              <a14:hiddenFill xmlns:a14="http://schemas.microsoft.com/office/drawing/2010/main">
                <a:solidFill>
                  <a:srgbClr val="FFFFFF"/>
                </a:solidFill>
              </a14:hiddenFill>
            </a:ext>
          </a:extLst>
        </p:spPr>
      </p:pic>
      <p:sp>
        <p:nvSpPr>
          <p:cNvPr id="4" name="Forma libre: forma 3">
            <a:extLst>
              <a:ext uri="{FF2B5EF4-FFF2-40B4-BE49-F238E27FC236}">
                <a16:creationId xmlns:a16="http://schemas.microsoft.com/office/drawing/2014/main" id="{26EEE2D5-6D43-EA2A-F8C2-2546AD16440E}"/>
              </a:ext>
            </a:extLst>
          </p:cNvPr>
          <p:cNvSpPr/>
          <p:nvPr/>
        </p:nvSpPr>
        <p:spPr>
          <a:xfrm>
            <a:off x="2171700" y="4236622"/>
            <a:ext cx="7219950" cy="577718"/>
          </a:xfrm>
          <a:custGeom>
            <a:avLst/>
            <a:gdLst>
              <a:gd name="connsiteX0" fmla="*/ 0 w 5715000"/>
              <a:gd name="connsiteY0" fmla="*/ 68678 h 577718"/>
              <a:gd name="connsiteX1" fmla="*/ 2600325 w 5715000"/>
              <a:gd name="connsiteY1" fmla="*/ 40103 h 577718"/>
              <a:gd name="connsiteX2" fmla="*/ 3000375 w 5715000"/>
              <a:gd name="connsiteY2" fmla="*/ 544928 h 577718"/>
              <a:gd name="connsiteX3" fmla="*/ 5715000 w 5715000"/>
              <a:gd name="connsiteY3" fmla="*/ 525878 h 577718"/>
            </a:gdLst>
            <a:ahLst/>
            <a:cxnLst>
              <a:cxn ang="0">
                <a:pos x="connsiteX0" y="connsiteY0"/>
              </a:cxn>
              <a:cxn ang="0">
                <a:pos x="connsiteX1" y="connsiteY1"/>
              </a:cxn>
              <a:cxn ang="0">
                <a:pos x="connsiteX2" y="connsiteY2"/>
              </a:cxn>
              <a:cxn ang="0">
                <a:pos x="connsiteX3" y="connsiteY3"/>
              </a:cxn>
            </a:cxnLst>
            <a:rect l="l" t="t" r="r" b="b"/>
            <a:pathLst>
              <a:path w="5715000" h="577718">
                <a:moveTo>
                  <a:pt x="0" y="68678"/>
                </a:moveTo>
                <a:cubicBezTo>
                  <a:pt x="1050131" y="14703"/>
                  <a:pt x="2100263" y="-39272"/>
                  <a:pt x="2600325" y="40103"/>
                </a:cubicBezTo>
                <a:cubicBezTo>
                  <a:pt x="3100387" y="119478"/>
                  <a:pt x="2481263" y="463966"/>
                  <a:pt x="3000375" y="544928"/>
                </a:cubicBezTo>
                <a:cubicBezTo>
                  <a:pt x="3519488" y="625891"/>
                  <a:pt x="5230813" y="532228"/>
                  <a:pt x="5715000" y="52587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34" name="Picture 10" descr="Visual Studio Code - Download and install on Windows | Microsoft Store">
            <a:extLst>
              <a:ext uri="{FF2B5EF4-FFF2-40B4-BE49-F238E27FC236}">
                <a16:creationId xmlns:a16="http://schemas.microsoft.com/office/drawing/2014/main" id="{BF5778AC-459A-B008-830F-5B37E293E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9544" y="4814340"/>
            <a:ext cx="1086398" cy="108639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avaFX - Wikipedia">
            <a:extLst>
              <a:ext uri="{FF2B5EF4-FFF2-40B4-BE49-F238E27FC236}">
                <a16:creationId xmlns:a16="http://schemas.microsoft.com/office/drawing/2014/main" id="{20BA679D-6C15-CB6D-2370-700F85F1CE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3926" y="5791578"/>
            <a:ext cx="1657350" cy="69056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Beaver - Wikipedia, la enciclopedia libre">
            <a:extLst>
              <a:ext uri="{FF2B5EF4-FFF2-40B4-BE49-F238E27FC236}">
                <a16:creationId xmlns:a16="http://schemas.microsoft.com/office/drawing/2014/main" id="{42726D48-3D46-6634-04E7-B6401B7058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9092" y="4660057"/>
            <a:ext cx="1394964" cy="13949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telliJ IDEA: Web Development Guide | Medium">
            <a:extLst>
              <a:ext uri="{FF2B5EF4-FFF2-40B4-BE49-F238E27FC236}">
                <a16:creationId xmlns:a16="http://schemas.microsoft.com/office/drawing/2014/main" id="{30D6F7D2-AFA2-9EA0-89FD-D2AABCBFC7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7720" y="4236622"/>
            <a:ext cx="1554956" cy="1554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6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C8C0331-4FF1-5A83-DF65-29157525C6F0}"/>
              </a:ext>
            </a:extLst>
          </p:cNvPr>
          <p:cNvSpPr>
            <a:spLocks noGrp="1" noChangeArrowheads="1"/>
          </p:cNvSpPr>
          <p:nvPr>
            <p:ph idx="1"/>
          </p:nvPr>
        </p:nvSpPr>
        <p:spPr bwMode="auto">
          <a:xfrm>
            <a:off x="447104" y="167481"/>
            <a:ext cx="42650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3. Avances realizados</a:t>
            </a:r>
          </a:p>
          <a:p>
            <a:pPr marL="0" marR="0" lvl="0" indent="0" algn="l" defTabSz="914400" rtl="0" eaLnBrk="0" fontAlgn="base" latinLnBrk="0" hangingPunct="0">
              <a:lnSpc>
                <a:spcPct val="100000"/>
              </a:lnSpc>
              <a:spcBef>
                <a:spcPct val="0"/>
              </a:spcBef>
              <a:spcAft>
                <a:spcPct val="0"/>
              </a:spcAft>
              <a:buClrTx/>
              <a:buSzTx/>
              <a:buNone/>
              <a:tabLst/>
            </a:pPr>
            <a:r>
              <a:rPr lang="es-MX" altLang="es-MX" dirty="0"/>
              <a:t>Se creó la interfaz gráfica en</a:t>
            </a:r>
          </a:p>
        </p:txBody>
      </p:sp>
      <p:sp>
        <p:nvSpPr>
          <p:cNvPr id="6" name="CuadroTexto 5">
            <a:extLst>
              <a:ext uri="{FF2B5EF4-FFF2-40B4-BE49-F238E27FC236}">
                <a16:creationId xmlns:a16="http://schemas.microsoft.com/office/drawing/2014/main" id="{3BCE6F15-27D4-7B73-E6AF-A6C87385938B}"/>
              </a:ext>
            </a:extLst>
          </p:cNvPr>
          <p:cNvSpPr txBox="1"/>
          <p:nvPr/>
        </p:nvSpPr>
        <p:spPr>
          <a:xfrm>
            <a:off x="447104" y="1235206"/>
            <a:ext cx="11668696" cy="369332"/>
          </a:xfrm>
          <a:prstGeom prst="rect">
            <a:avLst/>
          </a:prstGeom>
          <a:noFill/>
        </p:spPr>
        <p:txBody>
          <a:bodyPr wrap="square">
            <a:spAutoFit/>
          </a:bodyPr>
          <a:lstStyle/>
          <a:p>
            <a:r>
              <a:rPr lang="es-MX" dirty="0"/>
              <a:t>En la siguiente figura se muestra la interfaz principal del sistema, donde el usuario puede registrar la asistencia del docente.</a:t>
            </a:r>
          </a:p>
        </p:txBody>
      </p:sp>
      <p:pic>
        <p:nvPicPr>
          <p:cNvPr id="7" name="Picture 12" descr="JavaFX - Wikipedia">
            <a:extLst>
              <a:ext uri="{FF2B5EF4-FFF2-40B4-BE49-F238E27FC236}">
                <a16:creationId xmlns:a16="http://schemas.microsoft.com/office/drawing/2014/main" id="{5008C5DD-8858-6FA7-CCBD-0CF7826328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8291" y="356157"/>
            <a:ext cx="1657350" cy="69056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4079F50B-E6C5-D22F-05DD-3AC6D3267803}"/>
              </a:ext>
            </a:extLst>
          </p:cNvPr>
          <p:cNvPicPr>
            <a:picLocks noChangeAspect="1"/>
          </p:cNvPicPr>
          <p:nvPr/>
        </p:nvPicPr>
        <p:blipFill>
          <a:blip r:embed="rId3"/>
          <a:stretch>
            <a:fillRect/>
          </a:stretch>
        </p:blipFill>
        <p:spPr>
          <a:xfrm>
            <a:off x="447104" y="1793024"/>
            <a:ext cx="4181344" cy="4048125"/>
          </a:xfrm>
          <a:prstGeom prst="rect">
            <a:avLst/>
          </a:prstGeom>
        </p:spPr>
      </p:pic>
      <p:sp>
        <p:nvSpPr>
          <p:cNvPr id="10" name="CuadroTexto 9">
            <a:extLst>
              <a:ext uri="{FF2B5EF4-FFF2-40B4-BE49-F238E27FC236}">
                <a16:creationId xmlns:a16="http://schemas.microsoft.com/office/drawing/2014/main" id="{A1EC79A8-46EC-E302-4D22-B92C9A816410}"/>
              </a:ext>
            </a:extLst>
          </p:cNvPr>
          <p:cNvSpPr txBox="1"/>
          <p:nvPr/>
        </p:nvSpPr>
        <p:spPr>
          <a:xfrm>
            <a:off x="4858291" y="1977528"/>
            <a:ext cx="7210425" cy="3970318"/>
          </a:xfrm>
          <a:prstGeom prst="rect">
            <a:avLst/>
          </a:prstGeom>
          <a:noFill/>
        </p:spPr>
        <p:txBody>
          <a:bodyPr wrap="square" rtlCol="0">
            <a:spAutoFit/>
          </a:bodyPr>
          <a:lstStyle/>
          <a:p>
            <a:pPr marL="342900" indent="-342900">
              <a:buFont typeface="+mj-lt"/>
              <a:buAutoNum type="arabicPeriod"/>
            </a:pPr>
            <a:r>
              <a:rPr lang="es-MX" dirty="0"/>
              <a:t>Comenzamos dando </a:t>
            </a:r>
            <a:r>
              <a:rPr lang="es-MX" dirty="0" err="1"/>
              <a:t>click</a:t>
            </a:r>
            <a:r>
              <a:rPr lang="es-MX" dirty="0"/>
              <a:t> al botón verde para comenzar y la cámara del sistema encienda.</a:t>
            </a:r>
          </a:p>
          <a:p>
            <a:pPr marL="342900" indent="-342900">
              <a:buAutoNum type="arabicPeriod"/>
            </a:pPr>
            <a:r>
              <a:rPr lang="es-MX" dirty="0"/>
              <a:t>El segundo botón azul se utiliza cuando se realiza un registro de un nuevo docente colocando en la parte superior línea blanca su id otorgado por un supervisor y en automático queda su registro</a:t>
            </a:r>
          </a:p>
          <a:p>
            <a:pPr marL="342900" indent="-342900">
              <a:buAutoNum type="arabicPeriod"/>
            </a:pPr>
            <a:endParaRPr lang="es-MX" dirty="0"/>
          </a:p>
          <a:p>
            <a:pPr marL="342900" indent="-342900">
              <a:buAutoNum type="arabicPeriod"/>
            </a:pPr>
            <a:endParaRPr lang="es-MX" dirty="0"/>
          </a:p>
          <a:p>
            <a:endParaRPr lang="es-MX" dirty="0"/>
          </a:p>
          <a:p>
            <a:pPr marL="342900" indent="-342900">
              <a:buAutoNum type="arabicPeriod"/>
            </a:pPr>
            <a:endParaRPr lang="es-MX" dirty="0"/>
          </a:p>
          <a:p>
            <a:pPr marL="342900" indent="-342900">
              <a:buAutoNum type="arabicPeriod"/>
            </a:pPr>
            <a:r>
              <a:rPr lang="es-MX" dirty="0"/>
              <a:t>El tercer botón lo utilizaremos para el registro de la asistencia del docente, el sistema reconoce el rostro y se envía a la base de datos correspondiente dicha asistencia</a:t>
            </a:r>
          </a:p>
          <a:p>
            <a:pPr marL="342900" indent="-342900">
              <a:buAutoNum type="arabicPeriod"/>
            </a:pPr>
            <a:r>
              <a:rPr lang="es-MX" dirty="0"/>
              <a:t>Botón rojo y ultimo, este al terminar dicho registro de asistencia se da doble </a:t>
            </a:r>
            <a:r>
              <a:rPr lang="es-MX" dirty="0" err="1"/>
              <a:t>click</a:t>
            </a:r>
            <a:r>
              <a:rPr lang="es-MX" dirty="0"/>
              <a:t> a dicho botón para finalizar y apagar nuestra cámara</a:t>
            </a:r>
          </a:p>
        </p:txBody>
      </p:sp>
      <p:pic>
        <p:nvPicPr>
          <p:cNvPr id="12" name="Imagen 11">
            <a:extLst>
              <a:ext uri="{FF2B5EF4-FFF2-40B4-BE49-F238E27FC236}">
                <a16:creationId xmlns:a16="http://schemas.microsoft.com/office/drawing/2014/main" id="{C5BB53F6-5499-A534-AC22-47442E68C923}"/>
              </a:ext>
            </a:extLst>
          </p:cNvPr>
          <p:cNvPicPr>
            <a:picLocks noChangeAspect="1"/>
          </p:cNvPicPr>
          <p:nvPr/>
        </p:nvPicPr>
        <p:blipFill>
          <a:blip r:embed="rId4"/>
          <a:stretch>
            <a:fillRect/>
          </a:stretch>
        </p:blipFill>
        <p:spPr>
          <a:xfrm>
            <a:off x="5337839" y="3571691"/>
            <a:ext cx="2355604" cy="684535"/>
          </a:xfrm>
          <a:prstGeom prst="rect">
            <a:avLst/>
          </a:prstGeom>
        </p:spPr>
      </p:pic>
      <p:sp>
        <p:nvSpPr>
          <p:cNvPr id="14" name="CuadroTexto 13">
            <a:extLst>
              <a:ext uri="{FF2B5EF4-FFF2-40B4-BE49-F238E27FC236}">
                <a16:creationId xmlns:a16="http://schemas.microsoft.com/office/drawing/2014/main" id="{0EE88B81-B1DC-0AE9-4047-21D6726B21AE}"/>
              </a:ext>
            </a:extLst>
          </p:cNvPr>
          <p:cNvSpPr txBox="1"/>
          <p:nvPr/>
        </p:nvSpPr>
        <p:spPr>
          <a:xfrm>
            <a:off x="7698643" y="3683125"/>
            <a:ext cx="4370073" cy="523220"/>
          </a:xfrm>
          <a:prstGeom prst="rect">
            <a:avLst/>
          </a:prstGeom>
          <a:noFill/>
        </p:spPr>
        <p:txBody>
          <a:bodyPr wrap="square">
            <a:spAutoFit/>
          </a:bodyPr>
          <a:lstStyle/>
          <a:p>
            <a:r>
              <a:rPr lang="es-MX" sz="1400" dirty="0"/>
              <a:t>Este método permite enviar el ID del docente al </a:t>
            </a:r>
            <a:r>
              <a:rPr lang="es-MX" sz="1400" dirty="0" err="1"/>
              <a:t>backend</a:t>
            </a:r>
            <a:r>
              <a:rPr lang="es-MX" sz="1400" dirty="0"/>
              <a:t> para registrar su asistencia.</a:t>
            </a:r>
          </a:p>
        </p:txBody>
      </p:sp>
    </p:spTree>
    <p:extLst>
      <p:ext uri="{BB962C8B-B14F-4D97-AF65-F5344CB8AC3E}">
        <p14:creationId xmlns:p14="http://schemas.microsoft.com/office/powerpoint/2010/main" val="2511964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600EEC-6773-2373-EB39-3C999C47BE92}"/>
              </a:ext>
            </a:extLst>
          </p:cNvPr>
          <p:cNvSpPr>
            <a:spLocks noGrp="1"/>
          </p:cNvSpPr>
          <p:nvPr>
            <p:ph type="title"/>
          </p:nvPr>
        </p:nvSpPr>
        <p:spPr>
          <a:xfrm>
            <a:off x="838200" y="365126"/>
            <a:ext cx="5701496" cy="491402"/>
          </a:xfrm>
        </p:spPr>
        <p:txBody>
          <a:bodyPr>
            <a:normAutofit/>
          </a:bodyPr>
          <a:lstStyle/>
          <a:p>
            <a:r>
              <a:rPr lang="es-MX" sz="2400" b="1" dirty="0"/>
              <a:t>Se implementó el </a:t>
            </a:r>
            <a:r>
              <a:rPr lang="es-MX" sz="2400" b="1" dirty="0" err="1"/>
              <a:t>backend</a:t>
            </a:r>
            <a:r>
              <a:rPr lang="es-MX" sz="2400" b="1" dirty="0"/>
              <a:t> con Spring </a:t>
            </a:r>
            <a:r>
              <a:rPr lang="es-MX" sz="2400" b="1" dirty="0" err="1"/>
              <a:t>Boot</a:t>
            </a:r>
            <a:endParaRPr lang="es-MX" sz="2400" b="1" dirty="0"/>
          </a:p>
        </p:txBody>
      </p:sp>
      <p:sp>
        <p:nvSpPr>
          <p:cNvPr id="3" name="Marcador de contenido 2">
            <a:extLst>
              <a:ext uri="{FF2B5EF4-FFF2-40B4-BE49-F238E27FC236}">
                <a16:creationId xmlns:a16="http://schemas.microsoft.com/office/drawing/2014/main" id="{026F7B80-BECA-3D01-3A08-C7CFB078837B}"/>
              </a:ext>
            </a:extLst>
          </p:cNvPr>
          <p:cNvSpPr>
            <a:spLocks noGrp="1"/>
          </p:cNvSpPr>
          <p:nvPr>
            <p:ph idx="1"/>
          </p:nvPr>
        </p:nvSpPr>
        <p:spPr>
          <a:xfrm>
            <a:off x="838200" y="958122"/>
            <a:ext cx="10515600" cy="1229494"/>
          </a:xfrm>
        </p:spPr>
        <p:txBody>
          <a:bodyPr>
            <a:normAutofit/>
          </a:bodyPr>
          <a:lstStyle/>
          <a:p>
            <a:pPr marL="0" indent="0">
              <a:buNone/>
            </a:pPr>
            <a:r>
              <a:rPr lang="es-MX" sz="1400" dirty="0"/>
              <a:t>El </a:t>
            </a:r>
            <a:r>
              <a:rPr lang="es-MX" sz="1400" dirty="0" err="1"/>
              <a:t>backend</a:t>
            </a:r>
            <a:r>
              <a:rPr lang="es-MX" sz="1400" dirty="0"/>
              <a:t> del sistema fue desarrollado utilizando </a:t>
            </a:r>
            <a:r>
              <a:rPr lang="es-MX" sz="1400" b="1" dirty="0"/>
              <a:t>Spring </a:t>
            </a:r>
            <a:r>
              <a:rPr lang="es-MX" sz="1400" b="1" dirty="0" err="1"/>
              <a:t>Boot</a:t>
            </a:r>
            <a:r>
              <a:rPr lang="es-MX" sz="1400" dirty="0"/>
              <a:t>, con el objetivo de gestionar la lógica del sistema y permitir la comunicación con el </a:t>
            </a:r>
            <a:r>
              <a:rPr lang="es-MX" sz="1400" dirty="0" err="1"/>
              <a:t>frontend</a:t>
            </a:r>
            <a:r>
              <a:rPr lang="es-MX" sz="1400" dirty="0"/>
              <a:t> desarrollado en </a:t>
            </a:r>
            <a:r>
              <a:rPr lang="es-MX" sz="1400" dirty="0" err="1"/>
              <a:t>JavaFX</a:t>
            </a:r>
            <a:r>
              <a:rPr lang="es-MX" sz="1400" dirty="0"/>
              <a:t>.</a:t>
            </a:r>
          </a:p>
          <a:p>
            <a:pPr marL="0" indent="0">
              <a:buNone/>
            </a:pPr>
            <a:r>
              <a:rPr lang="es-MX" sz="1400" dirty="0"/>
              <a:t>Se implementaron </a:t>
            </a:r>
            <a:r>
              <a:rPr lang="es-MX" sz="1400" b="1" dirty="0"/>
              <a:t>servicios y controladores REST</a:t>
            </a:r>
            <a:r>
              <a:rPr lang="es-MX" sz="1400" dirty="0"/>
              <a:t> que permiten registrar la asistencia de los docentes y almacenar la información en la base de datos PostgreSQL.</a:t>
            </a:r>
          </a:p>
          <a:p>
            <a:pPr marL="0" indent="0">
              <a:buNone/>
            </a:pPr>
            <a:endParaRPr lang="es-MX" sz="1400" dirty="0"/>
          </a:p>
          <a:p>
            <a:pPr marL="0" indent="0">
              <a:buNone/>
            </a:pPr>
            <a:endParaRPr lang="es-MX" sz="1400" dirty="0"/>
          </a:p>
          <a:p>
            <a:pPr marL="0" indent="0">
              <a:buNone/>
            </a:pPr>
            <a:endParaRPr lang="es-MX" sz="1400" dirty="0"/>
          </a:p>
        </p:txBody>
      </p:sp>
      <p:pic>
        <p:nvPicPr>
          <p:cNvPr id="5" name="Imagen 4">
            <a:extLst>
              <a:ext uri="{FF2B5EF4-FFF2-40B4-BE49-F238E27FC236}">
                <a16:creationId xmlns:a16="http://schemas.microsoft.com/office/drawing/2014/main" id="{573917B5-23E6-2043-A761-C000BC72CF1A}"/>
              </a:ext>
            </a:extLst>
          </p:cNvPr>
          <p:cNvPicPr>
            <a:picLocks noChangeAspect="1"/>
          </p:cNvPicPr>
          <p:nvPr/>
        </p:nvPicPr>
        <p:blipFill>
          <a:blip r:embed="rId2"/>
          <a:stretch>
            <a:fillRect/>
          </a:stretch>
        </p:blipFill>
        <p:spPr>
          <a:xfrm>
            <a:off x="838200" y="1965889"/>
            <a:ext cx="3270813" cy="543973"/>
          </a:xfrm>
          <a:prstGeom prst="rect">
            <a:avLst/>
          </a:prstGeom>
        </p:spPr>
      </p:pic>
      <p:sp>
        <p:nvSpPr>
          <p:cNvPr id="6" name="Rectangle 1">
            <a:extLst>
              <a:ext uri="{FF2B5EF4-FFF2-40B4-BE49-F238E27FC236}">
                <a16:creationId xmlns:a16="http://schemas.microsoft.com/office/drawing/2014/main" id="{B363CFF8-EB2E-7D48-B207-5ED356F23916}"/>
              </a:ext>
            </a:extLst>
          </p:cNvPr>
          <p:cNvSpPr>
            <a:spLocks noChangeArrowheads="1"/>
          </p:cNvSpPr>
          <p:nvPr/>
        </p:nvSpPr>
        <p:spPr bwMode="auto">
          <a:xfrm>
            <a:off x="729199" y="2556029"/>
            <a:ext cx="107336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Se creó un </a:t>
            </a:r>
            <a:r>
              <a:rPr lang="es-MX" altLang="es-MX" sz="1400" dirty="0" err="1"/>
              <a:t>endpoint</a:t>
            </a:r>
            <a:r>
              <a:rPr lang="es-MX" altLang="es-MX" sz="1400" dirty="0"/>
              <a:t> de tipo POST que permite registrar la asistencia. Este recibe un objeto Asistencia desde el </a:t>
            </a:r>
            <a:r>
              <a:rPr lang="es-MX" altLang="es-MX" sz="1400" dirty="0" err="1"/>
              <a:t>frontend</a:t>
            </a:r>
            <a:r>
              <a:rPr lang="es-MX" altLang="es-MX" sz="1400" dirty="0"/>
              <a:t> en formato JSON y devuelve una respuesta con la información registrada. </a:t>
            </a:r>
          </a:p>
        </p:txBody>
      </p:sp>
      <p:pic>
        <p:nvPicPr>
          <p:cNvPr id="8" name="Imagen 7">
            <a:extLst>
              <a:ext uri="{FF2B5EF4-FFF2-40B4-BE49-F238E27FC236}">
                <a16:creationId xmlns:a16="http://schemas.microsoft.com/office/drawing/2014/main" id="{0A463210-B483-2282-0FFA-BA1A22D77061}"/>
              </a:ext>
            </a:extLst>
          </p:cNvPr>
          <p:cNvPicPr>
            <a:picLocks noChangeAspect="1"/>
          </p:cNvPicPr>
          <p:nvPr/>
        </p:nvPicPr>
        <p:blipFill>
          <a:blip r:embed="rId3"/>
          <a:stretch>
            <a:fillRect/>
          </a:stretch>
        </p:blipFill>
        <p:spPr>
          <a:xfrm>
            <a:off x="823249" y="3125416"/>
            <a:ext cx="8468907" cy="533474"/>
          </a:xfrm>
          <a:prstGeom prst="rect">
            <a:avLst/>
          </a:prstGeom>
        </p:spPr>
      </p:pic>
      <p:sp>
        <p:nvSpPr>
          <p:cNvPr id="10" name="CuadroTexto 9">
            <a:extLst>
              <a:ext uri="{FF2B5EF4-FFF2-40B4-BE49-F238E27FC236}">
                <a16:creationId xmlns:a16="http://schemas.microsoft.com/office/drawing/2014/main" id="{7030F03E-5195-1085-0C72-ACA4420E9AE9}"/>
              </a:ext>
            </a:extLst>
          </p:cNvPr>
          <p:cNvSpPr txBox="1"/>
          <p:nvPr/>
        </p:nvSpPr>
        <p:spPr>
          <a:xfrm>
            <a:off x="736104" y="3836956"/>
            <a:ext cx="10968944" cy="307777"/>
          </a:xfrm>
          <a:prstGeom prst="rect">
            <a:avLst/>
          </a:prstGeom>
          <a:noFill/>
        </p:spPr>
        <p:txBody>
          <a:bodyPr wrap="square">
            <a:spAutoFit/>
          </a:bodyPr>
          <a:lstStyle/>
          <a:p>
            <a:r>
              <a:rPr lang="es-MX" sz="1400" dirty="0"/>
              <a:t>El sistema obtiene automáticamente la fecha y hora actual del servidor para registrar el momento exacto en que se detecta la asistencia.</a:t>
            </a:r>
          </a:p>
        </p:txBody>
      </p:sp>
      <p:pic>
        <p:nvPicPr>
          <p:cNvPr id="12" name="Imagen 11">
            <a:extLst>
              <a:ext uri="{FF2B5EF4-FFF2-40B4-BE49-F238E27FC236}">
                <a16:creationId xmlns:a16="http://schemas.microsoft.com/office/drawing/2014/main" id="{2FF614C9-A8B3-C52D-A0D7-D1E464C20CC0}"/>
              </a:ext>
            </a:extLst>
          </p:cNvPr>
          <p:cNvPicPr>
            <a:picLocks noChangeAspect="1"/>
          </p:cNvPicPr>
          <p:nvPr/>
        </p:nvPicPr>
        <p:blipFill>
          <a:blip r:embed="rId4"/>
          <a:stretch>
            <a:fillRect/>
          </a:stretch>
        </p:blipFill>
        <p:spPr>
          <a:xfrm>
            <a:off x="838200" y="4178493"/>
            <a:ext cx="4995441" cy="450916"/>
          </a:xfrm>
          <a:prstGeom prst="rect">
            <a:avLst/>
          </a:prstGeom>
        </p:spPr>
      </p:pic>
      <p:sp>
        <p:nvSpPr>
          <p:cNvPr id="13" name="Rectangle 2">
            <a:extLst>
              <a:ext uri="{FF2B5EF4-FFF2-40B4-BE49-F238E27FC236}">
                <a16:creationId xmlns:a16="http://schemas.microsoft.com/office/drawing/2014/main" id="{657D0750-5059-CFE1-2258-CE6C8D8C9D24}"/>
              </a:ext>
            </a:extLst>
          </p:cNvPr>
          <p:cNvSpPr>
            <a:spLocks noChangeArrowheads="1"/>
          </p:cNvSpPr>
          <p:nvPr/>
        </p:nvSpPr>
        <p:spPr bwMode="auto">
          <a:xfrm>
            <a:off x="736104" y="4685731"/>
            <a:ext cx="512537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Posteriormente, se valida si el docente llegó a tiempo o con retraso:</a:t>
            </a:r>
          </a:p>
        </p:txBody>
      </p:sp>
      <p:pic>
        <p:nvPicPr>
          <p:cNvPr id="15" name="Imagen 14">
            <a:extLst>
              <a:ext uri="{FF2B5EF4-FFF2-40B4-BE49-F238E27FC236}">
                <a16:creationId xmlns:a16="http://schemas.microsoft.com/office/drawing/2014/main" id="{692E4935-9062-0C3C-4E95-F5FCF1CFD8CE}"/>
              </a:ext>
            </a:extLst>
          </p:cNvPr>
          <p:cNvPicPr>
            <a:picLocks noChangeAspect="1"/>
          </p:cNvPicPr>
          <p:nvPr/>
        </p:nvPicPr>
        <p:blipFill>
          <a:blip r:embed="rId5"/>
          <a:stretch>
            <a:fillRect/>
          </a:stretch>
        </p:blipFill>
        <p:spPr>
          <a:xfrm>
            <a:off x="823249" y="4993508"/>
            <a:ext cx="6317778" cy="815602"/>
          </a:xfrm>
          <a:prstGeom prst="rect">
            <a:avLst/>
          </a:prstGeom>
        </p:spPr>
      </p:pic>
      <p:sp>
        <p:nvSpPr>
          <p:cNvPr id="17" name="CuadroTexto 16">
            <a:extLst>
              <a:ext uri="{FF2B5EF4-FFF2-40B4-BE49-F238E27FC236}">
                <a16:creationId xmlns:a16="http://schemas.microsoft.com/office/drawing/2014/main" id="{1CD5172D-96DA-02C3-02F4-26E9397A22E0}"/>
              </a:ext>
            </a:extLst>
          </p:cNvPr>
          <p:cNvSpPr txBox="1"/>
          <p:nvPr/>
        </p:nvSpPr>
        <p:spPr>
          <a:xfrm>
            <a:off x="796240" y="5809110"/>
            <a:ext cx="6094070" cy="307777"/>
          </a:xfrm>
          <a:prstGeom prst="rect">
            <a:avLst/>
          </a:prstGeom>
          <a:noFill/>
        </p:spPr>
        <p:txBody>
          <a:bodyPr wrap="square">
            <a:spAutoFit/>
          </a:bodyPr>
          <a:lstStyle/>
          <a:p>
            <a:r>
              <a:rPr lang="es-MX" sz="1400" dirty="0"/>
              <a:t>Finalmente, la información es almacenada en la base de datos PostgreSQL:</a:t>
            </a:r>
          </a:p>
        </p:txBody>
      </p:sp>
      <p:pic>
        <p:nvPicPr>
          <p:cNvPr id="19" name="Imagen 18">
            <a:extLst>
              <a:ext uri="{FF2B5EF4-FFF2-40B4-BE49-F238E27FC236}">
                <a16:creationId xmlns:a16="http://schemas.microsoft.com/office/drawing/2014/main" id="{8DC0724D-A82B-AC16-58E0-B6B5DBF37154}"/>
              </a:ext>
            </a:extLst>
          </p:cNvPr>
          <p:cNvPicPr>
            <a:picLocks noChangeAspect="1"/>
          </p:cNvPicPr>
          <p:nvPr/>
        </p:nvPicPr>
        <p:blipFill>
          <a:blip r:embed="rId6"/>
          <a:stretch>
            <a:fillRect/>
          </a:stretch>
        </p:blipFill>
        <p:spPr>
          <a:xfrm>
            <a:off x="823249" y="6116887"/>
            <a:ext cx="6916115" cy="352474"/>
          </a:xfrm>
          <a:prstGeom prst="rect">
            <a:avLst/>
          </a:prstGeom>
        </p:spPr>
      </p:pic>
      <p:pic>
        <p:nvPicPr>
          <p:cNvPr id="20" name="Picture 8" descr="Building a CRUD API with Spring Boot: A Step-by-Step Guide | by Kamindu  Gayantha | Medium">
            <a:extLst>
              <a:ext uri="{FF2B5EF4-FFF2-40B4-BE49-F238E27FC236}">
                <a16:creationId xmlns:a16="http://schemas.microsoft.com/office/drawing/2014/main" id="{15B60163-A249-8D60-6FAD-DDCAA1379F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1027" y="197847"/>
            <a:ext cx="1551145" cy="81560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Visual Studio Code - Download and install on Windows | Microsoft Store">
            <a:extLst>
              <a:ext uri="{FF2B5EF4-FFF2-40B4-BE49-F238E27FC236}">
                <a16:creationId xmlns:a16="http://schemas.microsoft.com/office/drawing/2014/main" id="{03E3E7E4-E3C4-787D-3254-754B3D9FA7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321" y="265421"/>
            <a:ext cx="570709" cy="57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226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31250-EDD8-2F89-E930-2ED3D6EE58D4}"/>
              </a:ext>
            </a:extLst>
          </p:cNvPr>
          <p:cNvSpPr>
            <a:spLocks noGrp="1"/>
          </p:cNvSpPr>
          <p:nvPr>
            <p:ph type="title"/>
          </p:nvPr>
        </p:nvSpPr>
        <p:spPr>
          <a:xfrm>
            <a:off x="317298" y="293813"/>
            <a:ext cx="7599744" cy="283056"/>
          </a:xfrm>
        </p:spPr>
        <p:txBody>
          <a:bodyPr>
            <a:normAutofit fontScale="90000"/>
          </a:bodyPr>
          <a:lstStyle/>
          <a:p>
            <a:r>
              <a:rPr lang="es-MX" sz="2800" b="1" dirty="0"/>
              <a:t>Se configuró la conexión con PostgreSQL con lo siguiente:</a:t>
            </a:r>
          </a:p>
        </p:txBody>
      </p:sp>
      <p:sp>
        <p:nvSpPr>
          <p:cNvPr id="4" name="Rectangle 1">
            <a:extLst>
              <a:ext uri="{FF2B5EF4-FFF2-40B4-BE49-F238E27FC236}">
                <a16:creationId xmlns:a16="http://schemas.microsoft.com/office/drawing/2014/main" id="{D1A9115D-DFB4-F0FA-25A4-E41BF5F4BB70}"/>
              </a:ext>
            </a:extLst>
          </p:cNvPr>
          <p:cNvSpPr>
            <a:spLocks noChangeArrowheads="1"/>
          </p:cNvSpPr>
          <p:nvPr/>
        </p:nvSpPr>
        <p:spPr bwMode="auto">
          <a:xfrm>
            <a:off x="6450915" y="1443841"/>
            <a:ext cx="574108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server.port</a:t>
            </a:r>
            <a:r>
              <a:rPr lang="es-MX" altLang="es-MX" sz="1400" b="1" dirty="0"/>
              <a:t>=8081</a:t>
            </a:r>
            <a:br>
              <a:rPr lang="es-MX" altLang="es-MX" sz="1400" dirty="0"/>
            </a:br>
            <a:r>
              <a:rPr lang="es-MX" altLang="es-MX" sz="1400" dirty="0"/>
              <a:t>Define el puerto en el que se ejecuta el servidor </a:t>
            </a:r>
            <a:r>
              <a:rPr lang="es-MX" altLang="es-MX" sz="1400" dirty="0" err="1"/>
              <a:t>backend</a:t>
            </a:r>
            <a:r>
              <a:rPr lang="es-MX" altLang="es-MX" sz="1400" dirty="0"/>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t>spring.datasource.url</a:t>
            </a:r>
            <a:br>
              <a:rPr lang="es-MX" altLang="es-MX" sz="1400" dirty="0"/>
            </a:br>
            <a:r>
              <a:rPr lang="es-MX" altLang="es-MX" sz="1400" dirty="0"/>
              <a:t>Especifica la dirección de la base de datos PostgreSQL llamada </a:t>
            </a:r>
            <a:r>
              <a:rPr lang="es-MX" altLang="es-MX" sz="1400" dirty="0" err="1"/>
              <a:t>sistema_biometrico</a:t>
            </a:r>
            <a:r>
              <a:rPr lang="es-MX" altLang="es-MX" sz="1400" dirty="0"/>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spring.datasource.username</a:t>
            </a:r>
            <a:r>
              <a:rPr lang="es-MX" altLang="es-MX" sz="1400" b="1" dirty="0"/>
              <a:t> y </a:t>
            </a:r>
            <a:r>
              <a:rPr lang="es-MX" altLang="es-MX" sz="1400" b="1" dirty="0" err="1"/>
              <a:t>password</a:t>
            </a:r>
            <a:br>
              <a:rPr lang="es-MX" altLang="es-MX" sz="1400" dirty="0"/>
            </a:br>
            <a:r>
              <a:rPr lang="es-MX" altLang="es-MX" sz="1400" dirty="0"/>
              <a:t>Credenciales de acceso a la base de datos.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a:t>driver-</a:t>
            </a:r>
            <a:r>
              <a:rPr lang="es-MX" altLang="es-MX" sz="1400" b="1" dirty="0" err="1"/>
              <a:t>class</a:t>
            </a:r>
            <a:r>
              <a:rPr lang="es-MX" altLang="es-MX" sz="1400" b="1" dirty="0"/>
              <a:t>-</a:t>
            </a:r>
            <a:r>
              <a:rPr lang="es-MX" altLang="es-MX" sz="1400" b="1" dirty="0" err="1"/>
              <a:t>name</a:t>
            </a:r>
            <a:br>
              <a:rPr lang="es-MX" altLang="es-MX" sz="1400" dirty="0"/>
            </a:br>
            <a:r>
              <a:rPr lang="es-MX" altLang="es-MX" sz="1400" dirty="0"/>
              <a:t>Indica el controlador necesario para conectar con PostgreSQL.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spring.jpa.hibernate.ddl</a:t>
            </a:r>
            <a:r>
              <a:rPr lang="es-MX" altLang="es-MX" sz="1400" b="1" dirty="0"/>
              <a:t>-auto=</a:t>
            </a:r>
            <a:r>
              <a:rPr lang="es-MX" altLang="es-MX" sz="1400" b="1" dirty="0" err="1"/>
              <a:t>update</a:t>
            </a:r>
            <a:br>
              <a:rPr lang="es-MX" altLang="es-MX" sz="1400" b="1" dirty="0"/>
            </a:br>
            <a:r>
              <a:rPr lang="es-MX" altLang="es-MX" sz="1400" dirty="0"/>
              <a:t>Permite que las tablas se creen o actualicen automáticamente según las entidades del sistema.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spring.jpa.show-sql</a:t>
            </a:r>
            <a:r>
              <a:rPr lang="es-MX" altLang="es-MX" sz="1400" b="1" dirty="0"/>
              <a:t>=true</a:t>
            </a:r>
            <a:br>
              <a:rPr lang="es-MX" altLang="es-MX" sz="1400" dirty="0"/>
            </a:br>
            <a:r>
              <a:rPr lang="es-MX" altLang="es-MX" sz="1400" dirty="0"/>
              <a:t>Muestra las consultas SQL en la consola para facilitar la depuración.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hibernate.format_sql</a:t>
            </a:r>
            <a:r>
              <a:rPr lang="es-MX" altLang="es-MX" sz="1400" b="1" dirty="0"/>
              <a:t>=true</a:t>
            </a:r>
            <a:br>
              <a:rPr lang="es-MX" altLang="es-MX" sz="1400" dirty="0"/>
            </a:br>
            <a:r>
              <a:rPr lang="es-MX" altLang="es-MX" sz="1400" dirty="0"/>
              <a:t>Formatea las consultas para que sean más legibles.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b="1" dirty="0" err="1"/>
              <a:t>logging.level.org.hibernate.orm.jdbc.bind</a:t>
            </a:r>
            <a:r>
              <a:rPr lang="es-MX" altLang="es-MX" sz="1400" b="1" dirty="0"/>
              <a:t>=TRACE</a:t>
            </a:r>
            <a:br>
              <a:rPr lang="es-MX" altLang="es-MX" sz="1400" dirty="0"/>
            </a:br>
            <a:r>
              <a:rPr lang="es-MX" altLang="es-MX" sz="1400" dirty="0"/>
              <a:t>Permite ver los parámetros que se envían en las consultas SQL. </a:t>
            </a:r>
          </a:p>
        </p:txBody>
      </p:sp>
      <p:sp>
        <p:nvSpPr>
          <p:cNvPr id="6" name="CuadroTexto 5">
            <a:extLst>
              <a:ext uri="{FF2B5EF4-FFF2-40B4-BE49-F238E27FC236}">
                <a16:creationId xmlns:a16="http://schemas.microsoft.com/office/drawing/2014/main" id="{744ABE22-F5EE-CBB1-D050-5328CBD1C30B}"/>
              </a:ext>
            </a:extLst>
          </p:cNvPr>
          <p:cNvSpPr txBox="1"/>
          <p:nvPr/>
        </p:nvSpPr>
        <p:spPr>
          <a:xfrm>
            <a:off x="416646" y="3913623"/>
            <a:ext cx="5630120" cy="738664"/>
          </a:xfrm>
          <a:prstGeom prst="rect">
            <a:avLst/>
          </a:prstGeom>
          <a:noFill/>
        </p:spPr>
        <p:txBody>
          <a:bodyPr wrap="square">
            <a:spAutoFit/>
          </a:bodyPr>
          <a:lstStyle/>
          <a:p>
            <a:r>
              <a:rPr lang="es-MX" sz="1400" dirty="0"/>
              <a:t>Gracias a esta configuración, el sistema puede almacenar información en la base de datos utilizando repositorios de Spring </a:t>
            </a:r>
            <a:r>
              <a:rPr lang="es-MX" sz="1400" dirty="0" err="1"/>
              <a:t>Boot</a:t>
            </a:r>
            <a:r>
              <a:rPr lang="es-MX" sz="1400" dirty="0"/>
              <a:t>, como se muestra a continuación:</a:t>
            </a:r>
          </a:p>
        </p:txBody>
      </p:sp>
      <p:pic>
        <p:nvPicPr>
          <p:cNvPr id="8" name="Imagen 7">
            <a:extLst>
              <a:ext uri="{FF2B5EF4-FFF2-40B4-BE49-F238E27FC236}">
                <a16:creationId xmlns:a16="http://schemas.microsoft.com/office/drawing/2014/main" id="{759C21CD-9A59-DDA6-09C1-F278E528EAFF}"/>
              </a:ext>
            </a:extLst>
          </p:cNvPr>
          <p:cNvPicPr>
            <a:picLocks noChangeAspect="1"/>
          </p:cNvPicPr>
          <p:nvPr/>
        </p:nvPicPr>
        <p:blipFill>
          <a:blip r:embed="rId2"/>
          <a:stretch>
            <a:fillRect/>
          </a:stretch>
        </p:blipFill>
        <p:spPr>
          <a:xfrm>
            <a:off x="324091" y="1505951"/>
            <a:ext cx="6035637" cy="1923049"/>
          </a:xfrm>
          <a:prstGeom prst="rect">
            <a:avLst/>
          </a:prstGeom>
        </p:spPr>
      </p:pic>
      <p:pic>
        <p:nvPicPr>
          <p:cNvPr id="10" name="Imagen 9">
            <a:extLst>
              <a:ext uri="{FF2B5EF4-FFF2-40B4-BE49-F238E27FC236}">
                <a16:creationId xmlns:a16="http://schemas.microsoft.com/office/drawing/2014/main" id="{7D8347F2-0543-E2F0-C4DA-6E913CD2C848}"/>
              </a:ext>
            </a:extLst>
          </p:cNvPr>
          <p:cNvPicPr>
            <a:picLocks noChangeAspect="1"/>
          </p:cNvPicPr>
          <p:nvPr/>
        </p:nvPicPr>
        <p:blipFill>
          <a:blip r:embed="rId3"/>
          <a:stretch>
            <a:fillRect/>
          </a:stretch>
        </p:blipFill>
        <p:spPr>
          <a:xfrm>
            <a:off x="416646" y="4944478"/>
            <a:ext cx="5741085" cy="309864"/>
          </a:xfrm>
          <a:prstGeom prst="rect">
            <a:avLst/>
          </a:prstGeom>
        </p:spPr>
      </p:pic>
      <p:pic>
        <p:nvPicPr>
          <p:cNvPr id="11" name="Picture 4" descr="PostgreSQL: precios, funciones y opiniones">
            <a:extLst>
              <a:ext uri="{FF2B5EF4-FFF2-40B4-BE49-F238E27FC236}">
                <a16:creationId xmlns:a16="http://schemas.microsoft.com/office/drawing/2014/main" id="{D5316DEA-CE99-987D-0803-D1214E3F1F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0293" y="75424"/>
            <a:ext cx="1430527" cy="1430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003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E9725C-AEA2-3B32-1449-A3A2E12BD1AD}"/>
              </a:ext>
            </a:extLst>
          </p:cNvPr>
          <p:cNvSpPr>
            <a:spLocks noGrp="1"/>
          </p:cNvSpPr>
          <p:nvPr>
            <p:ph type="title"/>
          </p:nvPr>
        </p:nvSpPr>
        <p:spPr>
          <a:xfrm>
            <a:off x="838200" y="365126"/>
            <a:ext cx="5794094" cy="315912"/>
          </a:xfrm>
        </p:spPr>
        <p:txBody>
          <a:bodyPr>
            <a:normAutofit fontScale="90000"/>
          </a:bodyPr>
          <a:lstStyle/>
          <a:p>
            <a:r>
              <a:rPr lang="es-MX" sz="2400" b="1" dirty="0"/>
              <a:t>Implementación del servicio de asistencia</a:t>
            </a:r>
          </a:p>
        </p:txBody>
      </p:sp>
      <p:sp>
        <p:nvSpPr>
          <p:cNvPr id="4" name="Rectangle 1">
            <a:extLst>
              <a:ext uri="{FF2B5EF4-FFF2-40B4-BE49-F238E27FC236}">
                <a16:creationId xmlns:a16="http://schemas.microsoft.com/office/drawing/2014/main" id="{78047E03-3E21-9A46-AE26-60FB55D9DE5D}"/>
              </a:ext>
            </a:extLst>
          </p:cNvPr>
          <p:cNvSpPr>
            <a:spLocks noChangeArrowheads="1"/>
          </p:cNvSpPr>
          <p:nvPr/>
        </p:nvSpPr>
        <p:spPr bwMode="auto">
          <a:xfrm>
            <a:off x="509285" y="958037"/>
            <a:ext cx="106139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dirty="0"/>
          </a:p>
          <a:p>
            <a:pPr marR="0" lvl="0" algn="l" defTabSz="914400" rtl="0" eaLnBrk="0" fontAlgn="base" latinLnBrk="0" hangingPunct="0">
              <a:lnSpc>
                <a:spcPct val="100000"/>
              </a:lnSpc>
              <a:spcBef>
                <a:spcPct val="0"/>
              </a:spcBef>
              <a:spcAft>
                <a:spcPct val="0"/>
              </a:spcAft>
              <a:buClrTx/>
              <a:buSzTx/>
              <a:tabLst/>
            </a:pPr>
            <a:r>
              <a:rPr lang="es-MX" altLang="es-MX" dirty="0"/>
              <a:t>Se define la clase </a:t>
            </a:r>
            <a:r>
              <a:rPr lang="es-MX" altLang="es-MX" dirty="0" err="1"/>
              <a:t>AsistenciaService</a:t>
            </a:r>
            <a:r>
              <a:rPr lang="es-MX" altLang="es-MX" dirty="0"/>
              <a:t>, encargada de manejar la lógica del registro de asistencia en el </a:t>
            </a:r>
            <a:r>
              <a:rPr lang="es-MX" altLang="es-MX" dirty="0" err="1"/>
              <a:t>frontend</a:t>
            </a:r>
            <a:r>
              <a:rPr lang="es-MX" altLang="es-MX" dirty="0"/>
              <a:t>. </a:t>
            </a:r>
          </a:p>
        </p:txBody>
      </p:sp>
      <p:pic>
        <p:nvPicPr>
          <p:cNvPr id="6" name="Imagen 5">
            <a:extLst>
              <a:ext uri="{FF2B5EF4-FFF2-40B4-BE49-F238E27FC236}">
                <a16:creationId xmlns:a16="http://schemas.microsoft.com/office/drawing/2014/main" id="{117970EB-9DF2-D5E2-D1E3-042D35B0A189}"/>
              </a:ext>
            </a:extLst>
          </p:cNvPr>
          <p:cNvPicPr>
            <a:picLocks noChangeAspect="1"/>
          </p:cNvPicPr>
          <p:nvPr/>
        </p:nvPicPr>
        <p:blipFill>
          <a:blip r:embed="rId2"/>
          <a:stretch>
            <a:fillRect/>
          </a:stretch>
        </p:blipFill>
        <p:spPr>
          <a:xfrm>
            <a:off x="5591476" y="1551178"/>
            <a:ext cx="6230941" cy="4051140"/>
          </a:xfrm>
          <a:prstGeom prst="rect">
            <a:avLst/>
          </a:prstGeom>
        </p:spPr>
      </p:pic>
      <p:sp>
        <p:nvSpPr>
          <p:cNvPr id="8" name="CuadroTexto 7">
            <a:extLst>
              <a:ext uri="{FF2B5EF4-FFF2-40B4-BE49-F238E27FC236}">
                <a16:creationId xmlns:a16="http://schemas.microsoft.com/office/drawing/2014/main" id="{47911EE5-7CFB-14DB-B498-46F7A403A01B}"/>
              </a:ext>
            </a:extLst>
          </p:cNvPr>
          <p:cNvSpPr txBox="1"/>
          <p:nvPr/>
        </p:nvSpPr>
        <p:spPr>
          <a:xfrm>
            <a:off x="257536" y="2413337"/>
            <a:ext cx="5082191" cy="286232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dirty="0"/>
          </a:p>
          <a:p>
            <a:pPr marR="0" lvl="0" algn="l" defTabSz="914400" rtl="0" eaLnBrk="0" fontAlgn="base" latinLnBrk="0" hangingPunct="0">
              <a:lnSpc>
                <a:spcPct val="100000"/>
              </a:lnSpc>
              <a:spcBef>
                <a:spcPct val="0"/>
              </a:spcBef>
              <a:spcAft>
                <a:spcPct val="0"/>
              </a:spcAft>
              <a:buClrTx/>
              <a:buSzTx/>
              <a:tabLst/>
            </a:pPr>
            <a:r>
              <a:rPr lang="es-MX" altLang="es-MX" dirty="0"/>
              <a:t>Se instancia un objeto </a:t>
            </a:r>
            <a:r>
              <a:rPr lang="es-MX" altLang="es-MX" dirty="0" err="1"/>
              <a:t>ApiService</a:t>
            </a:r>
            <a:r>
              <a:rPr lang="es-MX" altLang="es-MX" dirty="0"/>
              <a:t>, el cual permite realizar la comunicación con el </a:t>
            </a:r>
            <a:r>
              <a:rPr lang="es-MX" altLang="es-MX" dirty="0" err="1"/>
              <a:t>backend</a:t>
            </a:r>
            <a:r>
              <a:rPr lang="es-MX" altLang="es-MX" dirty="0"/>
              <a:t> mediante solicitudes HTTP.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s-MX" altLang="es-MX" dirty="0"/>
          </a:p>
          <a:p>
            <a:pPr marR="0" lvl="0" algn="l" defTabSz="914400" rtl="0" eaLnBrk="0" fontAlgn="base" latinLnBrk="0" hangingPunct="0">
              <a:lnSpc>
                <a:spcPct val="100000"/>
              </a:lnSpc>
              <a:spcBef>
                <a:spcPct val="0"/>
              </a:spcBef>
              <a:spcAft>
                <a:spcPct val="0"/>
              </a:spcAft>
              <a:buClrTx/>
              <a:buSzTx/>
              <a:tabLst/>
            </a:pPr>
            <a:r>
              <a:rPr lang="es-MX" altLang="es-MX" dirty="0"/>
              <a:t>El método registrar(</a:t>
            </a:r>
            <a:r>
              <a:rPr lang="es-MX" altLang="es-MX" dirty="0" err="1"/>
              <a:t>int</a:t>
            </a:r>
            <a:r>
              <a:rPr lang="es-MX" altLang="es-MX" dirty="0"/>
              <a:t> </a:t>
            </a:r>
            <a:r>
              <a:rPr lang="es-MX" altLang="es-MX" dirty="0" err="1"/>
              <a:t>idDocente</a:t>
            </a:r>
            <a:r>
              <a:rPr lang="es-MX" altLang="es-MX" dirty="0"/>
              <a:t>) recibe el identificador del docente y delega la operación al </a:t>
            </a:r>
            <a:r>
              <a:rPr lang="es-MX" altLang="es-MX" dirty="0" err="1"/>
              <a:t>ApiService</a:t>
            </a:r>
            <a:r>
              <a:rPr lang="es-MX" altLang="es-MX" dirty="0"/>
              <a:t>, que se encarga de enviar la información al servidor para su procesamiento</a:t>
            </a:r>
            <a:endParaRPr lang="es-MX" dirty="0"/>
          </a:p>
        </p:txBody>
      </p:sp>
      <p:cxnSp>
        <p:nvCxnSpPr>
          <p:cNvPr id="10" name="Conector recto de flecha 9">
            <a:extLst>
              <a:ext uri="{FF2B5EF4-FFF2-40B4-BE49-F238E27FC236}">
                <a16:creationId xmlns:a16="http://schemas.microsoft.com/office/drawing/2014/main" id="{0EA3FA42-A73A-244A-6D7D-ACAC285F463F}"/>
              </a:ext>
            </a:extLst>
          </p:cNvPr>
          <p:cNvCxnSpPr/>
          <p:nvPr/>
        </p:nvCxnSpPr>
        <p:spPr>
          <a:xfrm>
            <a:off x="5231757" y="3298785"/>
            <a:ext cx="307886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Conector recto de flecha 10">
            <a:extLst>
              <a:ext uri="{FF2B5EF4-FFF2-40B4-BE49-F238E27FC236}">
                <a16:creationId xmlns:a16="http://schemas.microsoft.com/office/drawing/2014/main" id="{F24F4567-656C-A5C3-2D40-628B0B9E83C6}"/>
              </a:ext>
            </a:extLst>
          </p:cNvPr>
          <p:cNvCxnSpPr>
            <a:cxnSpLocks/>
          </p:cNvCxnSpPr>
          <p:nvPr/>
        </p:nvCxnSpPr>
        <p:spPr>
          <a:xfrm flipV="1">
            <a:off x="5231757" y="3970116"/>
            <a:ext cx="3981691" cy="3028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CuadroTexto 13">
            <a:extLst>
              <a:ext uri="{FF2B5EF4-FFF2-40B4-BE49-F238E27FC236}">
                <a16:creationId xmlns:a16="http://schemas.microsoft.com/office/drawing/2014/main" id="{3BE65E5B-EE59-4EB1-57A9-05530D1C89E1}"/>
              </a:ext>
            </a:extLst>
          </p:cNvPr>
          <p:cNvSpPr txBox="1"/>
          <p:nvPr/>
        </p:nvSpPr>
        <p:spPr>
          <a:xfrm>
            <a:off x="1310834" y="5791768"/>
            <a:ext cx="8735992" cy="646331"/>
          </a:xfrm>
          <a:prstGeom prst="rect">
            <a:avLst/>
          </a:prstGeom>
          <a:noFill/>
        </p:spPr>
        <p:txBody>
          <a:bodyPr wrap="square">
            <a:spAutoFit/>
          </a:bodyPr>
          <a:lstStyle/>
          <a:p>
            <a:r>
              <a:rPr lang="es-MX" b="1" dirty="0"/>
              <a:t>Este servicio permite separar la lógica de comunicación del resto de la interfaz gráfica, facilitando la organización del código y haciendo el sistema más modular y mantenible.</a:t>
            </a:r>
          </a:p>
        </p:txBody>
      </p:sp>
    </p:spTree>
    <p:extLst>
      <p:ext uri="{BB962C8B-B14F-4D97-AF65-F5344CB8AC3E}">
        <p14:creationId xmlns:p14="http://schemas.microsoft.com/office/powerpoint/2010/main" val="138188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6EA80A-6E33-D57E-2F32-BCF6300EBE25}"/>
              </a:ext>
            </a:extLst>
          </p:cNvPr>
          <p:cNvSpPr>
            <a:spLocks noGrp="1"/>
          </p:cNvSpPr>
          <p:nvPr>
            <p:ph type="title"/>
          </p:nvPr>
        </p:nvSpPr>
        <p:spPr>
          <a:xfrm>
            <a:off x="838200" y="365125"/>
            <a:ext cx="9545320" cy="559435"/>
          </a:xfrm>
        </p:spPr>
        <p:txBody>
          <a:bodyPr>
            <a:normAutofit/>
          </a:bodyPr>
          <a:lstStyle/>
          <a:p>
            <a:r>
              <a:rPr lang="es-MX" sz="2000" b="1" dirty="0"/>
              <a:t>Comunicación entre </a:t>
            </a:r>
            <a:r>
              <a:rPr lang="es-MX" sz="2000" b="1" dirty="0" err="1"/>
              <a:t>frontend</a:t>
            </a:r>
            <a:r>
              <a:rPr lang="es-MX" sz="2000" b="1" dirty="0"/>
              <a:t> y </a:t>
            </a:r>
            <a:r>
              <a:rPr lang="es-MX" sz="2000" b="1" dirty="0" err="1"/>
              <a:t>backend</a:t>
            </a:r>
            <a:r>
              <a:rPr lang="es-MX" sz="2000" b="1" dirty="0"/>
              <a:t> mediante API</a:t>
            </a:r>
          </a:p>
        </p:txBody>
      </p:sp>
      <p:sp>
        <p:nvSpPr>
          <p:cNvPr id="3" name="Marcador de contenido 2">
            <a:extLst>
              <a:ext uri="{FF2B5EF4-FFF2-40B4-BE49-F238E27FC236}">
                <a16:creationId xmlns:a16="http://schemas.microsoft.com/office/drawing/2014/main" id="{ECE8CB54-3510-0548-CD47-E94278927F3E}"/>
              </a:ext>
            </a:extLst>
          </p:cNvPr>
          <p:cNvSpPr>
            <a:spLocks noGrp="1"/>
          </p:cNvSpPr>
          <p:nvPr>
            <p:ph idx="1"/>
          </p:nvPr>
        </p:nvSpPr>
        <p:spPr>
          <a:xfrm>
            <a:off x="838200" y="924560"/>
            <a:ext cx="10515600" cy="673735"/>
          </a:xfrm>
        </p:spPr>
        <p:txBody>
          <a:bodyPr>
            <a:normAutofit/>
          </a:bodyPr>
          <a:lstStyle/>
          <a:p>
            <a:pPr marL="0" indent="0">
              <a:buNone/>
            </a:pPr>
            <a:r>
              <a:rPr lang="es-MX" sz="1600" dirty="0"/>
              <a:t>Se implementó la comunicación entre el </a:t>
            </a:r>
            <a:r>
              <a:rPr lang="es-MX" sz="1600" dirty="0" err="1"/>
              <a:t>frontend</a:t>
            </a:r>
            <a:r>
              <a:rPr lang="es-MX" sz="1600" dirty="0"/>
              <a:t> desarrollado en </a:t>
            </a:r>
            <a:r>
              <a:rPr lang="es-MX" sz="1600" dirty="0" err="1"/>
              <a:t>JavaFX</a:t>
            </a:r>
            <a:r>
              <a:rPr lang="es-MX" sz="1600" dirty="0"/>
              <a:t> y el </a:t>
            </a:r>
            <a:r>
              <a:rPr lang="es-MX" sz="1600" dirty="0" err="1"/>
              <a:t>backend</a:t>
            </a:r>
            <a:r>
              <a:rPr lang="es-MX" sz="1600" dirty="0"/>
              <a:t> en Spring </a:t>
            </a:r>
            <a:r>
              <a:rPr lang="es-MX" sz="1600" dirty="0" err="1"/>
              <a:t>Boot</a:t>
            </a:r>
            <a:r>
              <a:rPr lang="es-MX" sz="1600" dirty="0"/>
              <a:t> mediante el uso de una </a:t>
            </a:r>
            <a:r>
              <a:rPr lang="es-MX" sz="1600" b="1" dirty="0"/>
              <a:t>API REST</a:t>
            </a:r>
            <a:r>
              <a:rPr lang="es-MX" sz="1600" dirty="0"/>
              <a:t>, permitiendo el intercambio de información entre ambas partes del sistema.</a:t>
            </a:r>
          </a:p>
        </p:txBody>
      </p:sp>
      <p:sp>
        <p:nvSpPr>
          <p:cNvPr id="4" name="Rectangle 1">
            <a:extLst>
              <a:ext uri="{FF2B5EF4-FFF2-40B4-BE49-F238E27FC236}">
                <a16:creationId xmlns:a16="http://schemas.microsoft.com/office/drawing/2014/main" id="{8B3A2438-6519-8EC5-F1E8-2D1453C22CA5}"/>
              </a:ext>
            </a:extLst>
          </p:cNvPr>
          <p:cNvSpPr>
            <a:spLocks noChangeArrowheads="1"/>
          </p:cNvSpPr>
          <p:nvPr/>
        </p:nvSpPr>
        <p:spPr bwMode="auto">
          <a:xfrm>
            <a:off x="838200" y="1573858"/>
            <a:ext cx="11415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t>El frontend envía solicitudes HTTP al backend, específicamente al endpoint encargado de registrar la asistencia de los docentes. Esta comunicación se realiza a través del servicio ApiService, el cual gestiona las peticiones hacia el servidor. </a:t>
            </a:r>
          </a:p>
        </p:txBody>
      </p:sp>
      <p:pic>
        <p:nvPicPr>
          <p:cNvPr id="6" name="Imagen 5">
            <a:extLst>
              <a:ext uri="{FF2B5EF4-FFF2-40B4-BE49-F238E27FC236}">
                <a16:creationId xmlns:a16="http://schemas.microsoft.com/office/drawing/2014/main" id="{53125AF5-3055-9821-4795-BFF3EA43FE83}"/>
              </a:ext>
            </a:extLst>
          </p:cNvPr>
          <p:cNvPicPr>
            <a:picLocks noChangeAspect="1"/>
          </p:cNvPicPr>
          <p:nvPr/>
        </p:nvPicPr>
        <p:blipFill>
          <a:blip r:embed="rId2"/>
          <a:stretch>
            <a:fillRect/>
          </a:stretch>
        </p:blipFill>
        <p:spPr>
          <a:xfrm>
            <a:off x="922191" y="2247593"/>
            <a:ext cx="6649378" cy="552527"/>
          </a:xfrm>
          <a:prstGeom prst="rect">
            <a:avLst/>
          </a:prstGeom>
        </p:spPr>
      </p:pic>
      <p:sp>
        <p:nvSpPr>
          <p:cNvPr id="7" name="Rectangle 2">
            <a:extLst>
              <a:ext uri="{FF2B5EF4-FFF2-40B4-BE49-F238E27FC236}">
                <a16:creationId xmlns:a16="http://schemas.microsoft.com/office/drawing/2014/main" id="{7F22D4AE-B103-2CD9-4246-DA3E3C8F3EDA}"/>
              </a:ext>
            </a:extLst>
          </p:cNvPr>
          <p:cNvSpPr>
            <a:spLocks noChangeArrowheads="1"/>
          </p:cNvSpPr>
          <p:nvPr/>
        </p:nvSpPr>
        <p:spPr bwMode="auto">
          <a:xfrm>
            <a:off x="922191" y="2800120"/>
            <a:ext cx="595118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Por ejemplo, desde el </a:t>
            </a:r>
            <a:r>
              <a:rPr lang="es-MX" altLang="es-MX" sz="1400" dirty="0" err="1"/>
              <a:t>frontend</a:t>
            </a:r>
            <a:r>
              <a:rPr lang="es-MX" altLang="es-MX" sz="1400" dirty="0"/>
              <a:t> se realiza el envío del identificador del docente:</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Esta solicitud es recibida en el </a:t>
            </a:r>
            <a:r>
              <a:rPr lang="es-MX" altLang="es-MX" sz="1400" dirty="0" err="1"/>
              <a:t>backend</a:t>
            </a:r>
            <a:r>
              <a:rPr lang="es-MX" altLang="es-MX" sz="1400" dirty="0"/>
              <a:t> por un controlador REST:</a:t>
            </a:r>
          </a:p>
        </p:txBody>
      </p:sp>
      <p:pic>
        <p:nvPicPr>
          <p:cNvPr id="9" name="Imagen 8">
            <a:extLst>
              <a:ext uri="{FF2B5EF4-FFF2-40B4-BE49-F238E27FC236}">
                <a16:creationId xmlns:a16="http://schemas.microsoft.com/office/drawing/2014/main" id="{80566F20-FC1B-AC62-00D1-313CABD581C8}"/>
              </a:ext>
            </a:extLst>
          </p:cNvPr>
          <p:cNvPicPr>
            <a:picLocks noChangeAspect="1"/>
          </p:cNvPicPr>
          <p:nvPr/>
        </p:nvPicPr>
        <p:blipFill>
          <a:blip r:embed="rId3"/>
          <a:stretch>
            <a:fillRect/>
          </a:stretch>
        </p:blipFill>
        <p:spPr>
          <a:xfrm>
            <a:off x="922191" y="3228947"/>
            <a:ext cx="4039164" cy="400106"/>
          </a:xfrm>
          <a:prstGeom prst="rect">
            <a:avLst/>
          </a:prstGeom>
        </p:spPr>
      </p:pic>
      <p:pic>
        <p:nvPicPr>
          <p:cNvPr id="11" name="Imagen 10">
            <a:extLst>
              <a:ext uri="{FF2B5EF4-FFF2-40B4-BE49-F238E27FC236}">
                <a16:creationId xmlns:a16="http://schemas.microsoft.com/office/drawing/2014/main" id="{D79C14AD-3BFF-0AEE-2942-3F27B8DC52AA}"/>
              </a:ext>
            </a:extLst>
          </p:cNvPr>
          <p:cNvPicPr>
            <a:picLocks noChangeAspect="1"/>
          </p:cNvPicPr>
          <p:nvPr/>
        </p:nvPicPr>
        <p:blipFill>
          <a:blip r:embed="rId4"/>
          <a:stretch>
            <a:fillRect/>
          </a:stretch>
        </p:blipFill>
        <p:spPr>
          <a:xfrm>
            <a:off x="922191" y="4256028"/>
            <a:ext cx="8545118" cy="504895"/>
          </a:xfrm>
          <a:prstGeom prst="rect">
            <a:avLst/>
          </a:prstGeom>
        </p:spPr>
      </p:pic>
      <p:sp>
        <p:nvSpPr>
          <p:cNvPr id="13" name="CuadroTexto 12">
            <a:extLst>
              <a:ext uri="{FF2B5EF4-FFF2-40B4-BE49-F238E27FC236}">
                <a16:creationId xmlns:a16="http://schemas.microsoft.com/office/drawing/2014/main" id="{7DED2C0D-8C45-6CD5-CB8C-273DDC9D6E78}"/>
              </a:ext>
            </a:extLst>
          </p:cNvPr>
          <p:cNvSpPr txBox="1"/>
          <p:nvPr/>
        </p:nvSpPr>
        <p:spPr>
          <a:xfrm>
            <a:off x="838200" y="4831836"/>
            <a:ext cx="9982200" cy="307777"/>
          </a:xfrm>
          <a:prstGeom prst="rect">
            <a:avLst/>
          </a:prstGeom>
          <a:noFill/>
        </p:spPr>
        <p:txBody>
          <a:bodyPr wrap="square">
            <a:spAutoFit/>
          </a:bodyPr>
          <a:lstStyle/>
          <a:p>
            <a:r>
              <a:rPr lang="es-MX" sz="1400" dirty="0"/>
              <a:t>El </a:t>
            </a:r>
            <a:r>
              <a:rPr lang="es-MX" sz="1400" dirty="0" err="1"/>
              <a:t>backend</a:t>
            </a:r>
            <a:r>
              <a:rPr lang="es-MX" sz="1400" dirty="0"/>
              <a:t> procesa la información, registra la asistencia en la base de datos PostgreSQL y devuelve una respuesta al </a:t>
            </a:r>
            <a:r>
              <a:rPr lang="es-MX" sz="1400" dirty="0" err="1"/>
              <a:t>frontend</a:t>
            </a:r>
            <a:r>
              <a:rPr lang="es-MX" sz="1400" dirty="0"/>
              <a:t>.</a:t>
            </a:r>
          </a:p>
        </p:txBody>
      </p:sp>
      <p:sp>
        <p:nvSpPr>
          <p:cNvPr id="15" name="CuadroTexto 14">
            <a:extLst>
              <a:ext uri="{FF2B5EF4-FFF2-40B4-BE49-F238E27FC236}">
                <a16:creationId xmlns:a16="http://schemas.microsoft.com/office/drawing/2014/main" id="{8791138F-2DC3-4E95-EE81-A65B9BB5A0F6}"/>
              </a:ext>
            </a:extLst>
          </p:cNvPr>
          <p:cNvSpPr txBox="1"/>
          <p:nvPr/>
        </p:nvSpPr>
        <p:spPr>
          <a:xfrm>
            <a:off x="838200" y="5338457"/>
            <a:ext cx="6126480" cy="738664"/>
          </a:xfrm>
          <a:prstGeom prst="rect">
            <a:avLst/>
          </a:prstGeom>
          <a:noFill/>
        </p:spPr>
        <p:txBody>
          <a:bodyPr wrap="square">
            <a:spAutoFit/>
          </a:bodyPr>
          <a:lstStyle/>
          <a:p>
            <a:pPr algn="just"/>
            <a:r>
              <a:rPr lang="es-MX" sz="1400" b="1" dirty="0"/>
              <a:t>Esta comunicación permite integrar todas las partes del sistema, asegurando que la interfaz gráfica pueda interactuar correctamente con la lógica del </a:t>
            </a:r>
            <a:r>
              <a:rPr lang="es-MX" sz="1400" b="1" dirty="0" err="1"/>
              <a:t>backend</a:t>
            </a:r>
            <a:r>
              <a:rPr lang="es-MX" sz="1400" b="1" dirty="0"/>
              <a:t> y la base de datos.</a:t>
            </a:r>
          </a:p>
        </p:txBody>
      </p:sp>
    </p:spTree>
    <p:extLst>
      <p:ext uri="{BB962C8B-B14F-4D97-AF65-F5344CB8AC3E}">
        <p14:creationId xmlns:p14="http://schemas.microsoft.com/office/powerpoint/2010/main" val="45307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AA1A1D-865F-A8C3-A9F9-7A89C35FC2EE}"/>
              </a:ext>
            </a:extLst>
          </p:cNvPr>
          <p:cNvSpPr>
            <a:spLocks noGrp="1"/>
          </p:cNvSpPr>
          <p:nvPr>
            <p:ph type="title"/>
          </p:nvPr>
        </p:nvSpPr>
        <p:spPr>
          <a:xfrm>
            <a:off x="563880" y="203200"/>
            <a:ext cx="3784600" cy="654368"/>
          </a:xfrm>
        </p:spPr>
        <p:txBody>
          <a:bodyPr>
            <a:normAutofit fontScale="90000"/>
          </a:bodyPr>
          <a:lstStyle/>
          <a:p>
            <a:r>
              <a:rPr lang="es-MX" sz="2800" b="1" dirty="0"/>
              <a:t>4. Problemas encontrados</a:t>
            </a:r>
          </a:p>
        </p:txBody>
      </p:sp>
      <p:sp>
        <p:nvSpPr>
          <p:cNvPr id="7" name="Rectangle 2">
            <a:extLst>
              <a:ext uri="{FF2B5EF4-FFF2-40B4-BE49-F238E27FC236}">
                <a16:creationId xmlns:a16="http://schemas.microsoft.com/office/drawing/2014/main" id="{BD64A22B-AACC-A058-622D-04BEA5E522B4}"/>
              </a:ext>
            </a:extLst>
          </p:cNvPr>
          <p:cNvSpPr>
            <a:spLocks noChangeArrowheads="1"/>
          </p:cNvSpPr>
          <p:nvPr/>
        </p:nvSpPr>
        <p:spPr bwMode="auto">
          <a:xfrm>
            <a:off x="563880" y="894190"/>
            <a:ext cx="1126589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Durante el desarrollo del sistema, se presentaron dificultades al establecer la comunicación entre el </a:t>
            </a:r>
            <a:r>
              <a:rPr lang="es-MX" altLang="es-MX" sz="1400" dirty="0" err="1"/>
              <a:t>frontend</a:t>
            </a:r>
            <a:r>
              <a:rPr lang="es-MX" altLang="es-MX" sz="1400" dirty="0"/>
              <a:t> desarrollado en </a:t>
            </a:r>
            <a:r>
              <a:rPr lang="es-MX" altLang="es-MX" sz="1400" dirty="0" err="1"/>
              <a:t>JavaFX</a:t>
            </a:r>
            <a:r>
              <a:rPr lang="es-MX" altLang="es-MX" sz="1400" dirty="0"/>
              <a:t> y el </a:t>
            </a:r>
            <a:r>
              <a:rPr lang="es-MX" altLang="es-MX" sz="1400" dirty="0" err="1"/>
              <a:t>backend</a:t>
            </a:r>
            <a:r>
              <a:rPr lang="es-MX" altLang="es-MX" sz="1400" dirty="0"/>
              <a:t> implementado en Spring </a:t>
            </a:r>
            <a:r>
              <a:rPr lang="es-MX" altLang="es-MX" sz="1400" dirty="0" err="1"/>
              <a:t>Boot</a:t>
            </a:r>
            <a:r>
              <a:rPr lang="es-MX" altLang="es-MX" sz="1400" dirty="0"/>
              <a:t>.</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Uno de los principales problemas fue la correcta configuración de las solicitudes HTTP hacia el servidor, ya que el </a:t>
            </a:r>
            <a:r>
              <a:rPr lang="es-MX" altLang="es-MX" sz="1400" dirty="0" err="1"/>
              <a:t>frontend</a:t>
            </a:r>
            <a:r>
              <a:rPr lang="es-MX" altLang="es-MX" sz="1400" dirty="0"/>
              <a:t> debía enviar información al </a:t>
            </a:r>
            <a:r>
              <a:rPr lang="es-MX" altLang="es-MX" sz="1400" dirty="0" err="1"/>
              <a:t>endpoint</a:t>
            </a:r>
            <a:r>
              <a:rPr lang="es-MX" altLang="es-MX" sz="1400" dirty="0"/>
              <a:t> del </a:t>
            </a:r>
            <a:r>
              <a:rPr lang="es-MX" altLang="es-MX" sz="1400" dirty="0" err="1"/>
              <a:t>backend</a:t>
            </a:r>
            <a:r>
              <a:rPr lang="es-MX" altLang="es-MX" sz="1400" dirty="0"/>
              <a:t> utilizando el puerto y la ruta adecuados.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Además, se presentaron errores relacionados con: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Conexiones rechazadas por el servidor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Configuración incorrecta de la URL del </a:t>
            </a:r>
            <a:r>
              <a:rPr lang="es-MX" altLang="es-MX" sz="1400" dirty="0" err="1"/>
              <a:t>endpoint</a:t>
            </a:r>
            <a:r>
              <a:rPr lang="es-MX" altLang="es-MX" sz="1400" dirty="0"/>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Problemas en el envío de datos en formato JSON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Por ejemplo, al intentar enviar la solicitud de registro de asistencia, fue necesario verificar que la dirección del servidor fuera correcta: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p:txBody>
      </p:sp>
      <p:sp>
        <p:nvSpPr>
          <p:cNvPr id="9" name="Rectangle 4">
            <a:extLst>
              <a:ext uri="{FF2B5EF4-FFF2-40B4-BE49-F238E27FC236}">
                <a16:creationId xmlns:a16="http://schemas.microsoft.com/office/drawing/2014/main" id="{1D68BD7F-CF02-97D8-4811-B51332B8D778}"/>
              </a:ext>
            </a:extLst>
          </p:cNvPr>
          <p:cNvSpPr>
            <a:spLocks noChangeArrowheads="1"/>
          </p:cNvSpPr>
          <p:nvPr/>
        </p:nvSpPr>
        <p:spPr bwMode="auto">
          <a:xfrm>
            <a:off x="563880" y="3585513"/>
            <a:ext cx="718171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b="1" dirty="0"/>
              <a:t>Solución implementada</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dirty="0"/>
              <a:t>Para solucionar estos problemas, se realizaron las siguientes acciones: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Se verificó que el servidor Spring </a:t>
            </a:r>
            <a:r>
              <a:rPr lang="es-MX" altLang="es-MX" sz="1400" dirty="0" err="1"/>
              <a:t>Boot</a:t>
            </a:r>
            <a:r>
              <a:rPr lang="es-MX" altLang="es-MX" sz="1400" dirty="0"/>
              <a:t> estuviera en ejecución en el puerto correcto (8081).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Se corrigieron las rutas de los </a:t>
            </a:r>
            <a:r>
              <a:rPr lang="es-MX" altLang="es-MX" sz="1400" dirty="0" err="1"/>
              <a:t>endpoints</a:t>
            </a:r>
            <a:r>
              <a:rPr lang="es-MX" altLang="es-MX" sz="1400" dirty="0"/>
              <a:t> en el </a:t>
            </a:r>
            <a:r>
              <a:rPr lang="es-MX" altLang="es-MX" sz="1400" dirty="0" err="1"/>
              <a:t>frontend</a:t>
            </a:r>
            <a:r>
              <a:rPr lang="es-MX" altLang="es-MX" sz="1400" dirty="0"/>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Se ajustó el formato de envío de datos para que coincidiera con lo esperado por el </a:t>
            </a:r>
            <a:r>
              <a:rPr lang="es-MX" altLang="es-MX" sz="1400" dirty="0" err="1"/>
              <a:t>backend</a:t>
            </a:r>
            <a:r>
              <a:rPr lang="es-MX" altLang="es-MX" sz="1400" dirty="0"/>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MX" altLang="es-MX" sz="1400" dirty="0"/>
              <a:t>Se implementaron pruebas para validar la comunicación entre ambas partes del sistema.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400" dirty="0"/>
          </a:p>
        </p:txBody>
      </p:sp>
      <p:pic>
        <p:nvPicPr>
          <p:cNvPr id="11" name="Imagen 10">
            <a:extLst>
              <a:ext uri="{FF2B5EF4-FFF2-40B4-BE49-F238E27FC236}">
                <a16:creationId xmlns:a16="http://schemas.microsoft.com/office/drawing/2014/main" id="{A3738CFB-E5AC-A5A2-C49C-89588F485CCC}"/>
              </a:ext>
            </a:extLst>
          </p:cNvPr>
          <p:cNvPicPr>
            <a:picLocks noChangeAspect="1"/>
          </p:cNvPicPr>
          <p:nvPr/>
        </p:nvPicPr>
        <p:blipFill>
          <a:blip r:embed="rId2"/>
          <a:stretch>
            <a:fillRect/>
          </a:stretch>
        </p:blipFill>
        <p:spPr>
          <a:xfrm>
            <a:off x="563880" y="2939182"/>
            <a:ext cx="4372585" cy="285790"/>
          </a:xfrm>
          <a:prstGeom prst="rect">
            <a:avLst/>
          </a:prstGeom>
        </p:spPr>
      </p:pic>
      <p:pic>
        <p:nvPicPr>
          <p:cNvPr id="14" name="Imagen 13">
            <a:extLst>
              <a:ext uri="{FF2B5EF4-FFF2-40B4-BE49-F238E27FC236}">
                <a16:creationId xmlns:a16="http://schemas.microsoft.com/office/drawing/2014/main" id="{A7C74003-5AAD-58AE-157A-36A485FB9E05}"/>
              </a:ext>
            </a:extLst>
          </p:cNvPr>
          <p:cNvPicPr>
            <a:picLocks noChangeAspect="1"/>
          </p:cNvPicPr>
          <p:nvPr/>
        </p:nvPicPr>
        <p:blipFill>
          <a:blip r:embed="rId3"/>
          <a:stretch>
            <a:fillRect/>
          </a:stretch>
        </p:blipFill>
        <p:spPr>
          <a:xfrm>
            <a:off x="7918927" y="3970321"/>
            <a:ext cx="2267266" cy="238158"/>
          </a:xfrm>
          <a:prstGeom prst="rect">
            <a:avLst/>
          </a:prstGeom>
        </p:spPr>
      </p:pic>
    </p:spTree>
    <p:extLst>
      <p:ext uri="{BB962C8B-B14F-4D97-AF65-F5344CB8AC3E}">
        <p14:creationId xmlns:p14="http://schemas.microsoft.com/office/powerpoint/2010/main" val="3014438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B03D00-449D-2AC9-CDAE-7D0D3301134F}"/>
              </a:ext>
            </a:extLst>
          </p:cNvPr>
          <p:cNvSpPr>
            <a:spLocks noGrp="1"/>
          </p:cNvSpPr>
          <p:nvPr>
            <p:ph type="title"/>
          </p:nvPr>
        </p:nvSpPr>
        <p:spPr>
          <a:xfrm>
            <a:off x="838200" y="365125"/>
            <a:ext cx="7414260" cy="274955"/>
          </a:xfrm>
        </p:spPr>
        <p:txBody>
          <a:bodyPr>
            <a:normAutofit fontScale="90000"/>
          </a:bodyPr>
          <a:lstStyle/>
          <a:p>
            <a:r>
              <a:rPr lang="es-MX" sz="2400" b="1" dirty="0"/>
              <a:t>Problemas en la implementación del reconocimiento facial</a:t>
            </a:r>
          </a:p>
        </p:txBody>
      </p:sp>
      <p:sp>
        <p:nvSpPr>
          <p:cNvPr id="3" name="Marcador de contenido 2">
            <a:extLst>
              <a:ext uri="{FF2B5EF4-FFF2-40B4-BE49-F238E27FC236}">
                <a16:creationId xmlns:a16="http://schemas.microsoft.com/office/drawing/2014/main" id="{161BA7A0-CFFF-8211-5C9F-58BF44777393}"/>
              </a:ext>
            </a:extLst>
          </p:cNvPr>
          <p:cNvSpPr>
            <a:spLocks noGrp="1"/>
          </p:cNvSpPr>
          <p:nvPr>
            <p:ph idx="1"/>
          </p:nvPr>
        </p:nvSpPr>
        <p:spPr>
          <a:xfrm>
            <a:off x="1064871" y="735965"/>
            <a:ext cx="10409442" cy="1115984"/>
          </a:xfrm>
        </p:spPr>
        <p:txBody>
          <a:bodyPr>
            <a:normAutofit/>
          </a:bodyPr>
          <a:lstStyle/>
          <a:p>
            <a:pPr marL="0" indent="0">
              <a:buNone/>
            </a:pPr>
            <a:r>
              <a:rPr lang="es-MX" sz="1600" dirty="0"/>
              <a:t>Durante el desarrollo del sistema, se presentaron diversas dificultades relacionadas con la integración del reconocimiento facial, ya que esta funcionalidad requiere el uso de librerías especializadas y procesamiento de imágenes en tiempo real.</a:t>
            </a:r>
          </a:p>
          <a:p>
            <a:pPr marL="0" indent="0">
              <a:buNone/>
            </a:pPr>
            <a:r>
              <a:rPr lang="es-MX" sz="1600" dirty="0"/>
              <a:t>Uno de los principales errores al iniciar fue al momento de encender la cámara ya que la librería era un detalle y no funcionaba. </a:t>
            </a:r>
            <a:r>
              <a:rPr lang="es-MX" sz="1600" dirty="0" err="1"/>
              <a:t>Despues</a:t>
            </a:r>
            <a:r>
              <a:rPr lang="es-MX" sz="1600" dirty="0"/>
              <a:t> de arreglar ciertos detalles la cámara logro funcionar y fue mejorada junto con el diseñó</a:t>
            </a:r>
          </a:p>
        </p:txBody>
      </p:sp>
      <p:pic>
        <p:nvPicPr>
          <p:cNvPr id="4" name="Marcador de contenido 3">
            <a:extLst>
              <a:ext uri="{FF2B5EF4-FFF2-40B4-BE49-F238E27FC236}">
                <a16:creationId xmlns:a16="http://schemas.microsoft.com/office/drawing/2014/main" id="{91CD362F-B836-15EF-136E-7C4DA124D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9643" y="2283745"/>
            <a:ext cx="3505054" cy="2747963"/>
          </a:xfrm>
          <a:prstGeom prst="rect">
            <a:avLst/>
          </a:prstGeom>
        </p:spPr>
      </p:pic>
      <p:pic>
        <p:nvPicPr>
          <p:cNvPr id="10" name="Imagen 9">
            <a:extLst>
              <a:ext uri="{FF2B5EF4-FFF2-40B4-BE49-F238E27FC236}">
                <a16:creationId xmlns:a16="http://schemas.microsoft.com/office/drawing/2014/main" id="{DF513F5C-06BE-B2BC-DD6E-A1179218D8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5785" y="2129742"/>
            <a:ext cx="2987902" cy="2760562"/>
          </a:xfrm>
          <a:prstGeom prst="rect">
            <a:avLst/>
          </a:prstGeom>
        </p:spPr>
      </p:pic>
      <p:sp>
        <p:nvSpPr>
          <p:cNvPr id="11" name="Flecha: a la derecha 10">
            <a:extLst>
              <a:ext uri="{FF2B5EF4-FFF2-40B4-BE49-F238E27FC236}">
                <a16:creationId xmlns:a16="http://schemas.microsoft.com/office/drawing/2014/main" id="{B589D8FB-5188-4B85-8313-3D78D5B1C920}"/>
              </a:ext>
            </a:extLst>
          </p:cNvPr>
          <p:cNvSpPr/>
          <p:nvPr/>
        </p:nvSpPr>
        <p:spPr>
          <a:xfrm>
            <a:off x="5034987" y="3032567"/>
            <a:ext cx="1632031" cy="98384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7254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EE55B2-A8D3-02CE-F7DB-DFD6DDE0C070}"/>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95765B06-C85D-B7F7-311A-EF284B9FE002}"/>
              </a:ext>
            </a:extLst>
          </p:cNvPr>
          <p:cNvSpPr>
            <a:spLocks noGrp="1"/>
          </p:cNvSpPr>
          <p:nvPr>
            <p:ph idx="1"/>
          </p:nvPr>
        </p:nvSpPr>
        <p:spPr/>
        <p:txBody>
          <a:bodyPr>
            <a:normAutofit/>
          </a:bodyPr>
          <a:lstStyle/>
          <a:p>
            <a:pPr marL="0" indent="0" algn="just">
              <a:buNone/>
            </a:pPr>
            <a:r>
              <a:rPr lang="es-MX" sz="1800" dirty="0"/>
              <a:t>En conclusión, el desarrollo del sistema de reconocimiento facial ha permitido integrar diversas tecnologías para la creación de una solución funcional orientada al registro de asistencia. A lo largo del proyecto, se lograron avances significativos en la implementación del </a:t>
            </a:r>
            <a:r>
              <a:rPr lang="es-MX" sz="1800" dirty="0" err="1"/>
              <a:t>frontend</a:t>
            </a:r>
            <a:r>
              <a:rPr lang="es-MX" sz="1800" dirty="0"/>
              <a:t>, </a:t>
            </a:r>
            <a:r>
              <a:rPr lang="es-MX" sz="1800" dirty="0" err="1"/>
              <a:t>backend</a:t>
            </a:r>
            <a:r>
              <a:rPr lang="es-MX" sz="1800" dirty="0"/>
              <a:t> y la conexión con la base de datos, así como en la comunicación mediante API REST.</a:t>
            </a:r>
          </a:p>
          <a:p>
            <a:pPr marL="0" indent="0" algn="just">
              <a:buNone/>
            </a:pPr>
            <a:r>
              <a:rPr lang="es-MX" sz="1800" dirty="0"/>
              <a:t>Asimismo, se identificaron diversos retos, especialmente en la integración del reconocimiento facial y la comunicación entre componentes, los cuales fueron abordados mediante pruebas y ajustes en el sistema. Aunque aún existen áreas en proceso de mejora, el proyecto representa un avance importante hacia la automatización del control de asistencia, destacando la importancia del diseño, la implementación y la integración de sistemas en el desarrollo de software.</a:t>
            </a:r>
          </a:p>
          <a:p>
            <a:pPr marL="0" indent="0" algn="just">
              <a:buNone/>
            </a:pPr>
            <a:endParaRPr lang="es-MX" sz="1800" dirty="0"/>
          </a:p>
        </p:txBody>
      </p:sp>
    </p:spTree>
    <p:extLst>
      <p:ext uri="{BB962C8B-B14F-4D97-AF65-F5344CB8AC3E}">
        <p14:creationId xmlns:p14="http://schemas.microsoft.com/office/powerpoint/2010/main" val="1386992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1551</Words>
  <Application>Microsoft Office PowerPoint</Application>
  <PresentationFormat>Panorámica</PresentationFormat>
  <Paragraphs>105</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Century Gothic</vt:lpstr>
      <vt:lpstr>Tema de Office</vt:lpstr>
      <vt:lpstr>Presentación de PowerPoint</vt:lpstr>
      <vt:lpstr>Introducción </vt:lpstr>
      <vt:lpstr>Justificación </vt:lpstr>
      <vt:lpstr>Presentación de PowerPoint</vt:lpstr>
      <vt:lpstr>Presentación de PowerPoint</vt:lpstr>
      <vt:lpstr>Se implementó el backend con Spring Boot</vt:lpstr>
      <vt:lpstr>Se configuró la conexión con PostgreSQL con lo siguiente:</vt:lpstr>
      <vt:lpstr>Implementación del servicio de asistencia</vt:lpstr>
      <vt:lpstr>Comunicación entre frontend y backend mediante API</vt:lpstr>
      <vt:lpstr>4. Problemas encontrados</vt:lpstr>
      <vt:lpstr>Problemas en la implementación del reconocimiento facial</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3</cp:revision>
  <dcterms:created xsi:type="dcterms:W3CDTF">2026-03-25T21:53:19Z</dcterms:created>
  <dcterms:modified xsi:type="dcterms:W3CDTF">2026-03-26T01:29:57Z</dcterms:modified>
</cp:coreProperties>
</file>