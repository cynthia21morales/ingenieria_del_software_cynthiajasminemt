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75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ECA078-47E0-4292-9D75-B2D1D9F72608}" type="datetimeFigureOut">
              <a:rPr lang="es-MX" smtClean="0"/>
              <a:t>25/03/2026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4A0351-EF52-48AD-89A0-62A47E1B1B87}" type="slidenum">
              <a:rPr lang="es-MX" smtClean="0"/>
              <a:t>‹Nº›</a:t>
            </a:fld>
            <a:endParaRPr lang="es-MX"/>
          </a:p>
        </p:txBody>
      </p:sp>
    </p:spTree>
    <p:extLst>
      <p:ext uri="{BB962C8B-B14F-4D97-AF65-F5344CB8AC3E}">
        <p14:creationId xmlns:p14="http://schemas.microsoft.com/office/powerpoint/2010/main" val="1811562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6F4A0351-EF52-48AD-89A0-62A47E1B1B87}" type="slidenum">
              <a:rPr lang="es-MX" smtClean="0"/>
              <a:t>6</a:t>
            </a:fld>
            <a:endParaRPr lang="es-MX"/>
          </a:p>
        </p:txBody>
      </p:sp>
    </p:spTree>
    <p:extLst>
      <p:ext uri="{BB962C8B-B14F-4D97-AF65-F5344CB8AC3E}">
        <p14:creationId xmlns:p14="http://schemas.microsoft.com/office/powerpoint/2010/main" val="12997306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49A5B6-478F-7D52-591B-333B2254AF46}"/>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27F24C4F-811E-AD99-E7AC-77BAE349B6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E58B696C-01F9-4C01-C214-A1C7ED673379}"/>
              </a:ext>
            </a:extLst>
          </p:cNvPr>
          <p:cNvSpPr>
            <a:spLocks noGrp="1"/>
          </p:cNvSpPr>
          <p:nvPr>
            <p:ph type="dt" sz="half" idx="10"/>
          </p:nvPr>
        </p:nvSpPr>
        <p:spPr/>
        <p:txBody>
          <a:bodyPr/>
          <a:lstStyle/>
          <a:p>
            <a:fld id="{1880B9F7-9146-401A-AAA4-9E0816FB1F94}" type="datetimeFigureOut">
              <a:rPr lang="es-MX" smtClean="0"/>
              <a:t>25/03/2026</a:t>
            </a:fld>
            <a:endParaRPr lang="es-MX"/>
          </a:p>
        </p:txBody>
      </p:sp>
      <p:sp>
        <p:nvSpPr>
          <p:cNvPr id="5" name="Marcador de pie de página 4">
            <a:extLst>
              <a:ext uri="{FF2B5EF4-FFF2-40B4-BE49-F238E27FC236}">
                <a16:creationId xmlns:a16="http://schemas.microsoft.com/office/drawing/2014/main" id="{C2A49CA4-367F-2ED3-2250-00004568033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B135E58-16B7-F6E7-5ADD-7805A5DEF642}"/>
              </a:ext>
            </a:extLst>
          </p:cNvPr>
          <p:cNvSpPr>
            <a:spLocks noGrp="1"/>
          </p:cNvSpPr>
          <p:nvPr>
            <p:ph type="sldNum" sz="quarter" idx="12"/>
          </p:nvPr>
        </p:nvSpPr>
        <p:spPr/>
        <p:txBody>
          <a:bodyPr/>
          <a:lstStyle/>
          <a:p>
            <a:fld id="{BFCCB048-3AB5-48BB-BDE2-09549762F8DE}" type="slidenum">
              <a:rPr lang="es-MX" smtClean="0"/>
              <a:t>‹Nº›</a:t>
            </a:fld>
            <a:endParaRPr lang="es-MX"/>
          </a:p>
        </p:txBody>
      </p:sp>
    </p:spTree>
    <p:extLst>
      <p:ext uri="{BB962C8B-B14F-4D97-AF65-F5344CB8AC3E}">
        <p14:creationId xmlns:p14="http://schemas.microsoft.com/office/powerpoint/2010/main" val="16677141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C60DC3-76F9-5ACD-5B69-DFD091EE60A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E8DA445C-1392-2835-13CF-25A9BEBC6F6E}"/>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475D3BD1-0029-9BDE-36CB-384DDE747DBB}"/>
              </a:ext>
            </a:extLst>
          </p:cNvPr>
          <p:cNvSpPr>
            <a:spLocks noGrp="1"/>
          </p:cNvSpPr>
          <p:nvPr>
            <p:ph type="dt" sz="half" idx="10"/>
          </p:nvPr>
        </p:nvSpPr>
        <p:spPr/>
        <p:txBody>
          <a:bodyPr/>
          <a:lstStyle/>
          <a:p>
            <a:fld id="{1880B9F7-9146-401A-AAA4-9E0816FB1F94}" type="datetimeFigureOut">
              <a:rPr lang="es-MX" smtClean="0"/>
              <a:t>25/03/2026</a:t>
            </a:fld>
            <a:endParaRPr lang="es-MX"/>
          </a:p>
        </p:txBody>
      </p:sp>
      <p:sp>
        <p:nvSpPr>
          <p:cNvPr id="5" name="Marcador de pie de página 4">
            <a:extLst>
              <a:ext uri="{FF2B5EF4-FFF2-40B4-BE49-F238E27FC236}">
                <a16:creationId xmlns:a16="http://schemas.microsoft.com/office/drawing/2014/main" id="{6C42ABDD-3A33-A428-B799-0C1B3A8B65B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E7ED025-6782-1729-706F-9B67AF02C52E}"/>
              </a:ext>
            </a:extLst>
          </p:cNvPr>
          <p:cNvSpPr>
            <a:spLocks noGrp="1"/>
          </p:cNvSpPr>
          <p:nvPr>
            <p:ph type="sldNum" sz="quarter" idx="12"/>
          </p:nvPr>
        </p:nvSpPr>
        <p:spPr/>
        <p:txBody>
          <a:bodyPr/>
          <a:lstStyle/>
          <a:p>
            <a:fld id="{BFCCB048-3AB5-48BB-BDE2-09549762F8DE}" type="slidenum">
              <a:rPr lang="es-MX" smtClean="0"/>
              <a:t>‹Nº›</a:t>
            </a:fld>
            <a:endParaRPr lang="es-MX"/>
          </a:p>
        </p:txBody>
      </p:sp>
    </p:spTree>
    <p:extLst>
      <p:ext uri="{BB962C8B-B14F-4D97-AF65-F5344CB8AC3E}">
        <p14:creationId xmlns:p14="http://schemas.microsoft.com/office/powerpoint/2010/main" val="16525549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411E2C-E8CF-14B3-2793-286F410175DB}"/>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0C621B1B-4DAD-62F2-46A3-0D44BEB175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39D927F3-0757-34FD-309D-7FE486323E73}"/>
              </a:ext>
            </a:extLst>
          </p:cNvPr>
          <p:cNvSpPr>
            <a:spLocks noGrp="1"/>
          </p:cNvSpPr>
          <p:nvPr>
            <p:ph type="dt" sz="half" idx="10"/>
          </p:nvPr>
        </p:nvSpPr>
        <p:spPr/>
        <p:txBody>
          <a:bodyPr/>
          <a:lstStyle/>
          <a:p>
            <a:fld id="{1880B9F7-9146-401A-AAA4-9E0816FB1F94}" type="datetimeFigureOut">
              <a:rPr lang="es-MX" smtClean="0"/>
              <a:t>25/03/2026</a:t>
            </a:fld>
            <a:endParaRPr lang="es-MX"/>
          </a:p>
        </p:txBody>
      </p:sp>
      <p:sp>
        <p:nvSpPr>
          <p:cNvPr id="5" name="Marcador de pie de página 4">
            <a:extLst>
              <a:ext uri="{FF2B5EF4-FFF2-40B4-BE49-F238E27FC236}">
                <a16:creationId xmlns:a16="http://schemas.microsoft.com/office/drawing/2014/main" id="{BF50F7BE-0988-C8FA-13DA-79CC193F496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F97D2BE-E3D4-2317-AB3E-38915EFB3329}"/>
              </a:ext>
            </a:extLst>
          </p:cNvPr>
          <p:cNvSpPr>
            <a:spLocks noGrp="1"/>
          </p:cNvSpPr>
          <p:nvPr>
            <p:ph type="sldNum" sz="quarter" idx="12"/>
          </p:nvPr>
        </p:nvSpPr>
        <p:spPr/>
        <p:txBody>
          <a:bodyPr/>
          <a:lstStyle/>
          <a:p>
            <a:fld id="{BFCCB048-3AB5-48BB-BDE2-09549762F8DE}" type="slidenum">
              <a:rPr lang="es-MX" smtClean="0"/>
              <a:t>‹Nº›</a:t>
            </a:fld>
            <a:endParaRPr lang="es-MX"/>
          </a:p>
        </p:txBody>
      </p:sp>
    </p:spTree>
    <p:extLst>
      <p:ext uri="{BB962C8B-B14F-4D97-AF65-F5344CB8AC3E}">
        <p14:creationId xmlns:p14="http://schemas.microsoft.com/office/powerpoint/2010/main" val="37277768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E01A91-7008-2652-D706-A05EFBB970C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4A5F09C-0E64-D567-BC71-A48848D24974}"/>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AAC45987-C5E0-DB4D-8800-CA799AEB958B}"/>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A64DE33B-4E3E-E3A5-8C29-AD658DC6CDE7}"/>
              </a:ext>
            </a:extLst>
          </p:cNvPr>
          <p:cNvSpPr>
            <a:spLocks noGrp="1"/>
          </p:cNvSpPr>
          <p:nvPr>
            <p:ph type="dt" sz="half" idx="10"/>
          </p:nvPr>
        </p:nvSpPr>
        <p:spPr/>
        <p:txBody>
          <a:bodyPr/>
          <a:lstStyle/>
          <a:p>
            <a:fld id="{1880B9F7-9146-401A-AAA4-9E0816FB1F94}" type="datetimeFigureOut">
              <a:rPr lang="es-MX" smtClean="0"/>
              <a:t>25/03/2026</a:t>
            </a:fld>
            <a:endParaRPr lang="es-MX"/>
          </a:p>
        </p:txBody>
      </p:sp>
      <p:sp>
        <p:nvSpPr>
          <p:cNvPr id="6" name="Marcador de pie de página 5">
            <a:extLst>
              <a:ext uri="{FF2B5EF4-FFF2-40B4-BE49-F238E27FC236}">
                <a16:creationId xmlns:a16="http://schemas.microsoft.com/office/drawing/2014/main" id="{7ECB3B08-B361-09FE-4C60-1131B07470E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88509F31-5F86-54D9-F77F-F48F10D57167}"/>
              </a:ext>
            </a:extLst>
          </p:cNvPr>
          <p:cNvSpPr>
            <a:spLocks noGrp="1"/>
          </p:cNvSpPr>
          <p:nvPr>
            <p:ph type="sldNum" sz="quarter" idx="12"/>
          </p:nvPr>
        </p:nvSpPr>
        <p:spPr/>
        <p:txBody>
          <a:bodyPr/>
          <a:lstStyle/>
          <a:p>
            <a:fld id="{BFCCB048-3AB5-48BB-BDE2-09549762F8DE}" type="slidenum">
              <a:rPr lang="es-MX" smtClean="0"/>
              <a:t>‹Nº›</a:t>
            </a:fld>
            <a:endParaRPr lang="es-MX"/>
          </a:p>
        </p:txBody>
      </p:sp>
    </p:spTree>
    <p:extLst>
      <p:ext uri="{BB962C8B-B14F-4D97-AF65-F5344CB8AC3E}">
        <p14:creationId xmlns:p14="http://schemas.microsoft.com/office/powerpoint/2010/main" val="230511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DD1AE9-564A-BF6E-455A-7E5AF608FDE7}"/>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227BCF75-9763-9D6C-2A21-9A420C99D1B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FAEB3EF3-08ED-4699-A32F-B67343747475}"/>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321674FD-9554-1FE9-E199-54C22C10B7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FFDB5CC-7936-A7CF-0961-BF39543063E6}"/>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83C859DD-9138-135C-5C4D-BB0E0C9D0A23}"/>
              </a:ext>
            </a:extLst>
          </p:cNvPr>
          <p:cNvSpPr>
            <a:spLocks noGrp="1"/>
          </p:cNvSpPr>
          <p:nvPr>
            <p:ph type="dt" sz="half" idx="10"/>
          </p:nvPr>
        </p:nvSpPr>
        <p:spPr/>
        <p:txBody>
          <a:bodyPr/>
          <a:lstStyle/>
          <a:p>
            <a:fld id="{1880B9F7-9146-401A-AAA4-9E0816FB1F94}" type="datetimeFigureOut">
              <a:rPr lang="es-MX" smtClean="0"/>
              <a:t>25/03/2026</a:t>
            </a:fld>
            <a:endParaRPr lang="es-MX"/>
          </a:p>
        </p:txBody>
      </p:sp>
      <p:sp>
        <p:nvSpPr>
          <p:cNvPr id="8" name="Marcador de pie de página 7">
            <a:extLst>
              <a:ext uri="{FF2B5EF4-FFF2-40B4-BE49-F238E27FC236}">
                <a16:creationId xmlns:a16="http://schemas.microsoft.com/office/drawing/2014/main" id="{637DF1CB-94D5-FCF0-62DD-AA93C0FBAD17}"/>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1D67C205-07FF-9315-A935-D70D1E57E987}"/>
              </a:ext>
            </a:extLst>
          </p:cNvPr>
          <p:cNvSpPr>
            <a:spLocks noGrp="1"/>
          </p:cNvSpPr>
          <p:nvPr>
            <p:ph type="sldNum" sz="quarter" idx="12"/>
          </p:nvPr>
        </p:nvSpPr>
        <p:spPr/>
        <p:txBody>
          <a:bodyPr/>
          <a:lstStyle/>
          <a:p>
            <a:fld id="{BFCCB048-3AB5-48BB-BDE2-09549762F8DE}" type="slidenum">
              <a:rPr lang="es-MX" smtClean="0"/>
              <a:t>‹Nº›</a:t>
            </a:fld>
            <a:endParaRPr lang="es-MX"/>
          </a:p>
        </p:txBody>
      </p:sp>
    </p:spTree>
    <p:extLst>
      <p:ext uri="{BB962C8B-B14F-4D97-AF65-F5344CB8AC3E}">
        <p14:creationId xmlns:p14="http://schemas.microsoft.com/office/powerpoint/2010/main" val="13074039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F0FFB1-FE23-8422-7341-76279638BB3E}"/>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386F01A3-D8D1-0FF2-7874-02412893629B}"/>
              </a:ext>
            </a:extLst>
          </p:cNvPr>
          <p:cNvSpPr>
            <a:spLocks noGrp="1"/>
          </p:cNvSpPr>
          <p:nvPr>
            <p:ph type="dt" sz="half" idx="10"/>
          </p:nvPr>
        </p:nvSpPr>
        <p:spPr/>
        <p:txBody>
          <a:bodyPr/>
          <a:lstStyle/>
          <a:p>
            <a:fld id="{1880B9F7-9146-401A-AAA4-9E0816FB1F94}" type="datetimeFigureOut">
              <a:rPr lang="es-MX" smtClean="0"/>
              <a:t>25/03/2026</a:t>
            </a:fld>
            <a:endParaRPr lang="es-MX"/>
          </a:p>
        </p:txBody>
      </p:sp>
      <p:sp>
        <p:nvSpPr>
          <p:cNvPr id="4" name="Marcador de pie de página 3">
            <a:extLst>
              <a:ext uri="{FF2B5EF4-FFF2-40B4-BE49-F238E27FC236}">
                <a16:creationId xmlns:a16="http://schemas.microsoft.com/office/drawing/2014/main" id="{EA2BF88B-B8A4-6316-5438-0AC67B1B88BF}"/>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06933B10-21D3-154D-313C-E45E51635AC4}"/>
              </a:ext>
            </a:extLst>
          </p:cNvPr>
          <p:cNvSpPr>
            <a:spLocks noGrp="1"/>
          </p:cNvSpPr>
          <p:nvPr>
            <p:ph type="sldNum" sz="quarter" idx="12"/>
          </p:nvPr>
        </p:nvSpPr>
        <p:spPr/>
        <p:txBody>
          <a:bodyPr/>
          <a:lstStyle/>
          <a:p>
            <a:fld id="{BFCCB048-3AB5-48BB-BDE2-09549762F8DE}" type="slidenum">
              <a:rPr lang="es-MX" smtClean="0"/>
              <a:t>‹Nº›</a:t>
            </a:fld>
            <a:endParaRPr lang="es-MX"/>
          </a:p>
        </p:txBody>
      </p:sp>
    </p:spTree>
    <p:extLst>
      <p:ext uri="{BB962C8B-B14F-4D97-AF65-F5344CB8AC3E}">
        <p14:creationId xmlns:p14="http://schemas.microsoft.com/office/powerpoint/2010/main" val="30682567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8E895D3B-59AF-42CE-F3F2-6076F228C37C}"/>
              </a:ext>
            </a:extLst>
          </p:cNvPr>
          <p:cNvSpPr>
            <a:spLocks noGrp="1"/>
          </p:cNvSpPr>
          <p:nvPr>
            <p:ph type="dt" sz="half" idx="10"/>
          </p:nvPr>
        </p:nvSpPr>
        <p:spPr/>
        <p:txBody>
          <a:bodyPr/>
          <a:lstStyle/>
          <a:p>
            <a:fld id="{1880B9F7-9146-401A-AAA4-9E0816FB1F94}" type="datetimeFigureOut">
              <a:rPr lang="es-MX" smtClean="0"/>
              <a:t>25/03/2026</a:t>
            </a:fld>
            <a:endParaRPr lang="es-MX"/>
          </a:p>
        </p:txBody>
      </p:sp>
      <p:sp>
        <p:nvSpPr>
          <p:cNvPr id="3" name="Marcador de pie de página 2">
            <a:extLst>
              <a:ext uri="{FF2B5EF4-FFF2-40B4-BE49-F238E27FC236}">
                <a16:creationId xmlns:a16="http://schemas.microsoft.com/office/drawing/2014/main" id="{4E6C98DA-6A9D-DB7A-582E-DA152C0F1881}"/>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15296874-CF2D-7F8C-1A5C-959A6AE0EA78}"/>
              </a:ext>
            </a:extLst>
          </p:cNvPr>
          <p:cNvSpPr>
            <a:spLocks noGrp="1"/>
          </p:cNvSpPr>
          <p:nvPr>
            <p:ph type="sldNum" sz="quarter" idx="12"/>
          </p:nvPr>
        </p:nvSpPr>
        <p:spPr/>
        <p:txBody>
          <a:bodyPr/>
          <a:lstStyle/>
          <a:p>
            <a:fld id="{BFCCB048-3AB5-48BB-BDE2-09549762F8DE}" type="slidenum">
              <a:rPr lang="es-MX" smtClean="0"/>
              <a:t>‹Nº›</a:t>
            </a:fld>
            <a:endParaRPr lang="es-MX"/>
          </a:p>
        </p:txBody>
      </p:sp>
    </p:spTree>
    <p:extLst>
      <p:ext uri="{BB962C8B-B14F-4D97-AF65-F5344CB8AC3E}">
        <p14:creationId xmlns:p14="http://schemas.microsoft.com/office/powerpoint/2010/main" val="18400242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DBC7C8-A63C-DE96-E4C4-0828D2BDDAB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D9C93249-AAF6-82CE-A46E-88B14F85283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7C0FEC9B-8B75-6342-3839-B745973584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98875AD-296D-F544-AD40-1E81F7557213}"/>
              </a:ext>
            </a:extLst>
          </p:cNvPr>
          <p:cNvSpPr>
            <a:spLocks noGrp="1"/>
          </p:cNvSpPr>
          <p:nvPr>
            <p:ph type="dt" sz="half" idx="10"/>
          </p:nvPr>
        </p:nvSpPr>
        <p:spPr/>
        <p:txBody>
          <a:bodyPr/>
          <a:lstStyle/>
          <a:p>
            <a:fld id="{1880B9F7-9146-401A-AAA4-9E0816FB1F94}" type="datetimeFigureOut">
              <a:rPr lang="es-MX" smtClean="0"/>
              <a:t>25/03/2026</a:t>
            </a:fld>
            <a:endParaRPr lang="es-MX"/>
          </a:p>
        </p:txBody>
      </p:sp>
      <p:sp>
        <p:nvSpPr>
          <p:cNvPr id="6" name="Marcador de pie de página 5">
            <a:extLst>
              <a:ext uri="{FF2B5EF4-FFF2-40B4-BE49-F238E27FC236}">
                <a16:creationId xmlns:a16="http://schemas.microsoft.com/office/drawing/2014/main" id="{3EE6042F-59C7-063F-1439-039E05F06E21}"/>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AA16F671-1C5D-E8BA-D3F5-305824D60EDC}"/>
              </a:ext>
            </a:extLst>
          </p:cNvPr>
          <p:cNvSpPr>
            <a:spLocks noGrp="1"/>
          </p:cNvSpPr>
          <p:nvPr>
            <p:ph type="sldNum" sz="quarter" idx="12"/>
          </p:nvPr>
        </p:nvSpPr>
        <p:spPr/>
        <p:txBody>
          <a:bodyPr/>
          <a:lstStyle/>
          <a:p>
            <a:fld id="{BFCCB048-3AB5-48BB-BDE2-09549762F8DE}" type="slidenum">
              <a:rPr lang="es-MX" smtClean="0"/>
              <a:t>‹Nº›</a:t>
            </a:fld>
            <a:endParaRPr lang="es-MX"/>
          </a:p>
        </p:txBody>
      </p:sp>
    </p:spTree>
    <p:extLst>
      <p:ext uri="{BB962C8B-B14F-4D97-AF65-F5344CB8AC3E}">
        <p14:creationId xmlns:p14="http://schemas.microsoft.com/office/powerpoint/2010/main" val="6224872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AD8B1B-4623-9AF0-D5AF-23839FBBAE9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DC91DE36-8403-A217-BCAC-1A991D69D6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5E988AC6-5236-7A88-BA03-9A68C398EB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941D130-1DDB-BE12-33E0-4B667F034581}"/>
              </a:ext>
            </a:extLst>
          </p:cNvPr>
          <p:cNvSpPr>
            <a:spLocks noGrp="1"/>
          </p:cNvSpPr>
          <p:nvPr>
            <p:ph type="dt" sz="half" idx="10"/>
          </p:nvPr>
        </p:nvSpPr>
        <p:spPr/>
        <p:txBody>
          <a:bodyPr/>
          <a:lstStyle/>
          <a:p>
            <a:fld id="{1880B9F7-9146-401A-AAA4-9E0816FB1F94}" type="datetimeFigureOut">
              <a:rPr lang="es-MX" smtClean="0"/>
              <a:t>25/03/2026</a:t>
            </a:fld>
            <a:endParaRPr lang="es-MX"/>
          </a:p>
        </p:txBody>
      </p:sp>
      <p:sp>
        <p:nvSpPr>
          <p:cNvPr id="6" name="Marcador de pie de página 5">
            <a:extLst>
              <a:ext uri="{FF2B5EF4-FFF2-40B4-BE49-F238E27FC236}">
                <a16:creationId xmlns:a16="http://schemas.microsoft.com/office/drawing/2014/main" id="{AB8CA728-0B62-A978-9EE7-7570C0E6970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4A7824BC-A538-A399-20EE-62322D40FC37}"/>
              </a:ext>
            </a:extLst>
          </p:cNvPr>
          <p:cNvSpPr>
            <a:spLocks noGrp="1"/>
          </p:cNvSpPr>
          <p:nvPr>
            <p:ph type="sldNum" sz="quarter" idx="12"/>
          </p:nvPr>
        </p:nvSpPr>
        <p:spPr/>
        <p:txBody>
          <a:bodyPr/>
          <a:lstStyle/>
          <a:p>
            <a:fld id="{BFCCB048-3AB5-48BB-BDE2-09549762F8DE}" type="slidenum">
              <a:rPr lang="es-MX" smtClean="0"/>
              <a:t>‹Nº›</a:t>
            </a:fld>
            <a:endParaRPr lang="es-MX"/>
          </a:p>
        </p:txBody>
      </p:sp>
    </p:spTree>
    <p:extLst>
      <p:ext uri="{BB962C8B-B14F-4D97-AF65-F5344CB8AC3E}">
        <p14:creationId xmlns:p14="http://schemas.microsoft.com/office/powerpoint/2010/main" val="16754193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5DE450-E650-2891-0787-9A0E3C1DDAE1}"/>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0A2C1479-4D42-C9C8-3798-9C5719BF6B8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E1A99A20-C08E-DFF0-39B1-AEC70F54D670}"/>
              </a:ext>
            </a:extLst>
          </p:cNvPr>
          <p:cNvSpPr>
            <a:spLocks noGrp="1"/>
          </p:cNvSpPr>
          <p:nvPr>
            <p:ph type="dt" sz="half" idx="10"/>
          </p:nvPr>
        </p:nvSpPr>
        <p:spPr/>
        <p:txBody>
          <a:bodyPr/>
          <a:lstStyle/>
          <a:p>
            <a:fld id="{1880B9F7-9146-401A-AAA4-9E0816FB1F94}" type="datetimeFigureOut">
              <a:rPr lang="es-MX" smtClean="0"/>
              <a:t>25/03/2026</a:t>
            </a:fld>
            <a:endParaRPr lang="es-MX"/>
          </a:p>
        </p:txBody>
      </p:sp>
      <p:sp>
        <p:nvSpPr>
          <p:cNvPr id="5" name="Marcador de pie de página 4">
            <a:extLst>
              <a:ext uri="{FF2B5EF4-FFF2-40B4-BE49-F238E27FC236}">
                <a16:creationId xmlns:a16="http://schemas.microsoft.com/office/drawing/2014/main" id="{CE77E2FD-3712-CBF4-D565-A5FC2271CDC0}"/>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57FEDF1A-5418-E8DF-92A8-9B1451A3894C}"/>
              </a:ext>
            </a:extLst>
          </p:cNvPr>
          <p:cNvSpPr>
            <a:spLocks noGrp="1"/>
          </p:cNvSpPr>
          <p:nvPr>
            <p:ph type="sldNum" sz="quarter" idx="12"/>
          </p:nvPr>
        </p:nvSpPr>
        <p:spPr/>
        <p:txBody>
          <a:bodyPr/>
          <a:lstStyle/>
          <a:p>
            <a:fld id="{BFCCB048-3AB5-48BB-BDE2-09549762F8DE}" type="slidenum">
              <a:rPr lang="es-MX" smtClean="0"/>
              <a:t>‹Nº›</a:t>
            </a:fld>
            <a:endParaRPr lang="es-MX"/>
          </a:p>
        </p:txBody>
      </p:sp>
    </p:spTree>
    <p:extLst>
      <p:ext uri="{BB962C8B-B14F-4D97-AF65-F5344CB8AC3E}">
        <p14:creationId xmlns:p14="http://schemas.microsoft.com/office/powerpoint/2010/main" val="15509872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C8C7EFC0-02E3-5AB5-1ABF-FC90F1F5DFC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BA1C969C-8F62-FD75-4A56-DDDC0BFC773C}"/>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93615D6C-6CCE-9A7F-5581-15ED280EC99F}"/>
              </a:ext>
            </a:extLst>
          </p:cNvPr>
          <p:cNvSpPr>
            <a:spLocks noGrp="1"/>
          </p:cNvSpPr>
          <p:nvPr>
            <p:ph type="dt" sz="half" idx="10"/>
          </p:nvPr>
        </p:nvSpPr>
        <p:spPr/>
        <p:txBody>
          <a:bodyPr/>
          <a:lstStyle/>
          <a:p>
            <a:fld id="{1880B9F7-9146-401A-AAA4-9E0816FB1F94}" type="datetimeFigureOut">
              <a:rPr lang="es-MX" smtClean="0"/>
              <a:t>25/03/2026</a:t>
            </a:fld>
            <a:endParaRPr lang="es-MX"/>
          </a:p>
        </p:txBody>
      </p:sp>
      <p:sp>
        <p:nvSpPr>
          <p:cNvPr id="5" name="Marcador de pie de página 4">
            <a:extLst>
              <a:ext uri="{FF2B5EF4-FFF2-40B4-BE49-F238E27FC236}">
                <a16:creationId xmlns:a16="http://schemas.microsoft.com/office/drawing/2014/main" id="{596E3924-0377-20D3-7732-F086334450FE}"/>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F637A4C3-CB1F-84E8-2851-FD1812779C40}"/>
              </a:ext>
            </a:extLst>
          </p:cNvPr>
          <p:cNvSpPr>
            <a:spLocks noGrp="1"/>
          </p:cNvSpPr>
          <p:nvPr>
            <p:ph type="sldNum" sz="quarter" idx="12"/>
          </p:nvPr>
        </p:nvSpPr>
        <p:spPr/>
        <p:txBody>
          <a:bodyPr/>
          <a:lstStyle/>
          <a:p>
            <a:fld id="{BFCCB048-3AB5-48BB-BDE2-09549762F8DE}" type="slidenum">
              <a:rPr lang="es-MX" smtClean="0"/>
              <a:t>‹Nº›</a:t>
            </a:fld>
            <a:endParaRPr lang="es-MX"/>
          </a:p>
        </p:txBody>
      </p:sp>
    </p:spTree>
    <p:extLst>
      <p:ext uri="{BB962C8B-B14F-4D97-AF65-F5344CB8AC3E}">
        <p14:creationId xmlns:p14="http://schemas.microsoft.com/office/powerpoint/2010/main" val="24982986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7D4479E4-5C22-0915-E41E-34E3F3F389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26B5D3D2-6B41-A25E-45AF-92060D6ADF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BDF2177D-4681-5041-89E5-F02A31FE1A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80B9F7-9146-401A-AAA4-9E0816FB1F94}" type="datetimeFigureOut">
              <a:rPr lang="es-MX" smtClean="0"/>
              <a:t>25/03/2026</a:t>
            </a:fld>
            <a:endParaRPr lang="es-MX"/>
          </a:p>
        </p:txBody>
      </p:sp>
      <p:sp>
        <p:nvSpPr>
          <p:cNvPr id="5" name="Marcador de pie de página 4">
            <a:extLst>
              <a:ext uri="{FF2B5EF4-FFF2-40B4-BE49-F238E27FC236}">
                <a16:creationId xmlns:a16="http://schemas.microsoft.com/office/drawing/2014/main" id="{F12A52C3-434F-082F-578A-43C367DA84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E297386D-2E09-A399-2C65-BF71D7916A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CCB048-3AB5-48BB-BDE2-09549762F8DE}" type="slidenum">
              <a:rPr lang="es-MX" smtClean="0"/>
              <a:t>‹Nº›</a:t>
            </a:fld>
            <a:endParaRPr lang="es-MX"/>
          </a:p>
        </p:txBody>
      </p:sp>
    </p:spTree>
    <p:extLst>
      <p:ext uri="{BB962C8B-B14F-4D97-AF65-F5344CB8AC3E}">
        <p14:creationId xmlns:p14="http://schemas.microsoft.com/office/powerpoint/2010/main" val="29801255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jpeg"/><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5.png"/><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9">
            <a:extLst>
              <a:ext uri="{FF2B5EF4-FFF2-40B4-BE49-F238E27FC236}">
                <a16:creationId xmlns:a16="http://schemas.microsoft.com/office/drawing/2014/main" id="{75DE6D20-A975-90E0-90D7-23DC1C2C20E8}"/>
              </a:ext>
            </a:extLst>
          </p:cNvPr>
          <p:cNvSpPr txBox="1"/>
          <p:nvPr/>
        </p:nvSpPr>
        <p:spPr>
          <a:xfrm>
            <a:off x="2402908" y="1880767"/>
            <a:ext cx="7644625" cy="4924425"/>
          </a:xfrm>
          <a:prstGeom prst="rect">
            <a:avLst/>
          </a:prstGeom>
        </p:spPr>
        <p:txBody>
          <a:bodyPr wrap="square" lIns="0" tIns="0" rIns="0" bIns="0" rtlCol="0" anchor="t">
            <a:spAutoFit/>
          </a:bodyPr>
          <a:lstStyle/>
          <a:p>
            <a:pPr algn="ctr"/>
            <a:r>
              <a:rPr lang="en-US" sz="1600" dirty="0">
                <a:solidFill>
                  <a:srgbClr val="000000"/>
                </a:solidFill>
                <a:latin typeface="Century Gothic" panose="020B0502020202020204" pitchFamily="34" charset="0"/>
                <a:ea typeface="Glacial Indifference"/>
                <a:cs typeface="Glacial Indifference"/>
                <a:sym typeface="Glacial Indifference"/>
              </a:rPr>
              <a:t>Materia:</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Ingenieria del software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Semestre: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Sexto </a:t>
            </a:r>
            <a:r>
              <a:rPr lang="en-US" sz="1600" dirty="0" err="1">
                <a:solidFill>
                  <a:srgbClr val="000000"/>
                </a:solidFill>
                <a:latin typeface="Century Gothic" panose="020B0502020202020204" pitchFamily="34" charset="0"/>
                <a:ea typeface="Glacial Indifference"/>
                <a:cs typeface="Glacial Indifference"/>
                <a:sym typeface="Glacial Indifference"/>
              </a:rPr>
              <a:t>semestre</a:t>
            </a:r>
            <a:r>
              <a:rPr lang="en-US" sz="1600" dirty="0">
                <a:solidFill>
                  <a:srgbClr val="000000"/>
                </a:solidFill>
                <a:latin typeface="Century Gothic" panose="020B0502020202020204" pitchFamily="34" charset="0"/>
                <a:ea typeface="Glacial Indifference"/>
                <a:cs typeface="Glacial Indifference"/>
                <a:sym typeface="Glacial Indifference"/>
              </a:rPr>
              <a:t>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Especialidad:</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Ingeniería en Sistemas Computacionales.</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alumno:</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Cynthia Jasmine Morales Torres / 231260014</a:t>
            </a:r>
          </a:p>
          <a:p>
            <a:pPr algn="ctr"/>
            <a:r>
              <a:rPr lang="es-MX" sz="1600" dirty="0">
                <a:latin typeface="Century Gothic" panose="020B0502020202020204" pitchFamily="34" charset="0"/>
              </a:rPr>
              <a:t>Luis </a:t>
            </a:r>
            <a:r>
              <a:rPr lang="es-MX" sz="1600" dirty="0" err="1">
                <a:latin typeface="Century Gothic" panose="020B0502020202020204" pitchFamily="34" charset="0"/>
              </a:rPr>
              <a:t>daniel</a:t>
            </a:r>
            <a:r>
              <a:rPr lang="es-MX" sz="1600" dirty="0">
                <a:latin typeface="Century Gothic" panose="020B0502020202020204" pitchFamily="34" charset="0"/>
              </a:rPr>
              <a:t> </a:t>
            </a:r>
            <a:r>
              <a:rPr lang="es-MX" sz="1600" dirty="0" err="1">
                <a:latin typeface="Century Gothic" panose="020B0502020202020204" pitchFamily="34" charset="0"/>
              </a:rPr>
              <a:t>gomez</a:t>
            </a:r>
            <a:r>
              <a:rPr lang="es-MX" sz="1600" dirty="0">
                <a:latin typeface="Century Gothic" panose="020B0502020202020204" pitchFamily="34" charset="0"/>
              </a:rPr>
              <a:t> </a:t>
            </a:r>
            <a:r>
              <a:rPr lang="es-MX" sz="1600" dirty="0" err="1">
                <a:latin typeface="Century Gothic" panose="020B0502020202020204" pitchFamily="34" charset="0"/>
              </a:rPr>
              <a:t>santizo</a:t>
            </a:r>
            <a:r>
              <a:rPr lang="es-MX" sz="1600" dirty="0">
                <a:latin typeface="Century Gothic" panose="020B0502020202020204" pitchFamily="34" charset="0"/>
              </a:rPr>
              <a:t> / 231260017</a:t>
            </a:r>
          </a:p>
          <a:p>
            <a:pPr algn="ctr"/>
            <a:r>
              <a:rPr lang="es-MX" sz="1600" dirty="0" err="1">
                <a:latin typeface="Century Gothic" panose="020B0502020202020204" pitchFamily="34" charset="0"/>
              </a:rPr>
              <a:t>Angel</a:t>
            </a:r>
            <a:r>
              <a:rPr lang="es-MX" sz="1600" dirty="0">
                <a:latin typeface="Century Gothic" panose="020B0502020202020204" pitchFamily="34" charset="0"/>
              </a:rPr>
              <a:t> de </a:t>
            </a:r>
            <a:r>
              <a:rPr lang="es-MX" sz="1600" dirty="0" err="1">
                <a:latin typeface="Century Gothic" panose="020B0502020202020204" pitchFamily="34" charset="0"/>
              </a:rPr>
              <a:t>jesus</a:t>
            </a:r>
            <a:r>
              <a:rPr lang="es-MX" sz="1600" dirty="0">
                <a:latin typeface="Century Gothic" panose="020B0502020202020204" pitchFamily="34" charset="0"/>
              </a:rPr>
              <a:t> </a:t>
            </a:r>
            <a:r>
              <a:rPr lang="es-MX" sz="1600" dirty="0" err="1">
                <a:latin typeface="Century Gothic" panose="020B0502020202020204" pitchFamily="34" charset="0"/>
              </a:rPr>
              <a:t>mazariegoz</a:t>
            </a:r>
            <a:r>
              <a:rPr lang="es-MX" sz="1600" dirty="0">
                <a:latin typeface="Century Gothic" panose="020B0502020202020204" pitchFamily="34" charset="0"/>
              </a:rPr>
              <a:t> </a:t>
            </a:r>
            <a:r>
              <a:rPr lang="es-MX" sz="1600" dirty="0" err="1">
                <a:latin typeface="Century Gothic" panose="020B0502020202020204" pitchFamily="34" charset="0"/>
              </a:rPr>
              <a:t>ortiz</a:t>
            </a:r>
            <a:r>
              <a:rPr lang="es-MX" sz="1600" dirty="0">
                <a:latin typeface="Century Gothic" panose="020B0502020202020204" pitchFamily="34" charset="0"/>
              </a:rPr>
              <a:t> / 231260003</a:t>
            </a:r>
          </a:p>
          <a:p>
            <a:pPr algn="ctr"/>
            <a:r>
              <a:rPr lang="es-MX" sz="1600" dirty="0">
                <a:latin typeface="Century Gothic" panose="020B0502020202020204" pitchFamily="34" charset="0"/>
              </a:rPr>
              <a:t>Simone </a:t>
            </a:r>
            <a:r>
              <a:rPr lang="es-MX" sz="1600" dirty="0" err="1">
                <a:latin typeface="Century Gothic" panose="020B0502020202020204" pitchFamily="34" charset="0"/>
              </a:rPr>
              <a:t>belen</a:t>
            </a:r>
            <a:r>
              <a:rPr lang="es-MX" sz="1600" dirty="0">
                <a:latin typeface="Century Gothic" panose="020B0502020202020204" pitchFamily="34" charset="0"/>
              </a:rPr>
              <a:t> </a:t>
            </a:r>
            <a:r>
              <a:rPr lang="es-MX" sz="1600" dirty="0" err="1">
                <a:latin typeface="Century Gothic" panose="020B0502020202020204" pitchFamily="34" charset="0"/>
              </a:rPr>
              <a:t>lopez</a:t>
            </a:r>
            <a:r>
              <a:rPr lang="es-MX" sz="1600" dirty="0">
                <a:latin typeface="Century Gothic" panose="020B0502020202020204" pitchFamily="34" charset="0"/>
              </a:rPr>
              <a:t> </a:t>
            </a:r>
            <a:r>
              <a:rPr lang="es-MX" sz="1600" dirty="0" err="1">
                <a:latin typeface="Century Gothic" panose="020B0502020202020204" pitchFamily="34" charset="0"/>
              </a:rPr>
              <a:t>ramirez</a:t>
            </a:r>
            <a:r>
              <a:rPr lang="es-MX" sz="1600" dirty="0">
                <a:latin typeface="Century Gothic" panose="020B0502020202020204" pitchFamily="34" charset="0"/>
              </a:rPr>
              <a:t> / 231260010</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Nombre del docente: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Ing. Francisco Javier Mingo Velazquez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trabajo:</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3.3 </a:t>
            </a:r>
            <a:r>
              <a:rPr lang="en-US" sz="1600" dirty="0" err="1">
                <a:solidFill>
                  <a:srgbClr val="000000"/>
                </a:solidFill>
                <a:latin typeface="Century Gothic" panose="020B0502020202020204" pitchFamily="34" charset="0"/>
                <a:ea typeface="Glacial Indifference"/>
                <a:cs typeface="Glacial Indifference"/>
                <a:sym typeface="Glacial Indifference"/>
              </a:rPr>
              <a:t>Ejercicio</a:t>
            </a:r>
            <a:r>
              <a:rPr lang="en-US" sz="1600" dirty="0">
                <a:solidFill>
                  <a:srgbClr val="000000"/>
                </a:solidFill>
                <a:latin typeface="Century Gothic" panose="020B0502020202020204" pitchFamily="34" charset="0"/>
                <a:ea typeface="Glacial Indifference"/>
                <a:cs typeface="Glacial Indifference"/>
                <a:sym typeface="Glacial Indifference"/>
              </a:rPr>
              <a:t> </a:t>
            </a:r>
            <a:r>
              <a:rPr lang="en-US" sz="1600" dirty="0" err="1">
                <a:solidFill>
                  <a:srgbClr val="000000"/>
                </a:solidFill>
                <a:latin typeface="Century Gothic" panose="020B0502020202020204" pitchFamily="34" charset="0"/>
                <a:ea typeface="Glacial Indifference"/>
                <a:cs typeface="Glacial Indifference"/>
                <a:sym typeface="Glacial Indifference"/>
              </a:rPr>
              <a:t>Documentacion</a:t>
            </a:r>
            <a:r>
              <a:rPr lang="en-US" sz="1600" dirty="0">
                <a:solidFill>
                  <a:srgbClr val="000000"/>
                </a:solidFill>
                <a:latin typeface="Century Gothic" panose="020B0502020202020204" pitchFamily="34" charset="0"/>
                <a:ea typeface="Glacial Indifference"/>
                <a:cs typeface="Glacial Indifference"/>
                <a:sym typeface="Glacial Indifference"/>
              </a:rPr>
              <a:t> </a:t>
            </a:r>
            <a:r>
              <a:rPr lang="en-US" sz="1600" dirty="0" err="1">
                <a:solidFill>
                  <a:srgbClr val="000000"/>
                </a:solidFill>
                <a:latin typeface="Century Gothic" panose="020B0502020202020204" pitchFamily="34" charset="0"/>
                <a:ea typeface="Glacial Indifference"/>
                <a:cs typeface="Glacial Indifference"/>
                <a:sym typeface="Glacial Indifference"/>
              </a:rPr>
              <a:t>Tecnica</a:t>
            </a: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Frontera Comalapa, Chiapas. A 18 de Marzo del 2026</a:t>
            </a:r>
          </a:p>
        </p:txBody>
      </p:sp>
      <p:sp>
        <p:nvSpPr>
          <p:cNvPr id="5" name="TextBox 8">
            <a:extLst>
              <a:ext uri="{FF2B5EF4-FFF2-40B4-BE49-F238E27FC236}">
                <a16:creationId xmlns:a16="http://schemas.microsoft.com/office/drawing/2014/main" id="{B258E568-9951-77EE-2E8B-60D9BF5B02DB}"/>
              </a:ext>
            </a:extLst>
          </p:cNvPr>
          <p:cNvSpPr txBox="1"/>
          <p:nvPr/>
        </p:nvSpPr>
        <p:spPr>
          <a:xfrm>
            <a:off x="2046984" y="997338"/>
            <a:ext cx="8356475" cy="709233"/>
          </a:xfrm>
          <a:prstGeom prst="rect">
            <a:avLst/>
          </a:prstGeom>
        </p:spPr>
        <p:txBody>
          <a:bodyPr wrap="square" lIns="0" tIns="0" rIns="0" bIns="0" rtlCol="0" anchor="t">
            <a:spAutoFit/>
          </a:bodyPr>
          <a:lstStyle/>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Instituto Tecnológico de Frontera Comalapa </a:t>
            </a:r>
          </a:p>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Modalidad Mixta</a:t>
            </a:r>
          </a:p>
        </p:txBody>
      </p:sp>
      <p:grpSp>
        <p:nvGrpSpPr>
          <p:cNvPr id="6" name="Group 2">
            <a:extLst>
              <a:ext uri="{FF2B5EF4-FFF2-40B4-BE49-F238E27FC236}">
                <a16:creationId xmlns:a16="http://schemas.microsoft.com/office/drawing/2014/main" id="{F44C4AD2-C717-28D5-4120-7A6AED5DA7AA}"/>
              </a:ext>
            </a:extLst>
          </p:cNvPr>
          <p:cNvGrpSpPr/>
          <p:nvPr/>
        </p:nvGrpSpPr>
        <p:grpSpPr>
          <a:xfrm>
            <a:off x="523335" y="31119"/>
            <a:ext cx="2709599" cy="1198176"/>
            <a:chOff x="0" y="0"/>
            <a:chExt cx="3073400" cy="1308100"/>
          </a:xfrm>
        </p:grpSpPr>
        <p:sp>
          <p:nvSpPr>
            <p:cNvPr id="7" name="Freeform 3">
              <a:extLst>
                <a:ext uri="{FF2B5EF4-FFF2-40B4-BE49-F238E27FC236}">
                  <a16:creationId xmlns:a16="http://schemas.microsoft.com/office/drawing/2014/main" id="{E9F2802C-8C71-5991-E192-8FA91CBF049E}"/>
                </a:ext>
              </a:extLst>
            </p:cNvPr>
            <p:cNvSpPr/>
            <p:nvPr/>
          </p:nvSpPr>
          <p:spPr>
            <a:xfrm>
              <a:off x="0" y="0"/>
              <a:ext cx="3073400" cy="1308100"/>
            </a:xfrm>
            <a:custGeom>
              <a:avLst/>
              <a:gdLst/>
              <a:ahLst/>
              <a:cxnLst/>
              <a:rect l="l" t="t" r="r" b="b"/>
              <a:pathLst>
                <a:path w="3073400" h="1308100">
                  <a:moveTo>
                    <a:pt x="0" y="0"/>
                  </a:moveTo>
                  <a:lnTo>
                    <a:pt x="3073400" y="0"/>
                  </a:lnTo>
                  <a:lnTo>
                    <a:pt x="3073400" y="1308100"/>
                  </a:lnTo>
                  <a:lnTo>
                    <a:pt x="0" y="1308100"/>
                  </a:lnTo>
                  <a:lnTo>
                    <a:pt x="0" y="0"/>
                  </a:lnTo>
                  <a:close/>
                </a:path>
              </a:pathLst>
            </a:custGeom>
            <a:blipFill>
              <a:blip r:embed="rId2"/>
              <a:stretch>
                <a:fillRect/>
              </a:stretch>
            </a:blipFill>
          </p:spPr>
        </p:sp>
      </p:grpSp>
      <p:grpSp>
        <p:nvGrpSpPr>
          <p:cNvPr id="8" name="Group 4">
            <a:extLst>
              <a:ext uri="{FF2B5EF4-FFF2-40B4-BE49-F238E27FC236}">
                <a16:creationId xmlns:a16="http://schemas.microsoft.com/office/drawing/2014/main" id="{4248938F-253A-8F4A-1882-756D9BD0B947}"/>
              </a:ext>
            </a:extLst>
          </p:cNvPr>
          <p:cNvGrpSpPr/>
          <p:nvPr/>
        </p:nvGrpSpPr>
        <p:grpSpPr>
          <a:xfrm>
            <a:off x="9187322" y="106714"/>
            <a:ext cx="1872270" cy="1245240"/>
            <a:chOff x="0" y="0"/>
            <a:chExt cx="1981200" cy="1625600"/>
          </a:xfrm>
        </p:grpSpPr>
        <p:sp>
          <p:nvSpPr>
            <p:cNvPr id="9" name="Freeform 5">
              <a:extLst>
                <a:ext uri="{FF2B5EF4-FFF2-40B4-BE49-F238E27FC236}">
                  <a16:creationId xmlns:a16="http://schemas.microsoft.com/office/drawing/2014/main" id="{D58DECF8-64BD-7914-D08C-0D6A537890A0}"/>
                </a:ext>
              </a:extLst>
            </p:cNvPr>
            <p:cNvSpPr/>
            <p:nvPr/>
          </p:nvSpPr>
          <p:spPr>
            <a:xfrm>
              <a:off x="0" y="0"/>
              <a:ext cx="1981200" cy="1625600"/>
            </a:xfrm>
            <a:custGeom>
              <a:avLst/>
              <a:gdLst/>
              <a:ahLst/>
              <a:cxnLst/>
              <a:rect l="l" t="t" r="r" b="b"/>
              <a:pathLst>
                <a:path w="1981200" h="1625600">
                  <a:moveTo>
                    <a:pt x="0" y="0"/>
                  </a:moveTo>
                  <a:lnTo>
                    <a:pt x="1981200" y="0"/>
                  </a:lnTo>
                  <a:lnTo>
                    <a:pt x="1981200" y="1625600"/>
                  </a:lnTo>
                  <a:lnTo>
                    <a:pt x="0" y="1625600"/>
                  </a:lnTo>
                  <a:lnTo>
                    <a:pt x="0" y="0"/>
                  </a:lnTo>
                  <a:close/>
                </a:path>
              </a:pathLst>
            </a:custGeom>
            <a:blipFill>
              <a:blip r:embed="rId3"/>
              <a:stretch>
                <a:fillRect/>
              </a:stretch>
            </a:blipFill>
          </p:spPr>
        </p:sp>
      </p:grpSp>
      <p:grpSp>
        <p:nvGrpSpPr>
          <p:cNvPr id="10" name="Group 6">
            <a:extLst>
              <a:ext uri="{FF2B5EF4-FFF2-40B4-BE49-F238E27FC236}">
                <a16:creationId xmlns:a16="http://schemas.microsoft.com/office/drawing/2014/main" id="{AF27553C-F2BB-DADF-7113-720C83831782}"/>
              </a:ext>
            </a:extLst>
          </p:cNvPr>
          <p:cNvGrpSpPr/>
          <p:nvPr/>
        </p:nvGrpSpPr>
        <p:grpSpPr>
          <a:xfrm>
            <a:off x="4014015" y="269788"/>
            <a:ext cx="3812814" cy="709234"/>
            <a:chOff x="0" y="0"/>
            <a:chExt cx="4343400" cy="901700"/>
          </a:xfrm>
        </p:grpSpPr>
        <p:sp>
          <p:nvSpPr>
            <p:cNvPr id="11" name="Freeform 7">
              <a:extLst>
                <a:ext uri="{FF2B5EF4-FFF2-40B4-BE49-F238E27FC236}">
                  <a16:creationId xmlns:a16="http://schemas.microsoft.com/office/drawing/2014/main" id="{1DC148FC-D897-CA08-EF00-24B3D42A250F}"/>
                </a:ext>
              </a:extLst>
            </p:cNvPr>
            <p:cNvSpPr/>
            <p:nvPr/>
          </p:nvSpPr>
          <p:spPr>
            <a:xfrm>
              <a:off x="0" y="0"/>
              <a:ext cx="4343400" cy="901700"/>
            </a:xfrm>
            <a:custGeom>
              <a:avLst/>
              <a:gdLst/>
              <a:ahLst/>
              <a:cxnLst/>
              <a:rect l="l" t="t" r="r" b="b"/>
              <a:pathLst>
                <a:path w="4343400" h="901700">
                  <a:moveTo>
                    <a:pt x="0" y="0"/>
                  </a:moveTo>
                  <a:lnTo>
                    <a:pt x="4343400" y="0"/>
                  </a:lnTo>
                  <a:lnTo>
                    <a:pt x="4343400" y="901700"/>
                  </a:lnTo>
                  <a:lnTo>
                    <a:pt x="0" y="901700"/>
                  </a:lnTo>
                  <a:lnTo>
                    <a:pt x="0" y="0"/>
                  </a:lnTo>
                  <a:close/>
                </a:path>
              </a:pathLst>
            </a:custGeom>
            <a:blipFill>
              <a:blip r:embed="rId4"/>
              <a:stretch>
                <a:fillRect/>
              </a:stretch>
            </a:blipFill>
          </p:spPr>
        </p:sp>
      </p:grpSp>
    </p:spTree>
    <p:extLst>
      <p:ext uri="{BB962C8B-B14F-4D97-AF65-F5344CB8AC3E}">
        <p14:creationId xmlns:p14="http://schemas.microsoft.com/office/powerpoint/2010/main" val="32525571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55D805-BBFF-35D2-29C8-6017BBFFE1EC}"/>
              </a:ext>
            </a:extLst>
          </p:cNvPr>
          <p:cNvSpPr>
            <a:spLocks noGrp="1"/>
          </p:cNvSpPr>
          <p:nvPr>
            <p:ph type="title"/>
          </p:nvPr>
        </p:nvSpPr>
        <p:spPr/>
        <p:txBody>
          <a:bodyPr/>
          <a:lstStyle/>
          <a:p>
            <a:r>
              <a:rPr lang="es-MX" dirty="0"/>
              <a:t>Introducción </a:t>
            </a:r>
          </a:p>
        </p:txBody>
      </p:sp>
      <p:sp>
        <p:nvSpPr>
          <p:cNvPr id="3" name="Marcador de contenido 2">
            <a:extLst>
              <a:ext uri="{FF2B5EF4-FFF2-40B4-BE49-F238E27FC236}">
                <a16:creationId xmlns:a16="http://schemas.microsoft.com/office/drawing/2014/main" id="{B788A74F-FB47-05A1-528C-9220817CE16C}"/>
              </a:ext>
            </a:extLst>
          </p:cNvPr>
          <p:cNvSpPr>
            <a:spLocks noGrp="1"/>
          </p:cNvSpPr>
          <p:nvPr>
            <p:ph idx="1"/>
          </p:nvPr>
        </p:nvSpPr>
        <p:spPr/>
        <p:txBody>
          <a:bodyPr>
            <a:normAutofit/>
          </a:bodyPr>
          <a:lstStyle/>
          <a:p>
            <a:pPr marL="0" indent="0" algn="just">
              <a:buNone/>
            </a:pPr>
            <a:r>
              <a:rPr lang="es-MX" sz="2000" dirty="0"/>
              <a:t>La presente documentación técnica describe la estructura, funcionamiento e implementación del sistema de reconocimiento facial para el registro de asistencia de docentes. El sistema está compuesto por un </a:t>
            </a:r>
            <a:r>
              <a:rPr lang="es-MX" sz="2000" dirty="0" err="1"/>
              <a:t>frontend</a:t>
            </a:r>
            <a:r>
              <a:rPr lang="es-MX" sz="2000" dirty="0"/>
              <a:t> desarrollado en </a:t>
            </a:r>
            <a:r>
              <a:rPr lang="es-MX" sz="2000" dirty="0" err="1"/>
              <a:t>JavaFX</a:t>
            </a:r>
            <a:r>
              <a:rPr lang="es-MX" sz="2000" dirty="0"/>
              <a:t>, un </a:t>
            </a:r>
            <a:r>
              <a:rPr lang="es-MX" sz="2000" dirty="0" err="1"/>
              <a:t>backend</a:t>
            </a:r>
            <a:r>
              <a:rPr lang="es-MX" sz="2000" dirty="0"/>
              <a:t> en Spring </a:t>
            </a:r>
            <a:r>
              <a:rPr lang="es-MX" sz="2000" dirty="0" err="1"/>
              <a:t>Boot</a:t>
            </a:r>
            <a:r>
              <a:rPr lang="es-MX" sz="2000" dirty="0"/>
              <a:t> y una base de datos PostgreSQL, los cuales se comunican mediante una API REST.</a:t>
            </a:r>
          </a:p>
          <a:p>
            <a:pPr marL="0" indent="0" algn="just">
              <a:buNone/>
            </a:pPr>
            <a:r>
              <a:rPr lang="es-MX" sz="2000" dirty="0"/>
              <a:t>El objetivo de esta documentación es detallar los componentes del sistema, su arquitectura, así como los procesos internos que permiten su correcto funcionamiento.</a:t>
            </a:r>
          </a:p>
          <a:p>
            <a:pPr marL="0" indent="0" algn="just">
              <a:buNone/>
            </a:pPr>
            <a:endParaRPr lang="es-MX" sz="2000" dirty="0"/>
          </a:p>
        </p:txBody>
      </p:sp>
    </p:spTree>
    <p:extLst>
      <p:ext uri="{BB962C8B-B14F-4D97-AF65-F5344CB8AC3E}">
        <p14:creationId xmlns:p14="http://schemas.microsoft.com/office/powerpoint/2010/main" val="6192922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996B4B-4804-B4AA-71E5-CE6DCEB52023}"/>
              </a:ext>
            </a:extLst>
          </p:cNvPr>
          <p:cNvSpPr>
            <a:spLocks noGrp="1"/>
          </p:cNvSpPr>
          <p:nvPr>
            <p:ph type="title"/>
          </p:nvPr>
        </p:nvSpPr>
        <p:spPr/>
        <p:txBody>
          <a:bodyPr/>
          <a:lstStyle/>
          <a:p>
            <a:r>
              <a:rPr lang="es-MX" dirty="0"/>
              <a:t>Justificación </a:t>
            </a:r>
          </a:p>
        </p:txBody>
      </p:sp>
      <p:sp>
        <p:nvSpPr>
          <p:cNvPr id="3" name="Marcador de contenido 2">
            <a:extLst>
              <a:ext uri="{FF2B5EF4-FFF2-40B4-BE49-F238E27FC236}">
                <a16:creationId xmlns:a16="http://schemas.microsoft.com/office/drawing/2014/main" id="{53B79101-5E05-426C-8C36-14E145F8492B}"/>
              </a:ext>
            </a:extLst>
          </p:cNvPr>
          <p:cNvSpPr>
            <a:spLocks noGrp="1"/>
          </p:cNvSpPr>
          <p:nvPr>
            <p:ph idx="1"/>
          </p:nvPr>
        </p:nvSpPr>
        <p:spPr/>
        <p:txBody>
          <a:bodyPr>
            <a:normAutofit/>
          </a:bodyPr>
          <a:lstStyle/>
          <a:p>
            <a:pPr marL="0" indent="0" algn="just">
              <a:buNone/>
            </a:pPr>
            <a:r>
              <a:rPr lang="es-MX" sz="2000" dirty="0"/>
              <a:t>La implementación de este sistema se justifica por la necesidad de automatizar el registro de asistencia mediante tecnologías modernas, utilizando una arquitectura cliente-servidor que permite la integración entre interfaz gráfica, </a:t>
            </a:r>
            <a:r>
              <a:rPr lang="es-MX" sz="2000" dirty="0" err="1"/>
              <a:t>backend</a:t>
            </a:r>
            <a:r>
              <a:rPr lang="es-MX" sz="2000" dirty="0"/>
              <a:t> y base de datos. El uso de herramientas como </a:t>
            </a:r>
            <a:r>
              <a:rPr lang="es-MX" sz="2000" dirty="0" err="1"/>
              <a:t>JavaFX</a:t>
            </a:r>
            <a:r>
              <a:rPr lang="es-MX" sz="2000" dirty="0"/>
              <a:t>, Spring </a:t>
            </a:r>
            <a:r>
              <a:rPr lang="es-MX" sz="2000" dirty="0" err="1"/>
              <a:t>Boot</a:t>
            </a:r>
            <a:r>
              <a:rPr lang="es-MX" sz="2000" dirty="0"/>
              <a:t> y PostgreSQL facilita la escalabilidad, mantenimiento y eficiencia del sistema.</a:t>
            </a:r>
          </a:p>
        </p:txBody>
      </p:sp>
    </p:spTree>
    <p:extLst>
      <p:ext uri="{BB962C8B-B14F-4D97-AF65-F5344CB8AC3E}">
        <p14:creationId xmlns:p14="http://schemas.microsoft.com/office/powerpoint/2010/main" val="41588627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34F4DB-F779-326C-AE77-9E232CCB6ABD}"/>
              </a:ext>
            </a:extLst>
          </p:cNvPr>
          <p:cNvSpPr>
            <a:spLocks noGrp="1"/>
          </p:cNvSpPr>
          <p:nvPr>
            <p:ph type="title"/>
          </p:nvPr>
        </p:nvSpPr>
        <p:spPr/>
        <p:txBody>
          <a:bodyPr/>
          <a:lstStyle/>
          <a:p>
            <a:r>
              <a:rPr lang="es-MX" dirty="0"/>
              <a:t>Arquitectura del sistema </a:t>
            </a:r>
          </a:p>
        </p:txBody>
      </p:sp>
      <p:sp>
        <p:nvSpPr>
          <p:cNvPr id="3" name="Marcador de contenido 2">
            <a:extLst>
              <a:ext uri="{FF2B5EF4-FFF2-40B4-BE49-F238E27FC236}">
                <a16:creationId xmlns:a16="http://schemas.microsoft.com/office/drawing/2014/main" id="{4064D8F0-EDE6-C2EF-F5EA-59E613B8E76B}"/>
              </a:ext>
            </a:extLst>
          </p:cNvPr>
          <p:cNvSpPr>
            <a:spLocks noGrp="1"/>
          </p:cNvSpPr>
          <p:nvPr>
            <p:ph idx="1"/>
          </p:nvPr>
        </p:nvSpPr>
        <p:spPr>
          <a:xfrm>
            <a:off x="838200" y="1370013"/>
            <a:ext cx="10515600" cy="641350"/>
          </a:xfrm>
        </p:spPr>
        <p:txBody>
          <a:bodyPr>
            <a:normAutofit/>
          </a:bodyPr>
          <a:lstStyle/>
          <a:p>
            <a:pPr marL="0" indent="0">
              <a:buNone/>
            </a:pPr>
            <a:r>
              <a:rPr lang="es-MX" sz="1800" dirty="0"/>
              <a:t>El sistema sigue una arquitectura cliente-servidor, donde el </a:t>
            </a:r>
            <a:r>
              <a:rPr lang="es-MX" sz="1800" dirty="0" err="1"/>
              <a:t>frontend</a:t>
            </a:r>
            <a:r>
              <a:rPr lang="es-MX" sz="1800" dirty="0"/>
              <a:t> se comunica con el </a:t>
            </a:r>
            <a:r>
              <a:rPr lang="es-MX" sz="1800" dirty="0" err="1"/>
              <a:t>backend</a:t>
            </a:r>
            <a:r>
              <a:rPr lang="es-MX" sz="1800" dirty="0"/>
              <a:t> a través de servicios web.</a:t>
            </a:r>
          </a:p>
        </p:txBody>
      </p:sp>
      <p:pic>
        <p:nvPicPr>
          <p:cNvPr id="7" name="Imagen 6">
            <a:extLst>
              <a:ext uri="{FF2B5EF4-FFF2-40B4-BE49-F238E27FC236}">
                <a16:creationId xmlns:a16="http://schemas.microsoft.com/office/drawing/2014/main" id="{B4DBD60D-8A53-6985-04DC-5E136E54ED1A}"/>
              </a:ext>
            </a:extLst>
          </p:cNvPr>
          <p:cNvPicPr>
            <a:picLocks noChangeAspect="1"/>
          </p:cNvPicPr>
          <p:nvPr/>
        </p:nvPicPr>
        <p:blipFill>
          <a:blip r:embed="rId2"/>
          <a:stretch>
            <a:fillRect/>
          </a:stretch>
        </p:blipFill>
        <p:spPr>
          <a:xfrm>
            <a:off x="1823441" y="2285810"/>
            <a:ext cx="8545118" cy="2724530"/>
          </a:xfrm>
          <a:prstGeom prst="rect">
            <a:avLst/>
          </a:prstGeom>
        </p:spPr>
      </p:pic>
      <p:pic>
        <p:nvPicPr>
          <p:cNvPr id="8" name="Picture 12" descr="JavaFX - Wikipedia">
            <a:extLst>
              <a:ext uri="{FF2B5EF4-FFF2-40B4-BE49-F238E27FC236}">
                <a16:creationId xmlns:a16="http://schemas.microsoft.com/office/drawing/2014/main" id="{F94F686D-B8F8-8302-97B2-A1243818EA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5" y="2350294"/>
            <a:ext cx="1657350" cy="69056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Building a CRUD API with Spring Boot: A Step-by-Step Guide | by Kamindu  Gayantha | Medium">
            <a:extLst>
              <a:ext uri="{FF2B5EF4-FFF2-40B4-BE49-F238E27FC236}">
                <a16:creationId xmlns:a16="http://schemas.microsoft.com/office/drawing/2014/main" id="{BF1D78ED-6E03-B4BF-EB76-CAA65AD4DE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68559" y="2350294"/>
            <a:ext cx="1705470" cy="896747"/>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PostgreSQL: precios, funciones y opiniones">
            <a:extLst>
              <a:ext uri="{FF2B5EF4-FFF2-40B4-BE49-F238E27FC236}">
                <a16:creationId xmlns:a16="http://schemas.microsoft.com/office/drawing/2014/main" id="{C73464BD-3F73-B11F-C4C2-816E48CBDA8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36506" y="5047455"/>
            <a:ext cx="1445420" cy="1445420"/>
          </a:xfrm>
          <a:prstGeom prst="rect">
            <a:avLst/>
          </a:prstGeom>
          <a:noFill/>
          <a:extLst>
            <a:ext uri="{909E8E84-426E-40DD-AFC4-6F175D3DCCD1}">
              <a14:hiddenFill xmlns:a14="http://schemas.microsoft.com/office/drawing/2010/main">
                <a:solidFill>
                  <a:srgbClr val="FFFFFF"/>
                </a:solidFill>
              </a14:hiddenFill>
            </a:ext>
          </a:extLst>
        </p:spPr>
      </p:pic>
      <p:sp>
        <p:nvSpPr>
          <p:cNvPr id="11" name="CuadroTexto 10">
            <a:extLst>
              <a:ext uri="{FF2B5EF4-FFF2-40B4-BE49-F238E27FC236}">
                <a16:creationId xmlns:a16="http://schemas.microsoft.com/office/drawing/2014/main" id="{D0DD6EA3-612B-7BD1-4F2C-C8067F475152}"/>
              </a:ext>
            </a:extLst>
          </p:cNvPr>
          <p:cNvSpPr txBox="1"/>
          <p:nvPr/>
        </p:nvSpPr>
        <p:spPr>
          <a:xfrm>
            <a:off x="4943475" y="2011363"/>
            <a:ext cx="1905000" cy="369332"/>
          </a:xfrm>
          <a:prstGeom prst="rect">
            <a:avLst/>
          </a:prstGeom>
          <a:noFill/>
        </p:spPr>
        <p:txBody>
          <a:bodyPr wrap="square" rtlCol="0">
            <a:spAutoFit/>
          </a:bodyPr>
          <a:lstStyle/>
          <a:p>
            <a:r>
              <a:rPr lang="es-MX" dirty="0"/>
              <a:t>Aquí se comunica</a:t>
            </a:r>
          </a:p>
        </p:txBody>
      </p:sp>
    </p:spTree>
    <p:extLst>
      <p:ext uri="{BB962C8B-B14F-4D97-AF65-F5344CB8AC3E}">
        <p14:creationId xmlns:p14="http://schemas.microsoft.com/office/powerpoint/2010/main" val="10252553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9A86CFF-E46D-3256-FA0E-61A49890C37E}"/>
              </a:ext>
            </a:extLst>
          </p:cNvPr>
          <p:cNvSpPr>
            <a:spLocks noGrp="1"/>
          </p:cNvSpPr>
          <p:nvPr>
            <p:ph idx="1"/>
          </p:nvPr>
        </p:nvSpPr>
        <p:spPr>
          <a:xfrm>
            <a:off x="571500" y="539750"/>
            <a:ext cx="6667500" cy="3117850"/>
          </a:xfrm>
        </p:spPr>
        <p:txBody>
          <a:bodyPr/>
          <a:lstStyle/>
          <a:p>
            <a:pPr marL="0" indent="0">
              <a:buNone/>
            </a:pPr>
            <a:r>
              <a:rPr lang="es-MX" sz="2800" b="1" dirty="0"/>
              <a:t>Tecnologías utilizadas</a:t>
            </a:r>
          </a:p>
          <a:p>
            <a:pPr>
              <a:buFont typeface="Arial" panose="020B0604020202020204" pitchFamily="34" charset="0"/>
              <a:buChar char="•"/>
            </a:pPr>
            <a:r>
              <a:rPr lang="es-MX" sz="2800" dirty="0" err="1"/>
              <a:t>Frontend</a:t>
            </a:r>
            <a:r>
              <a:rPr lang="es-MX" sz="2800" dirty="0"/>
              <a:t>: </a:t>
            </a:r>
            <a:r>
              <a:rPr lang="es-MX" sz="2800" dirty="0" err="1"/>
              <a:t>JavaFX</a:t>
            </a:r>
            <a:r>
              <a:rPr lang="es-MX" sz="2800" dirty="0"/>
              <a:t> (IntelliJ) </a:t>
            </a:r>
          </a:p>
          <a:p>
            <a:pPr>
              <a:buFont typeface="Arial" panose="020B0604020202020204" pitchFamily="34" charset="0"/>
              <a:buChar char="•"/>
            </a:pPr>
            <a:r>
              <a:rPr lang="es-MX" sz="2800" dirty="0" err="1"/>
              <a:t>Backend</a:t>
            </a:r>
            <a:r>
              <a:rPr lang="es-MX" sz="2800" dirty="0"/>
              <a:t>: Spring </a:t>
            </a:r>
            <a:r>
              <a:rPr lang="es-MX" sz="2800" dirty="0" err="1"/>
              <a:t>Boot</a:t>
            </a:r>
            <a:r>
              <a:rPr lang="es-MX" sz="2800" dirty="0"/>
              <a:t> (VS </a:t>
            </a:r>
            <a:r>
              <a:rPr lang="es-MX" sz="2800" dirty="0" err="1"/>
              <a:t>Code</a:t>
            </a:r>
            <a:r>
              <a:rPr lang="es-MX" sz="2800" dirty="0"/>
              <a:t>) </a:t>
            </a:r>
          </a:p>
          <a:p>
            <a:pPr>
              <a:buFont typeface="Arial" panose="020B0604020202020204" pitchFamily="34" charset="0"/>
              <a:buChar char="•"/>
            </a:pPr>
            <a:r>
              <a:rPr lang="es-MX" sz="2800" dirty="0"/>
              <a:t>Base de datos: PostgreSQL (</a:t>
            </a:r>
            <a:r>
              <a:rPr lang="es-MX" sz="2800" dirty="0" err="1"/>
              <a:t>DBeaver</a:t>
            </a:r>
            <a:r>
              <a:rPr lang="es-MX" sz="2800" dirty="0"/>
              <a:t>)</a:t>
            </a:r>
          </a:p>
          <a:p>
            <a:pPr>
              <a:buFont typeface="Arial" panose="020B0604020202020204" pitchFamily="34" charset="0"/>
              <a:buChar char="•"/>
            </a:pPr>
            <a:r>
              <a:rPr lang="es-MX" sz="2800" dirty="0"/>
              <a:t>Comunicación: API REST (HTTP)</a:t>
            </a:r>
          </a:p>
          <a:p>
            <a:pPr marL="0" indent="0">
              <a:buNone/>
            </a:pPr>
            <a:endParaRPr lang="es-MX" dirty="0"/>
          </a:p>
        </p:txBody>
      </p:sp>
      <p:pic>
        <p:nvPicPr>
          <p:cNvPr id="4" name="Picture 4" descr="PostgreSQL: precios, funciones y opiniones">
            <a:extLst>
              <a:ext uri="{FF2B5EF4-FFF2-40B4-BE49-F238E27FC236}">
                <a16:creationId xmlns:a16="http://schemas.microsoft.com/office/drawing/2014/main" id="{EBBF8258-1A0A-65CA-476A-542297EE9C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65430" y="4175125"/>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8" descr="Building a CRUD API with Spring Boot: A Step-by-Step Guide | by Kamindu  Gayantha | Medium">
            <a:extLst>
              <a:ext uri="{FF2B5EF4-FFF2-40B4-BE49-F238E27FC236}">
                <a16:creationId xmlns:a16="http://schemas.microsoft.com/office/drawing/2014/main" id="{8B934FCA-8CF9-C639-031C-FCF9FDC42A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1030" y="4361590"/>
            <a:ext cx="2952750" cy="1552575"/>
          </a:xfrm>
          <a:prstGeom prst="rect">
            <a:avLst/>
          </a:prstGeom>
          <a:noFill/>
          <a:extLst>
            <a:ext uri="{909E8E84-426E-40DD-AFC4-6F175D3DCCD1}">
              <a14:hiddenFill xmlns:a14="http://schemas.microsoft.com/office/drawing/2010/main">
                <a:solidFill>
                  <a:srgbClr val="FFFFFF"/>
                </a:solidFill>
              </a14:hiddenFill>
            </a:ext>
          </a:extLst>
        </p:spPr>
      </p:pic>
      <p:sp>
        <p:nvSpPr>
          <p:cNvPr id="6" name="Forma libre: forma 5">
            <a:extLst>
              <a:ext uri="{FF2B5EF4-FFF2-40B4-BE49-F238E27FC236}">
                <a16:creationId xmlns:a16="http://schemas.microsoft.com/office/drawing/2014/main" id="{3F3C97E7-FB0C-5BA9-5A0F-033CB811E882}"/>
              </a:ext>
            </a:extLst>
          </p:cNvPr>
          <p:cNvSpPr/>
          <p:nvPr/>
        </p:nvSpPr>
        <p:spPr>
          <a:xfrm>
            <a:off x="1945480" y="4072731"/>
            <a:ext cx="7219950" cy="577718"/>
          </a:xfrm>
          <a:custGeom>
            <a:avLst/>
            <a:gdLst>
              <a:gd name="connsiteX0" fmla="*/ 0 w 5715000"/>
              <a:gd name="connsiteY0" fmla="*/ 68678 h 577718"/>
              <a:gd name="connsiteX1" fmla="*/ 2600325 w 5715000"/>
              <a:gd name="connsiteY1" fmla="*/ 40103 h 577718"/>
              <a:gd name="connsiteX2" fmla="*/ 3000375 w 5715000"/>
              <a:gd name="connsiteY2" fmla="*/ 544928 h 577718"/>
              <a:gd name="connsiteX3" fmla="*/ 5715000 w 5715000"/>
              <a:gd name="connsiteY3" fmla="*/ 525878 h 577718"/>
            </a:gdLst>
            <a:ahLst/>
            <a:cxnLst>
              <a:cxn ang="0">
                <a:pos x="connsiteX0" y="connsiteY0"/>
              </a:cxn>
              <a:cxn ang="0">
                <a:pos x="connsiteX1" y="connsiteY1"/>
              </a:cxn>
              <a:cxn ang="0">
                <a:pos x="connsiteX2" y="connsiteY2"/>
              </a:cxn>
              <a:cxn ang="0">
                <a:pos x="connsiteX3" y="connsiteY3"/>
              </a:cxn>
            </a:cxnLst>
            <a:rect l="l" t="t" r="r" b="b"/>
            <a:pathLst>
              <a:path w="5715000" h="577718">
                <a:moveTo>
                  <a:pt x="0" y="68678"/>
                </a:moveTo>
                <a:cubicBezTo>
                  <a:pt x="1050131" y="14703"/>
                  <a:pt x="2100263" y="-39272"/>
                  <a:pt x="2600325" y="40103"/>
                </a:cubicBezTo>
                <a:cubicBezTo>
                  <a:pt x="3100387" y="119478"/>
                  <a:pt x="2481263" y="463966"/>
                  <a:pt x="3000375" y="544928"/>
                </a:cubicBezTo>
                <a:cubicBezTo>
                  <a:pt x="3519488" y="625891"/>
                  <a:pt x="5230813" y="532228"/>
                  <a:pt x="5715000" y="525878"/>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7" name="Picture 10" descr="Visual Studio Code - Download and install on Windows | Microsoft Store">
            <a:extLst>
              <a:ext uri="{FF2B5EF4-FFF2-40B4-BE49-F238E27FC236}">
                <a16:creationId xmlns:a16="http://schemas.microsoft.com/office/drawing/2014/main" id="{5A23D262-9A85-F455-50E8-13A5B54CF9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43324" y="4650449"/>
            <a:ext cx="1086398" cy="108639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2" descr="JavaFX - Wikipedia">
            <a:extLst>
              <a:ext uri="{FF2B5EF4-FFF2-40B4-BE49-F238E27FC236}">
                <a16:creationId xmlns:a16="http://schemas.microsoft.com/office/drawing/2014/main" id="{AA68161D-09DC-A644-68B3-D1CD1816270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7706" y="5627687"/>
            <a:ext cx="1657350" cy="69056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4" descr="DBeaver - Wikipedia, la enciclopedia libre">
            <a:extLst>
              <a:ext uri="{FF2B5EF4-FFF2-40B4-BE49-F238E27FC236}">
                <a16:creationId xmlns:a16="http://schemas.microsoft.com/office/drawing/2014/main" id="{534BF3F0-7347-9FDA-6549-D9C02773128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72872" y="4496166"/>
            <a:ext cx="1394964" cy="139496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descr="IntelliJ IDEA: Web Development Guide | Medium">
            <a:extLst>
              <a:ext uri="{FF2B5EF4-FFF2-40B4-BE49-F238E27FC236}">
                <a16:creationId xmlns:a16="http://schemas.microsoft.com/office/drawing/2014/main" id="{4BF6E90F-A29E-8FE8-50E9-23948F15565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1500" y="4072731"/>
            <a:ext cx="1554956" cy="15549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4936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FDDB5321-4BAF-724B-A784-9B345B0616D2}"/>
              </a:ext>
            </a:extLst>
          </p:cNvPr>
          <p:cNvSpPr txBox="1"/>
          <p:nvPr/>
        </p:nvSpPr>
        <p:spPr>
          <a:xfrm>
            <a:off x="400049" y="603588"/>
            <a:ext cx="6000751" cy="1384995"/>
          </a:xfrm>
          <a:prstGeom prst="rect">
            <a:avLst/>
          </a:prstGeom>
          <a:noFill/>
        </p:spPr>
        <p:txBody>
          <a:bodyPr wrap="square">
            <a:spAutoFit/>
          </a:bodyPr>
          <a:lstStyle/>
          <a:p>
            <a:r>
              <a:rPr lang="es-MX" sz="1200" b="1" dirty="0" err="1"/>
              <a:t>Frontend</a:t>
            </a:r>
            <a:r>
              <a:rPr lang="es-MX" sz="1200" b="1" dirty="0"/>
              <a:t> (</a:t>
            </a:r>
            <a:r>
              <a:rPr lang="es-MX" sz="1200" b="1" dirty="0" err="1"/>
              <a:t>JavaFX</a:t>
            </a:r>
            <a:r>
              <a:rPr lang="es-MX" sz="1200" b="1" dirty="0"/>
              <a:t>)</a:t>
            </a:r>
          </a:p>
          <a:p>
            <a:r>
              <a:rPr lang="es-MX" sz="1200" dirty="0"/>
              <a:t>Encargado de la interfaz gráfica del sistema, donde el usuario interactúa para registrar </a:t>
            </a:r>
            <a:r>
              <a:rPr lang="es-MX" sz="1100" dirty="0"/>
              <a:t>docentes</a:t>
            </a:r>
            <a:r>
              <a:rPr lang="es-MX" sz="1200" dirty="0"/>
              <a:t> y asistencia.</a:t>
            </a:r>
          </a:p>
          <a:p>
            <a:r>
              <a:rPr lang="es-MX" sz="1200" dirty="0"/>
              <a:t>Funciones principales:</a:t>
            </a:r>
          </a:p>
          <a:p>
            <a:pPr marL="285750" indent="-285750">
              <a:buFont typeface="Arial" panose="020B0604020202020204" pitchFamily="34" charset="0"/>
              <a:buChar char="•"/>
            </a:pPr>
            <a:r>
              <a:rPr lang="es-MX" sz="1200" dirty="0"/>
              <a:t>Captura de interacción del usuario </a:t>
            </a:r>
          </a:p>
          <a:p>
            <a:pPr marL="285750" indent="-285750">
              <a:buFont typeface="Arial" panose="020B0604020202020204" pitchFamily="34" charset="0"/>
              <a:buChar char="•"/>
            </a:pPr>
            <a:r>
              <a:rPr lang="es-MX" sz="1200" dirty="0"/>
              <a:t>Envío de datos al </a:t>
            </a:r>
            <a:r>
              <a:rPr lang="es-MX" sz="1200" dirty="0" err="1"/>
              <a:t>backend</a:t>
            </a:r>
            <a:r>
              <a:rPr lang="es-MX" sz="1200" dirty="0"/>
              <a:t> </a:t>
            </a:r>
          </a:p>
          <a:p>
            <a:pPr marL="285750" indent="-285750">
              <a:buFont typeface="Arial" panose="020B0604020202020204" pitchFamily="34" charset="0"/>
              <a:buChar char="•"/>
            </a:pPr>
            <a:r>
              <a:rPr lang="es-MX" sz="1200" dirty="0"/>
              <a:t>Visualización de resultados</a:t>
            </a:r>
          </a:p>
        </p:txBody>
      </p:sp>
      <p:pic>
        <p:nvPicPr>
          <p:cNvPr id="7" name="Imagen 6">
            <a:extLst>
              <a:ext uri="{FF2B5EF4-FFF2-40B4-BE49-F238E27FC236}">
                <a16:creationId xmlns:a16="http://schemas.microsoft.com/office/drawing/2014/main" id="{E026D9B4-E867-9CBD-5F88-F4700562A9A1}"/>
              </a:ext>
            </a:extLst>
          </p:cNvPr>
          <p:cNvPicPr>
            <a:picLocks noChangeAspect="1"/>
          </p:cNvPicPr>
          <p:nvPr/>
        </p:nvPicPr>
        <p:blipFill>
          <a:blip r:embed="rId3"/>
          <a:stretch>
            <a:fillRect/>
          </a:stretch>
        </p:blipFill>
        <p:spPr>
          <a:xfrm>
            <a:off x="623716" y="2058539"/>
            <a:ext cx="2267293" cy="1377464"/>
          </a:xfrm>
          <a:prstGeom prst="rect">
            <a:avLst/>
          </a:prstGeom>
        </p:spPr>
      </p:pic>
      <p:pic>
        <p:nvPicPr>
          <p:cNvPr id="9" name="Imagen 8">
            <a:extLst>
              <a:ext uri="{FF2B5EF4-FFF2-40B4-BE49-F238E27FC236}">
                <a16:creationId xmlns:a16="http://schemas.microsoft.com/office/drawing/2014/main" id="{F9E31569-770B-AF80-6EA0-D2A232B156C8}"/>
              </a:ext>
            </a:extLst>
          </p:cNvPr>
          <p:cNvPicPr>
            <a:picLocks noChangeAspect="1"/>
          </p:cNvPicPr>
          <p:nvPr/>
        </p:nvPicPr>
        <p:blipFill>
          <a:blip r:embed="rId4"/>
          <a:stretch>
            <a:fillRect/>
          </a:stretch>
        </p:blipFill>
        <p:spPr>
          <a:xfrm>
            <a:off x="3105151" y="1998931"/>
            <a:ext cx="1543050" cy="1496679"/>
          </a:xfrm>
          <a:prstGeom prst="rect">
            <a:avLst/>
          </a:prstGeom>
        </p:spPr>
      </p:pic>
      <p:pic>
        <p:nvPicPr>
          <p:cNvPr id="13" name="Imagen 12">
            <a:extLst>
              <a:ext uri="{FF2B5EF4-FFF2-40B4-BE49-F238E27FC236}">
                <a16:creationId xmlns:a16="http://schemas.microsoft.com/office/drawing/2014/main" id="{428C4B2E-EF8C-B3A5-E381-99EC146CE293}"/>
              </a:ext>
            </a:extLst>
          </p:cNvPr>
          <p:cNvPicPr>
            <a:picLocks noChangeAspect="1"/>
          </p:cNvPicPr>
          <p:nvPr/>
        </p:nvPicPr>
        <p:blipFill>
          <a:blip r:embed="rId5"/>
          <a:stretch>
            <a:fillRect/>
          </a:stretch>
        </p:blipFill>
        <p:spPr>
          <a:xfrm>
            <a:off x="6096000" y="1988583"/>
            <a:ext cx="5685838" cy="934560"/>
          </a:xfrm>
          <a:prstGeom prst="rect">
            <a:avLst/>
          </a:prstGeom>
        </p:spPr>
      </p:pic>
      <p:sp>
        <p:nvSpPr>
          <p:cNvPr id="15" name="CuadroTexto 14">
            <a:extLst>
              <a:ext uri="{FF2B5EF4-FFF2-40B4-BE49-F238E27FC236}">
                <a16:creationId xmlns:a16="http://schemas.microsoft.com/office/drawing/2014/main" id="{DFD475A1-9943-8A9A-E343-768CE8FBE5B3}"/>
              </a:ext>
            </a:extLst>
          </p:cNvPr>
          <p:cNvSpPr txBox="1"/>
          <p:nvPr/>
        </p:nvSpPr>
        <p:spPr>
          <a:xfrm>
            <a:off x="400049" y="3565566"/>
            <a:ext cx="6096000" cy="1384995"/>
          </a:xfrm>
          <a:prstGeom prst="rect">
            <a:avLst/>
          </a:prstGeom>
          <a:noFill/>
        </p:spPr>
        <p:txBody>
          <a:bodyPr wrap="square">
            <a:spAutoFit/>
          </a:bodyPr>
          <a:lstStyle/>
          <a:p>
            <a:r>
              <a:rPr lang="es-MX" sz="1200" b="1" dirty="0" err="1"/>
              <a:t>Backend</a:t>
            </a:r>
            <a:r>
              <a:rPr lang="es-MX" sz="1200" b="1" dirty="0"/>
              <a:t> (Spring </a:t>
            </a:r>
            <a:r>
              <a:rPr lang="es-MX" sz="1200" b="1" dirty="0" err="1"/>
              <a:t>Boot</a:t>
            </a:r>
            <a:r>
              <a:rPr lang="es-MX" sz="1200" b="1" dirty="0"/>
              <a:t>)</a:t>
            </a:r>
          </a:p>
          <a:p>
            <a:r>
              <a:rPr lang="es-MX" sz="1200" dirty="0"/>
              <a:t>Gestiona la lógica del sistema y procesa las solicitudes provenientes del </a:t>
            </a:r>
            <a:r>
              <a:rPr lang="es-MX" sz="1200" dirty="0" err="1"/>
              <a:t>frontend</a:t>
            </a:r>
            <a:r>
              <a:rPr lang="es-MX" sz="1200" dirty="0"/>
              <a:t>.</a:t>
            </a:r>
          </a:p>
          <a:p>
            <a:r>
              <a:rPr lang="es-MX" sz="1200" dirty="0"/>
              <a:t>Funciones principales:</a:t>
            </a:r>
          </a:p>
          <a:p>
            <a:pPr marL="171450" indent="-171450">
              <a:buFont typeface="Arial" panose="020B0604020202020204" pitchFamily="34" charset="0"/>
              <a:buChar char="•"/>
            </a:pPr>
            <a:r>
              <a:rPr lang="es-MX" sz="1200" dirty="0"/>
              <a:t>Recepción de peticiones HTTP </a:t>
            </a:r>
          </a:p>
          <a:p>
            <a:pPr marL="171450" indent="-171450">
              <a:buFont typeface="Arial" panose="020B0604020202020204" pitchFamily="34" charset="0"/>
              <a:buChar char="•"/>
            </a:pPr>
            <a:r>
              <a:rPr lang="es-MX" sz="1200" dirty="0"/>
              <a:t>Procesamiento de datos </a:t>
            </a:r>
          </a:p>
          <a:p>
            <a:pPr marL="171450" indent="-171450">
              <a:buFont typeface="Arial" panose="020B0604020202020204" pitchFamily="34" charset="0"/>
              <a:buChar char="•"/>
            </a:pPr>
            <a:r>
              <a:rPr lang="es-MX" sz="1200" dirty="0"/>
              <a:t>Validación de asistencia </a:t>
            </a:r>
          </a:p>
          <a:p>
            <a:pPr marL="171450" indent="-171450">
              <a:buFont typeface="Arial" panose="020B0604020202020204" pitchFamily="34" charset="0"/>
              <a:buChar char="•"/>
            </a:pPr>
            <a:r>
              <a:rPr lang="es-MX" sz="1200" dirty="0"/>
              <a:t>Conexión con la base de datos</a:t>
            </a:r>
          </a:p>
        </p:txBody>
      </p:sp>
      <p:pic>
        <p:nvPicPr>
          <p:cNvPr id="17" name="Imagen 16">
            <a:extLst>
              <a:ext uri="{FF2B5EF4-FFF2-40B4-BE49-F238E27FC236}">
                <a16:creationId xmlns:a16="http://schemas.microsoft.com/office/drawing/2014/main" id="{5485A995-0502-03B8-A15F-39857D188426}"/>
              </a:ext>
            </a:extLst>
          </p:cNvPr>
          <p:cNvPicPr>
            <a:picLocks noChangeAspect="1"/>
          </p:cNvPicPr>
          <p:nvPr/>
        </p:nvPicPr>
        <p:blipFill>
          <a:blip r:embed="rId6"/>
          <a:stretch>
            <a:fillRect/>
          </a:stretch>
        </p:blipFill>
        <p:spPr>
          <a:xfrm>
            <a:off x="400050" y="5076440"/>
            <a:ext cx="5419354" cy="324235"/>
          </a:xfrm>
          <a:prstGeom prst="rect">
            <a:avLst/>
          </a:prstGeom>
        </p:spPr>
      </p:pic>
      <p:sp>
        <p:nvSpPr>
          <p:cNvPr id="19" name="CuadroTexto 18">
            <a:extLst>
              <a:ext uri="{FF2B5EF4-FFF2-40B4-BE49-F238E27FC236}">
                <a16:creationId xmlns:a16="http://schemas.microsoft.com/office/drawing/2014/main" id="{A7022D44-7F1B-2B3D-61AB-3E45CF3DF348}"/>
              </a:ext>
            </a:extLst>
          </p:cNvPr>
          <p:cNvSpPr txBox="1"/>
          <p:nvPr/>
        </p:nvSpPr>
        <p:spPr>
          <a:xfrm>
            <a:off x="6096000" y="603588"/>
            <a:ext cx="6096000" cy="1015663"/>
          </a:xfrm>
          <a:prstGeom prst="rect">
            <a:avLst/>
          </a:prstGeom>
          <a:noFill/>
        </p:spPr>
        <p:txBody>
          <a:bodyPr wrap="square">
            <a:spAutoFit/>
          </a:bodyPr>
          <a:lstStyle/>
          <a:p>
            <a:r>
              <a:rPr lang="es-MX" sz="1200" b="1" dirty="0"/>
              <a:t>Base de datos (PostgreSQL)</a:t>
            </a:r>
          </a:p>
          <a:p>
            <a:r>
              <a:rPr lang="es-MX" sz="1200" dirty="0"/>
              <a:t>Almacena la información del sistema.</a:t>
            </a:r>
          </a:p>
          <a:p>
            <a:r>
              <a:rPr lang="es-MX" sz="1200" dirty="0"/>
              <a:t>Tablas principales:</a:t>
            </a:r>
          </a:p>
          <a:p>
            <a:pPr>
              <a:buFont typeface="Arial" panose="020B0604020202020204" pitchFamily="34" charset="0"/>
              <a:buChar char="•"/>
            </a:pPr>
            <a:r>
              <a:rPr lang="es-MX" sz="1200" b="1" dirty="0"/>
              <a:t>Docente:</a:t>
            </a:r>
            <a:r>
              <a:rPr lang="es-MX" sz="1200" dirty="0"/>
              <a:t> id, nombre, datos biométricos </a:t>
            </a:r>
          </a:p>
          <a:p>
            <a:pPr>
              <a:buFont typeface="Arial" panose="020B0604020202020204" pitchFamily="34" charset="0"/>
              <a:buChar char="•"/>
            </a:pPr>
            <a:r>
              <a:rPr lang="es-MX" sz="1200" b="1" dirty="0"/>
              <a:t>Asistencia:</a:t>
            </a:r>
            <a:r>
              <a:rPr lang="es-MX" sz="1200" dirty="0"/>
              <a:t> id, </a:t>
            </a:r>
            <a:r>
              <a:rPr lang="es-MX" sz="1200" dirty="0" err="1"/>
              <a:t>id_docente</a:t>
            </a:r>
            <a:r>
              <a:rPr lang="es-MX" sz="1200" dirty="0"/>
              <a:t>, fecha, hora, estado</a:t>
            </a:r>
          </a:p>
        </p:txBody>
      </p:sp>
      <p:pic>
        <p:nvPicPr>
          <p:cNvPr id="21" name="Imagen 20">
            <a:extLst>
              <a:ext uri="{FF2B5EF4-FFF2-40B4-BE49-F238E27FC236}">
                <a16:creationId xmlns:a16="http://schemas.microsoft.com/office/drawing/2014/main" id="{A808B04D-347C-30B9-61BA-5FB7954BEF48}"/>
              </a:ext>
            </a:extLst>
          </p:cNvPr>
          <p:cNvPicPr>
            <a:picLocks noChangeAspect="1"/>
          </p:cNvPicPr>
          <p:nvPr/>
        </p:nvPicPr>
        <p:blipFill>
          <a:blip r:embed="rId7"/>
          <a:stretch>
            <a:fillRect/>
          </a:stretch>
        </p:blipFill>
        <p:spPr>
          <a:xfrm>
            <a:off x="6019799" y="3033712"/>
            <a:ext cx="5909528" cy="814387"/>
          </a:xfrm>
          <a:prstGeom prst="rect">
            <a:avLst/>
          </a:prstGeom>
        </p:spPr>
      </p:pic>
      <p:pic>
        <p:nvPicPr>
          <p:cNvPr id="23" name="Imagen 22">
            <a:extLst>
              <a:ext uri="{FF2B5EF4-FFF2-40B4-BE49-F238E27FC236}">
                <a16:creationId xmlns:a16="http://schemas.microsoft.com/office/drawing/2014/main" id="{F5E1351E-3C6F-CE5A-56B1-845D3DB5E9C4}"/>
              </a:ext>
            </a:extLst>
          </p:cNvPr>
          <p:cNvPicPr>
            <a:picLocks noChangeAspect="1"/>
          </p:cNvPicPr>
          <p:nvPr/>
        </p:nvPicPr>
        <p:blipFill>
          <a:blip r:embed="rId8"/>
          <a:stretch>
            <a:fillRect/>
          </a:stretch>
        </p:blipFill>
        <p:spPr>
          <a:xfrm>
            <a:off x="5986052" y="4162425"/>
            <a:ext cx="5895530" cy="1209812"/>
          </a:xfrm>
          <a:prstGeom prst="rect">
            <a:avLst/>
          </a:prstGeom>
        </p:spPr>
      </p:pic>
      <p:sp>
        <p:nvSpPr>
          <p:cNvPr id="24" name="CuadroTexto 23">
            <a:extLst>
              <a:ext uri="{FF2B5EF4-FFF2-40B4-BE49-F238E27FC236}">
                <a16:creationId xmlns:a16="http://schemas.microsoft.com/office/drawing/2014/main" id="{59793447-3BB9-BEB5-E0F1-B924E06AB674}"/>
              </a:ext>
            </a:extLst>
          </p:cNvPr>
          <p:cNvSpPr txBox="1"/>
          <p:nvPr/>
        </p:nvSpPr>
        <p:spPr>
          <a:xfrm>
            <a:off x="495300" y="114300"/>
            <a:ext cx="4800600" cy="369332"/>
          </a:xfrm>
          <a:prstGeom prst="rect">
            <a:avLst/>
          </a:prstGeom>
          <a:noFill/>
        </p:spPr>
        <p:txBody>
          <a:bodyPr wrap="square" rtlCol="0">
            <a:spAutoFit/>
          </a:bodyPr>
          <a:lstStyle/>
          <a:p>
            <a:r>
              <a:rPr lang="es-MX" b="1" dirty="0"/>
              <a:t>Componentes utilizados</a:t>
            </a:r>
          </a:p>
        </p:txBody>
      </p:sp>
    </p:spTree>
    <p:extLst>
      <p:ext uri="{BB962C8B-B14F-4D97-AF65-F5344CB8AC3E}">
        <p14:creationId xmlns:p14="http://schemas.microsoft.com/office/powerpoint/2010/main" val="10465050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A9965ACE-EAF6-14BA-DBBA-AB334382A6E3}"/>
              </a:ext>
            </a:extLst>
          </p:cNvPr>
          <p:cNvSpPr txBox="1"/>
          <p:nvPr/>
        </p:nvSpPr>
        <p:spPr>
          <a:xfrm>
            <a:off x="561975" y="535365"/>
            <a:ext cx="6096000" cy="4247317"/>
          </a:xfrm>
          <a:prstGeom prst="rect">
            <a:avLst/>
          </a:prstGeom>
          <a:noFill/>
        </p:spPr>
        <p:txBody>
          <a:bodyPr wrap="square">
            <a:spAutoFit/>
          </a:bodyPr>
          <a:lstStyle/>
          <a:p>
            <a:r>
              <a:rPr lang="es-MX" sz="2000" b="1" dirty="0"/>
              <a:t>Funcionalidad del sistema</a:t>
            </a:r>
          </a:p>
          <a:p>
            <a:r>
              <a:rPr lang="es-MX" dirty="0"/>
              <a:t>El sistema permite registrar la asistencia de docentes mediante reconocimiento facial.</a:t>
            </a:r>
          </a:p>
          <a:p>
            <a:endParaRPr lang="es-MX" dirty="0"/>
          </a:p>
          <a:p>
            <a:endParaRPr lang="es-MX" dirty="0"/>
          </a:p>
          <a:p>
            <a:endParaRPr lang="es-MX" dirty="0"/>
          </a:p>
          <a:p>
            <a:endParaRPr lang="es-MX" dirty="0"/>
          </a:p>
          <a:p>
            <a:r>
              <a:rPr lang="es-MX" b="1" dirty="0"/>
              <a:t>Flujo del sistema:</a:t>
            </a:r>
          </a:p>
          <a:p>
            <a:pPr marL="342900" indent="-342900">
              <a:buFont typeface="+mj-lt"/>
              <a:buAutoNum type="arabicPeriod"/>
            </a:pPr>
            <a:r>
              <a:rPr lang="es-MX" dirty="0"/>
              <a:t>El usuario inicia el sistema en </a:t>
            </a:r>
            <a:r>
              <a:rPr lang="es-MX" dirty="0" err="1"/>
              <a:t>JavaFX</a:t>
            </a:r>
            <a:r>
              <a:rPr lang="es-MX" dirty="0"/>
              <a:t> </a:t>
            </a:r>
          </a:p>
          <a:p>
            <a:pPr marL="342900" indent="-342900">
              <a:buFont typeface="+mj-lt"/>
              <a:buAutoNum type="arabicPeriod"/>
            </a:pPr>
            <a:r>
              <a:rPr lang="es-MX" dirty="0"/>
              <a:t>Se activa la cámara </a:t>
            </a:r>
          </a:p>
          <a:p>
            <a:pPr marL="342900" indent="-342900">
              <a:buFont typeface="+mj-lt"/>
              <a:buAutoNum type="arabicPeriod"/>
            </a:pPr>
            <a:r>
              <a:rPr lang="es-MX" dirty="0"/>
              <a:t>Se detecta el rostro del docente </a:t>
            </a:r>
          </a:p>
          <a:p>
            <a:pPr marL="342900" indent="-342900">
              <a:buFont typeface="+mj-lt"/>
              <a:buAutoNum type="arabicPeriod"/>
            </a:pPr>
            <a:r>
              <a:rPr lang="es-MX" dirty="0"/>
              <a:t>Se identifica al docente </a:t>
            </a:r>
          </a:p>
          <a:p>
            <a:pPr marL="342900" indent="-342900">
              <a:buFont typeface="+mj-lt"/>
              <a:buAutoNum type="arabicPeriod"/>
            </a:pPr>
            <a:r>
              <a:rPr lang="es-MX" dirty="0"/>
              <a:t>Se envía el ID al </a:t>
            </a:r>
            <a:r>
              <a:rPr lang="es-MX" dirty="0" err="1"/>
              <a:t>backend</a:t>
            </a:r>
            <a:r>
              <a:rPr lang="es-MX" dirty="0"/>
              <a:t> </a:t>
            </a:r>
          </a:p>
          <a:p>
            <a:pPr marL="342900" indent="-342900">
              <a:buFont typeface="+mj-lt"/>
              <a:buAutoNum type="arabicPeriod"/>
            </a:pPr>
            <a:r>
              <a:rPr lang="es-MX" dirty="0"/>
              <a:t>El </a:t>
            </a:r>
            <a:r>
              <a:rPr lang="es-MX" dirty="0" err="1"/>
              <a:t>backend</a:t>
            </a:r>
            <a:r>
              <a:rPr lang="es-MX" dirty="0"/>
              <a:t> procesa la información </a:t>
            </a:r>
          </a:p>
          <a:p>
            <a:pPr marL="342900" indent="-342900">
              <a:buFont typeface="+mj-lt"/>
              <a:buAutoNum type="arabicPeriod"/>
            </a:pPr>
            <a:r>
              <a:rPr lang="es-MX" dirty="0"/>
              <a:t>Se guarda en la base de datos</a:t>
            </a:r>
          </a:p>
        </p:txBody>
      </p:sp>
      <p:pic>
        <p:nvPicPr>
          <p:cNvPr id="6" name="Imagen 5">
            <a:extLst>
              <a:ext uri="{FF2B5EF4-FFF2-40B4-BE49-F238E27FC236}">
                <a16:creationId xmlns:a16="http://schemas.microsoft.com/office/drawing/2014/main" id="{353E1CB8-1DCC-CAC2-4220-4AA82DDA1D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22759" y="1339167"/>
            <a:ext cx="5564341" cy="5140968"/>
          </a:xfrm>
          <a:prstGeom prst="rect">
            <a:avLst/>
          </a:prstGeom>
        </p:spPr>
      </p:pic>
      <p:sp>
        <p:nvSpPr>
          <p:cNvPr id="9" name="Rectángulo 8">
            <a:extLst>
              <a:ext uri="{FF2B5EF4-FFF2-40B4-BE49-F238E27FC236}">
                <a16:creationId xmlns:a16="http://schemas.microsoft.com/office/drawing/2014/main" id="{A6A77939-AFEB-3544-E118-7BB00DAA1F04}"/>
              </a:ext>
            </a:extLst>
          </p:cNvPr>
          <p:cNvSpPr/>
          <p:nvPr/>
        </p:nvSpPr>
        <p:spPr>
          <a:xfrm>
            <a:off x="5734050" y="5715000"/>
            <a:ext cx="1181100" cy="333375"/>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Rectángulo 9">
            <a:extLst>
              <a:ext uri="{FF2B5EF4-FFF2-40B4-BE49-F238E27FC236}">
                <a16:creationId xmlns:a16="http://schemas.microsoft.com/office/drawing/2014/main" id="{339BB3B2-E9EA-EEA8-F67A-AD9E7CD41E03}"/>
              </a:ext>
            </a:extLst>
          </p:cNvPr>
          <p:cNvSpPr/>
          <p:nvPr/>
        </p:nvSpPr>
        <p:spPr>
          <a:xfrm>
            <a:off x="561975" y="3095625"/>
            <a:ext cx="2419350" cy="219075"/>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2" name="Rectángulo 11">
            <a:extLst>
              <a:ext uri="{FF2B5EF4-FFF2-40B4-BE49-F238E27FC236}">
                <a16:creationId xmlns:a16="http://schemas.microsoft.com/office/drawing/2014/main" id="{51DDE053-2643-FF7F-5278-EE56D74607E5}"/>
              </a:ext>
            </a:extLst>
          </p:cNvPr>
          <p:cNvSpPr/>
          <p:nvPr/>
        </p:nvSpPr>
        <p:spPr>
          <a:xfrm>
            <a:off x="561975" y="3314700"/>
            <a:ext cx="3476625" cy="304800"/>
          </a:xfrm>
          <a:prstGeom prst="rect">
            <a:avLst/>
          </a:prstGeom>
          <a:noFill/>
          <a:ln>
            <a:solidFill>
              <a:srgbClr val="EE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3" name="Rectángulo 12">
            <a:extLst>
              <a:ext uri="{FF2B5EF4-FFF2-40B4-BE49-F238E27FC236}">
                <a16:creationId xmlns:a16="http://schemas.microsoft.com/office/drawing/2014/main" id="{47078539-9001-3EF6-AB18-D5EE28AAFB60}"/>
              </a:ext>
            </a:extLst>
          </p:cNvPr>
          <p:cNvSpPr/>
          <p:nvPr/>
        </p:nvSpPr>
        <p:spPr>
          <a:xfrm>
            <a:off x="7261071" y="3205162"/>
            <a:ext cx="1738313" cy="1577520"/>
          </a:xfrm>
          <a:prstGeom prst="rect">
            <a:avLst/>
          </a:prstGeom>
          <a:noFill/>
          <a:ln>
            <a:solidFill>
              <a:srgbClr val="EE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4" name="Imagen 13">
            <a:extLst>
              <a:ext uri="{FF2B5EF4-FFF2-40B4-BE49-F238E27FC236}">
                <a16:creationId xmlns:a16="http://schemas.microsoft.com/office/drawing/2014/main" id="{649333EA-5040-A39D-5C08-AC73C226BAFB}"/>
              </a:ext>
            </a:extLst>
          </p:cNvPr>
          <p:cNvPicPr>
            <a:picLocks noChangeAspect="1"/>
          </p:cNvPicPr>
          <p:nvPr/>
        </p:nvPicPr>
        <p:blipFill>
          <a:blip r:embed="rId3"/>
          <a:stretch>
            <a:fillRect/>
          </a:stretch>
        </p:blipFill>
        <p:spPr>
          <a:xfrm>
            <a:off x="434122" y="5210175"/>
            <a:ext cx="4823954" cy="664785"/>
          </a:xfrm>
          <a:prstGeom prst="rect">
            <a:avLst/>
          </a:prstGeom>
        </p:spPr>
      </p:pic>
    </p:spTree>
    <p:extLst>
      <p:ext uri="{BB962C8B-B14F-4D97-AF65-F5344CB8AC3E}">
        <p14:creationId xmlns:p14="http://schemas.microsoft.com/office/powerpoint/2010/main" val="3564093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083938-04BC-7BAC-04F1-8E8F6AC34E2B}"/>
              </a:ext>
            </a:extLst>
          </p:cNvPr>
          <p:cNvSpPr>
            <a:spLocks noGrp="1"/>
          </p:cNvSpPr>
          <p:nvPr>
            <p:ph type="title"/>
          </p:nvPr>
        </p:nvSpPr>
        <p:spPr>
          <a:xfrm>
            <a:off x="838200" y="365125"/>
            <a:ext cx="4610100" cy="454025"/>
          </a:xfrm>
        </p:spPr>
        <p:txBody>
          <a:bodyPr>
            <a:normAutofit fontScale="90000"/>
          </a:bodyPr>
          <a:lstStyle/>
          <a:p>
            <a:r>
              <a:rPr lang="es-MX" sz="2800" b="1" dirty="0"/>
              <a:t>Implementación del </a:t>
            </a:r>
            <a:r>
              <a:rPr lang="es-MX" sz="2800" b="1" dirty="0" err="1"/>
              <a:t>backend</a:t>
            </a:r>
            <a:endParaRPr lang="es-MX" sz="2800" b="1" dirty="0"/>
          </a:p>
        </p:txBody>
      </p:sp>
      <p:sp>
        <p:nvSpPr>
          <p:cNvPr id="4" name="Rectangle 1">
            <a:extLst>
              <a:ext uri="{FF2B5EF4-FFF2-40B4-BE49-F238E27FC236}">
                <a16:creationId xmlns:a16="http://schemas.microsoft.com/office/drawing/2014/main" id="{849F3D1A-46F1-458B-C148-0626341AED98}"/>
              </a:ext>
            </a:extLst>
          </p:cNvPr>
          <p:cNvSpPr>
            <a:spLocks noGrp="1" noChangeArrowheads="1"/>
          </p:cNvSpPr>
          <p:nvPr>
            <p:ph idx="1"/>
          </p:nvPr>
        </p:nvSpPr>
        <p:spPr bwMode="auto">
          <a:xfrm>
            <a:off x="838200" y="1032379"/>
            <a:ext cx="56452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1600"/>
              <a:t>Se implementó un controlador REST para el registro de asistencia:</a:t>
            </a: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1600"/>
          </a:p>
        </p:txBody>
      </p:sp>
      <p:pic>
        <p:nvPicPr>
          <p:cNvPr id="6" name="Imagen 5">
            <a:extLst>
              <a:ext uri="{FF2B5EF4-FFF2-40B4-BE49-F238E27FC236}">
                <a16:creationId xmlns:a16="http://schemas.microsoft.com/office/drawing/2014/main" id="{74C6D151-67F0-F66E-9510-F67CE887C4C6}"/>
              </a:ext>
            </a:extLst>
          </p:cNvPr>
          <p:cNvPicPr>
            <a:picLocks noChangeAspect="1"/>
          </p:cNvPicPr>
          <p:nvPr/>
        </p:nvPicPr>
        <p:blipFill>
          <a:blip r:embed="rId2"/>
          <a:stretch>
            <a:fillRect/>
          </a:stretch>
        </p:blipFill>
        <p:spPr>
          <a:xfrm>
            <a:off x="838200" y="1481105"/>
            <a:ext cx="8649907" cy="466790"/>
          </a:xfrm>
          <a:prstGeom prst="rect">
            <a:avLst/>
          </a:prstGeom>
        </p:spPr>
      </p:pic>
      <p:sp>
        <p:nvSpPr>
          <p:cNvPr id="8" name="CuadroTexto 7">
            <a:extLst>
              <a:ext uri="{FF2B5EF4-FFF2-40B4-BE49-F238E27FC236}">
                <a16:creationId xmlns:a16="http://schemas.microsoft.com/office/drawing/2014/main" id="{BF89EB9F-60A5-93DA-CD89-18B3285D3113}"/>
              </a:ext>
            </a:extLst>
          </p:cNvPr>
          <p:cNvSpPr txBox="1"/>
          <p:nvPr/>
        </p:nvSpPr>
        <p:spPr>
          <a:xfrm>
            <a:off x="838200" y="2027289"/>
            <a:ext cx="7839075" cy="338554"/>
          </a:xfrm>
          <a:prstGeom prst="rect">
            <a:avLst/>
          </a:prstGeom>
          <a:noFill/>
        </p:spPr>
        <p:txBody>
          <a:bodyPr wrap="square">
            <a:spAutoFit/>
          </a:bodyPr>
          <a:lstStyle/>
          <a:p>
            <a:r>
              <a:rPr lang="es-MX" sz="1600" dirty="0"/>
              <a:t>Este </a:t>
            </a:r>
            <a:r>
              <a:rPr lang="es-MX" sz="1600" dirty="0" err="1"/>
              <a:t>endpoint</a:t>
            </a:r>
            <a:r>
              <a:rPr lang="es-MX" sz="1600" dirty="0"/>
              <a:t> recibe los datos del docente y procesa su asistencia.</a:t>
            </a:r>
          </a:p>
        </p:txBody>
      </p:sp>
      <p:sp>
        <p:nvSpPr>
          <p:cNvPr id="10" name="CuadroTexto 9">
            <a:extLst>
              <a:ext uri="{FF2B5EF4-FFF2-40B4-BE49-F238E27FC236}">
                <a16:creationId xmlns:a16="http://schemas.microsoft.com/office/drawing/2014/main" id="{112AFF21-AFAA-59D0-2232-4F3BE320A03C}"/>
              </a:ext>
            </a:extLst>
          </p:cNvPr>
          <p:cNvSpPr txBox="1"/>
          <p:nvPr/>
        </p:nvSpPr>
        <p:spPr>
          <a:xfrm>
            <a:off x="838200" y="2445237"/>
            <a:ext cx="6096000" cy="338554"/>
          </a:xfrm>
          <a:prstGeom prst="rect">
            <a:avLst/>
          </a:prstGeom>
          <a:noFill/>
        </p:spPr>
        <p:txBody>
          <a:bodyPr wrap="square">
            <a:spAutoFit/>
          </a:bodyPr>
          <a:lstStyle/>
          <a:p>
            <a:r>
              <a:rPr lang="es-MX" sz="1600" dirty="0"/>
              <a:t>El sistema obtiene la fecha y hora automáticamente:</a:t>
            </a:r>
          </a:p>
        </p:txBody>
      </p:sp>
      <p:pic>
        <p:nvPicPr>
          <p:cNvPr id="12" name="Imagen 11">
            <a:extLst>
              <a:ext uri="{FF2B5EF4-FFF2-40B4-BE49-F238E27FC236}">
                <a16:creationId xmlns:a16="http://schemas.microsoft.com/office/drawing/2014/main" id="{F4D7ACDA-24E6-7384-1604-0FB601E945B6}"/>
              </a:ext>
            </a:extLst>
          </p:cNvPr>
          <p:cNvPicPr>
            <a:picLocks noChangeAspect="1"/>
          </p:cNvPicPr>
          <p:nvPr/>
        </p:nvPicPr>
        <p:blipFill>
          <a:blip r:embed="rId3"/>
          <a:stretch>
            <a:fillRect/>
          </a:stretch>
        </p:blipFill>
        <p:spPr>
          <a:xfrm>
            <a:off x="838200" y="2863186"/>
            <a:ext cx="3495675" cy="469806"/>
          </a:xfrm>
          <a:prstGeom prst="rect">
            <a:avLst/>
          </a:prstGeom>
        </p:spPr>
      </p:pic>
      <p:sp>
        <p:nvSpPr>
          <p:cNvPr id="14" name="CuadroTexto 13">
            <a:extLst>
              <a:ext uri="{FF2B5EF4-FFF2-40B4-BE49-F238E27FC236}">
                <a16:creationId xmlns:a16="http://schemas.microsoft.com/office/drawing/2014/main" id="{E199DE50-11F3-0F33-280E-D35049D5864C}"/>
              </a:ext>
            </a:extLst>
          </p:cNvPr>
          <p:cNvSpPr txBox="1"/>
          <p:nvPr/>
        </p:nvSpPr>
        <p:spPr>
          <a:xfrm>
            <a:off x="752475" y="3355732"/>
            <a:ext cx="6096000" cy="338554"/>
          </a:xfrm>
          <a:prstGeom prst="rect">
            <a:avLst/>
          </a:prstGeom>
          <a:noFill/>
        </p:spPr>
        <p:txBody>
          <a:bodyPr wrap="square">
            <a:spAutoFit/>
          </a:bodyPr>
          <a:lstStyle/>
          <a:p>
            <a:r>
              <a:rPr lang="es-MX" sz="1600" dirty="0"/>
              <a:t>Se valida si el docente llegó a tiempo o con retraso:</a:t>
            </a:r>
          </a:p>
        </p:txBody>
      </p:sp>
      <p:pic>
        <p:nvPicPr>
          <p:cNvPr id="16" name="Imagen 15">
            <a:extLst>
              <a:ext uri="{FF2B5EF4-FFF2-40B4-BE49-F238E27FC236}">
                <a16:creationId xmlns:a16="http://schemas.microsoft.com/office/drawing/2014/main" id="{91574666-5ED9-EFD2-48A9-785B19C9DA3A}"/>
              </a:ext>
            </a:extLst>
          </p:cNvPr>
          <p:cNvPicPr>
            <a:picLocks noChangeAspect="1"/>
          </p:cNvPicPr>
          <p:nvPr/>
        </p:nvPicPr>
        <p:blipFill>
          <a:blip r:embed="rId4"/>
          <a:stretch>
            <a:fillRect/>
          </a:stretch>
        </p:blipFill>
        <p:spPr>
          <a:xfrm>
            <a:off x="838200" y="3717026"/>
            <a:ext cx="4705350" cy="745895"/>
          </a:xfrm>
          <a:prstGeom prst="rect">
            <a:avLst/>
          </a:prstGeom>
        </p:spPr>
      </p:pic>
      <p:sp>
        <p:nvSpPr>
          <p:cNvPr id="18" name="CuadroTexto 17">
            <a:extLst>
              <a:ext uri="{FF2B5EF4-FFF2-40B4-BE49-F238E27FC236}">
                <a16:creationId xmlns:a16="http://schemas.microsoft.com/office/drawing/2014/main" id="{3D1C559B-91D0-645E-3907-B84FB0E1BE32}"/>
              </a:ext>
            </a:extLst>
          </p:cNvPr>
          <p:cNvSpPr txBox="1"/>
          <p:nvPr/>
        </p:nvSpPr>
        <p:spPr>
          <a:xfrm>
            <a:off x="838200" y="4462921"/>
            <a:ext cx="6096000" cy="338554"/>
          </a:xfrm>
          <a:prstGeom prst="rect">
            <a:avLst/>
          </a:prstGeom>
          <a:noFill/>
        </p:spPr>
        <p:txBody>
          <a:bodyPr wrap="square">
            <a:spAutoFit/>
          </a:bodyPr>
          <a:lstStyle/>
          <a:p>
            <a:r>
              <a:rPr lang="es-MX" sz="1600" dirty="0"/>
              <a:t>Finalmente, se almacena en la base de datos:</a:t>
            </a:r>
          </a:p>
        </p:txBody>
      </p:sp>
      <p:pic>
        <p:nvPicPr>
          <p:cNvPr id="20" name="Imagen 19">
            <a:extLst>
              <a:ext uri="{FF2B5EF4-FFF2-40B4-BE49-F238E27FC236}">
                <a16:creationId xmlns:a16="http://schemas.microsoft.com/office/drawing/2014/main" id="{ABBB9FC9-AB9D-72E5-3805-087AA50DFF23}"/>
              </a:ext>
            </a:extLst>
          </p:cNvPr>
          <p:cNvPicPr>
            <a:picLocks noChangeAspect="1"/>
          </p:cNvPicPr>
          <p:nvPr/>
        </p:nvPicPr>
        <p:blipFill>
          <a:blip r:embed="rId5"/>
          <a:stretch>
            <a:fillRect/>
          </a:stretch>
        </p:blipFill>
        <p:spPr>
          <a:xfrm>
            <a:off x="838200" y="4923912"/>
            <a:ext cx="5811061" cy="295316"/>
          </a:xfrm>
          <a:prstGeom prst="rect">
            <a:avLst/>
          </a:prstGeom>
        </p:spPr>
      </p:pic>
    </p:spTree>
    <p:extLst>
      <p:ext uri="{BB962C8B-B14F-4D97-AF65-F5344CB8AC3E}">
        <p14:creationId xmlns:p14="http://schemas.microsoft.com/office/powerpoint/2010/main" val="5497827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49A80B-4511-223A-5BE7-EA597B201E1B}"/>
              </a:ext>
            </a:extLst>
          </p:cNvPr>
          <p:cNvSpPr>
            <a:spLocks noGrp="1"/>
          </p:cNvSpPr>
          <p:nvPr>
            <p:ph type="title"/>
          </p:nvPr>
        </p:nvSpPr>
        <p:spPr>
          <a:xfrm>
            <a:off x="838200" y="365125"/>
            <a:ext cx="4552950" cy="745299"/>
          </a:xfrm>
        </p:spPr>
        <p:txBody>
          <a:bodyPr>
            <a:normAutofit/>
          </a:bodyPr>
          <a:lstStyle/>
          <a:p>
            <a:r>
              <a:rPr lang="es-MX" sz="2400" b="1" dirty="0"/>
              <a:t>Configuración de la base de datos</a:t>
            </a:r>
          </a:p>
        </p:txBody>
      </p:sp>
      <p:sp>
        <p:nvSpPr>
          <p:cNvPr id="4" name="Rectangle 1">
            <a:extLst>
              <a:ext uri="{FF2B5EF4-FFF2-40B4-BE49-F238E27FC236}">
                <a16:creationId xmlns:a16="http://schemas.microsoft.com/office/drawing/2014/main" id="{B3CC11DC-D078-D240-5794-E5B91A03EE6B}"/>
              </a:ext>
            </a:extLst>
          </p:cNvPr>
          <p:cNvSpPr>
            <a:spLocks noGrp="1" noChangeArrowheads="1"/>
          </p:cNvSpPr>
          <p:nvPr>
            <p:ph idx="1"/>
          </p:nvPr>
        </p:nvSpPr>
        <p:spPr bwMode="auto">
          <a:xfrm>
            <a:off x="762000" y="1055471"/>
            <a:ext cx="8093241"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sz="2000" dirty="0"/>
              <a:t>La conexión con PostgreSQL se realizó mediante el archivo de configuración:</a:t>
            </a: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2000" dirty="0"/>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sz="2000" dirty="0"/>
          </a:p>
          <a:p>
            <a:pPr marL="0" marR="0" lvl="0" indent="0" algn="l" defTabSz="914400" rtl="0" eaLnBrk="0" fontAlgn="base" latinLnBrk="0" hangingPunct="0">
              <a:lnSpc>
                <a:spcPct val="100000"/>
              </a:lnSpc>
              <a:spcBef>
                <a:spcPct val="0"/>
              </a:spcBef>
              <a:spcAft>
                <a:spcPct val="0"/>
              </a:spcAft>
              <a:buClrTx/>
              <a:buSzTx/>
              <a:buFontTx/>
              <a:buNone/>
              <a:tabLst/>
            </a:pPr>
            <a:r>
              <a:rPr lang="es-MX" altLang="es-MX" sz="2000" dirty="0"/>
              <a:t>dentro del sistema.</a:t>
            </a:r>
          </a:p>
        </p:txBody>
      </p:sp>
      <p:pic>
        <p:nvPicPr>
          <p:cNvPr id="6" name="Imagen 5">
            <a:extLst>
              <a:ext uri="{FF2B5EF4-FFF2-40B4-BE49-F238E27FC236}">
                <a16:creationId xmlns:a16="http://schemas.microsoft.com/office/drawing/2014/main" id="{5F76C6B3-186C-C4AE-E5D1-A79A1BBCD3A7}"/>
              </a:ext>
            </a:extLst>
          </p:cNvPr>
          <p:cNvPicPr>
            <a:picLocks noChangeAspect="1"/>
          </p:cNvPicPr>
          <p:nvPr/>
        </p:nvPicPr>
        <p:blipFill>
          <a:blip r:embed="rId2"/>
          <a:stretch>
            <a:fillRect/>
          </a:stretch>
        </p:blipFill>
        <p:spPr>
          <a:xfrm>
            <a:off x="838200" y="1422822"/>
            <a:ext cx="7335274" cy="628738"/>
          </a:xfrm>
          <a:prstGeom prst="rect">
            <a:avLst/>
          </a:prstGeom>
        </p:spPr>
      </p:pic>
      <p:sp>
        <p:nvSpPr>
          <p:cNvPr id="8" name="CuadroTexto 7">
            <a:extLst>
              <a:ext uri="{FF2B5EF4-FFF2-40B4-BE49-F238E27FC236}">
                <a16:creationId xmlns:a16="http://schemas.microsoft.com/office/drawing/2014/main" id="{1CBEA6F3-C611-B6A7-6D93-91F39AB20FBE}"/>
              </a:ext>
            </a:extLst>
          </p:cNvPr>
          <p:cNvSpPr txBox="1"/>
          <p:nvPr/>
        </p:nvSpPr>
        <p:spPr>
          <a:xfrm>
            <a:off x="762000" y="2363958"/>
            <a:ext cx="6096000" cy="461665"/>
          </a:xfrm>
          <a:prstGeom prst="rect">
            <a:avLst/>
          </a:prstGeom>
          <a:noFill/>
        </p:spPr>
        <p:txBody>
          <a:bodyPr wrap="square">
            <a:spAutoFit/>
          </a:bodyPr>
          <a:lstStyle/>
          <a:p>
            <a:r>
              <a:rPr lang="es-MX" sz="2400" b="1" dirty="0">
                <a:latin typeface="+mj-lt"/>
              </a:rPr>
              <a:t>Comunicación entre componentes</a:t>
            </a:r>
          </a:p>
        </p:txBody>
      </p:sp>
      <p:sp>
        <p:nvSpPr>
          <p:cNvPr id="9" name="Rectangle 2">
            <a:extLst>
              <a:ext uri="{FF2B5EF4-FFF2-40B4-BE49-F238E27FC236}">
                <a16:creationId xmlns:a16="http://schemas.microsoft.com/office/drawing/2014/main" id="{7F28FDE6-6F44-E0F5-963A-0E996AAD8AD9}"/>
              </a:ext>
            </a:extLst>
          </p:cNvPr>
          <p:cNvSpPr>
            <a:spLocks noChangeArrowheads="1"/>
          </p:cNvSpPr>
          <p:nvPr/>
        </p:nvSpPr>
        <p:spPr bwMode="auto">
          <a:xfrm>
            <a:off x="762000" y="2747223"/>
            <a:ext cx="694087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a:t>La comunicación entre </a:t>
            </a:r>
            <a:r>
              <a:rPr lang="es-MX" altLang="es-MX" dirty="0" err="1"/>
              <a:t>frontend</a:t>
            </a:r>
            <a:r>
              <a:rPr lang="es-MX" altLang="es-MX" dirty="0"/>
              <a:t> y </a:t>
            </a:r>
            <a:r>
              <a:rPr lang="es-MX" altLang="es-MX" dirty="0" err="1"/>
              <a:t>backend</a:t>
            </a:r>
            <a:r>
              <a:rPr lang="es-MX" altLang="es-MX" dirty="0"/>
              <a:t> se realiza mediante API REST.</a:t>
            </a: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dirty="0"/>
          </a:p>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a:t>El </a:t>
            </a:r>
            <a:r>
              <a:rPr lang="es-MX" altLang="es-MX" dirty="0" err="1"/>
              <a:t>backend</a:t>
            </a:r>
            <a:r>
              <a:rPr lang="es-MX" altLang="es-MX" dirty="0"/>
              <a:t> recibe la solicitud, la procesa y devuelve una respuesta.</a:t>
            </a:r>
          </a:p>
        </p:txBody>
      </p:sp>
      <p:pic>
        <p:nvPicPr>
          <p:cNvPr id="13" name="Imagen 12">
            <a:extLst>
              <a:ext uri="{FF2B5EF4-FFF2-40B4-BE49-F238E27FC236}">
                <a16:creationId xmlns:a16="http://schemas.microsoft.com/office/drawing/2014/main" id="{D71AA765-61B0-1578-E988-A17242124BE8}"/>
              </a:ext>
            </a:extLst>
          </p:cNvPr>
          <p:cNvPicPr>
            <a:picLocks noChangeAspect="1"/>
          </p:cNvPicPr>
          <p:nvPr/>
        </p:nvPicPr>
        <p:blipFill>
          <a:blip r:embed="rId3"/>
          <a:stretch>
            <a:fillRect/>
          </a:stretch>
        </p:blipFill>
        <p:spPr>
          <a:xfrm>
            <a:off x="838200" y="3109956"/>
            <a:ext cx="3791479" cy="276264"/>
          </a:xfrm>
          <a:prstGeom prst="rect">
            <a:avLst/>
          </a:prstGeom>
        </p:spPr>
      </p:pic>
      <p:sp>
        <p:nvSpPr>
          <p:cNvPr id="15" name="CuadroTexto 14">
            <a:extLst>
              <a:ext uri="{FF2B5EF4-FFF2-40B4-BE49-F238E27FC236}">
                <a16:creationId xmlns:a16="http://schemas.microsoft.com/office/drawing/2014/main" id="{8B623E05-80D3-E62D-5A5F-648A33476230}"/>
              </a:ext>
            </a:extLst>
          </p:cNvPr>
          <p:cNvSpPr txBox="1"/>
          <p:nvPr/>
        </p:nvSpPr>
        <p:spPr>
          <a:xfrm>
            <a:off x="762000" y="3687397"/>
            <a:ext cx="6096000" cy="461665"/>
          </a:xfrm>
          <a:prstGeom prst="rect">
            <a:avLst/>
          </a:prstGeom>
          <a:noFill/>
        </p:spPr>
        <p:txBody>
          <a:bodyPr wrap="square">
            <a:spAutoFit/>
          </a:bodyPr>
          <a:lstStyle/>
          <a:p>
            <a:r>
              <a:rPr lang="es-MX" sz="2400" b="1" dirty="0">
                <a:latin typeface="+mj-lt"/>
              </a:rPr>
              <a:t>Servicio de asistencia</a:t>
            </a:r>
          </a:p>
        </p:txBody>
      </p:sp>
      <p:sp>
        <p:nvSpPr>
          <p:cNvPr id="16" name="Rectangle 3">
            <a:extLst>
              <a:ext uri="{FF2B5EF4-FFF2-40B4-BE49-F238E27FC236}">
                <a16:creationId xmlns:a16="http://schemas.microsoft.com/office/drawing/2014/main" id="{9B6F5A40-82B6-A933-074D-6A2C9BBF4901}"/>
              </a:ext>
            </a:extLst>
          </p:cNvPr>
          <p:cNvSpPr>
            <a:spLocks noChangeArrowheads="1"/>
          </p:cNvSpPr>
          <p:nvPr/>
        </p:nvSpPr>
        <p:spPr bwMode="auto">
          <a:xfrm>
            <a:off x="762000" y="4001621"/>
            <a:ext cx="6450484"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a:t>Se implementó el servicio:</a:t>
            </a:r>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dirty="0"/>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dirty="0"/>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dirty="0"/>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dirty="0"/>
          </a:p>
          <a:p>
            <a:pPr marL="0" marR="0" lvl="0" indent="0" algn="l" defTabSz="914400" rtl="0" eaLnBrk="0" fontAlgn="base" latinLnBrk="0" hangingPunct="0">
              <a:lnSpc>
                <a:spcPct val="100000"/>
              </a:lnSpc>
              <a:spcBef>
                <a:spcPct val="0"/>
              </a:spcBef>
              <a:spcAft>
                <a:spcPct val="0"/>
              </a:spcAft>
              <a:buClrTx/>
              <a:buSzTx/>
              <a:buFontTx/>
              <a:buNone/>
              <a:tabLst/>
            </a:pPr>
            <a:endParaRPr lang="es-MX" altLang="es-MX" dirty="0"/>
          </a:p>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a:t>Este servicio permite enviar la información del docente al </a:t>
            </a:r>
            <a:r>
              <a:rPr lang="es-MX" altLang="es-MX" dirty="0" err="1"/>
              <a:t>backend</a:t>
            </a:r>
            <a:r>
              <a:rPr lang="es-MX" altLang="es-MX" dirty="0"/>
              <a:t>.</a:t>
            </a:r>
          </a:p>
        </p:txBody>
      </p:sp>
      <p:pic>
        <p:nvPicPr>
          <p:cNvPr id="18" name="Imagen 17">
            <a:extLst>
              <a:ext uri="{FF2B5EF4-FFF2-40B4-BE49-F238E27FC236}">
                <a16:creationId xmlns:a16="http://schemas.microsoft.com/office/drawing/2014/main" id="{2008DF59-A82C-AAD2-9E6A-6753C52C7910}"/>
              </a:ext>
            </a:extLst>
          </p:cNvPr>
          <p:cNvPicPr>
            <a:picLocks noChangeAspect="1"/>
          </p:cNvPicPr>
          <p:nvPr/>
        </p:nvPicPr>
        <p:blipFill>
          <a:blip r:embed="rId4"/>
          <a:stretch>
            <a:fillRect/>
          </a:stretch>
        </p:blipFill>
        <p:spPr>
          <a:xfrm>
            <a:off x="838200" y="4317695"/>
            <a:ext cx="3432744" cy="1389584"/>
          </a:xfrm>
          <a:prstGeom prst="rect">
            <a:avLst/>
          </a:prstGeom>
        </p:spPr>
      </p:pic>
    </p:spTree>
    <p:extLst>
      <p:ext uri="{BB962C8B-B14F-4D97-AF65-F5344CB8AC3E}">
        <p14:creationId xmlns:p14="http://schemas.microsoft.com/office/powerpoint/2010/main" val="35139547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DD6D0D-AD57-AEC7-6508-2A34F04BD4CC}"/>
              </a:ext>
            </a:extLst>
          </p:cNvPr>
          <p:cNvSpPr>
            <a:spLocks noGrp="1"/>
          </p:cNvSpPr>
          <p:nvPr>
            <p:ph type="title"/>
          </p:nvPr>
        </p:nvSpPr>
        <p:spPr/>
        <p:txBody>
          <a:bodyPr/>
          <a:lstStyle/>
          <a:p>
            <a:r>
              <a:rPr lang="es-MX" b="1" dirty="0"/>
              <a:t>Estado del reconocimiento facial</a:t>
            </a:r>
            <a:br>
              <a:rPr lang="es-MX" b="1" dirty="0"/>
            </a:br>
            <a:endParaRPr lang="es-MX" dirty="0"/>
          </a:p>
        </p:txBody>
      </p:sp>
      <p:sp>
        <p:nvSpPr>
          <p:cNvPr id="3" name="Marcador de contenido 2">
            <a:extLst>
              <a:ext uri="{FF2B5EF4-FFF2-40B4-BE49-F238E27FC236}">
                <a16:creationId xmlns:a16="http://schemas.microsoft.com/office/drawing/2014/main" id="{0A2F1573-3FFA-00F9-245A-AA83E8B7162F}"/>
              </a:ext>
            </a:extLst>
          </p:cNvPr>
          <p:cNvSpPr>
            <a:spLocks noGrp="1"/>
          </p:cNvSpPr>
          <p:nvPr>
            <p:ph idx="1"/>
          </p:nvPr>
        </p:nvSpPr>
        <p:spPr/>
        <p:txBody>
          <a:bodyPr/>
          <a:lstStyle/>
          <a:p>
            <a:pPr marL="514350" indent="-514350">
              <a:buFont typeface="+mj-lt"/>
              <a:buAutoNum type="arabicPeriod"/>
            </a:pPr>
            <a:r>
              <a:rPr lang="es-MX" dirty="0"/>
              <a:t>El módulo de reconocimiento facial se encuentra en desarrollo.</a:t>
            </a:r>
          </a:p>
          <a:p>
            <a:pPr marL="514350" indent="-514350">
              <a:buFont typeface="+mj-lt"/>
              <a:buAutoNum type="arabicPeriod"/>
            </a:pPr>
            <a:r>
              <a:rPr lang="es-MX" dirty="0"/>
              <a:t>Funciones en proceso:</a:t>
            </a:r>
          </a:p>
          <a:p>
            <a:pPr lvl="1"/>
            <a:r>
              <a:rPr lang="es-MX" dirty="0"/>
              <a:t>Captura de imagen desde cámara </a:t>
            </a:r>
          </a:p>
          <a:p>
            <a:pPr lvl="1"/>
            <a:r>
              <a:rPr lang="es-MX" dirty="0"/>
              <a:t>Detección de rostros </a:t>
            </a:r>
          </a:p>
          <a:p>
            <a:pPr lvl="1"/>
            <a:r>
              <a:rPr lang="es-MX" dirty="0"/>
              <a:t>Identificación de docentes</a:t>
            </a:r>
          </a:p>
          <a:p>
            <a:pPr marL="514350" indent="-514350">
              <a:buFont typeface="+mj-lt"/>
              <a:buAutoNum type="arabicPeriod"/>
            </a:pPr>
            <a:endParaRPr lang="es-MX" dirty="0"/>
          </a:p>
        </p:txBody>
      </p:sp>
    </p:spTree>
    <p:extLst>
      <p:ext uri="{BB962C8B-B14F-4D97-AF65-F5344CB8AC3E}">
        <p14:creationId xmlns:p14="http://schemas.microsoft.com/office/powerpoint/2010/main" val="34355583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1FD0EC-5D0A-609C-0F0F-2ADD150AC5F9}"/>
              </a:ext>
            </a:extLst>
          </p:cNvPr>
          <p:cNvSpPr>
            <a:spLocks noGrp="1"/>
          </p:cNvSpPr>
          <p:nvPr>
            <p:ph type="title"/>
          </p:nvPr>
        </p:nvSpPr>
        <p:spPr/>
        <p:txBody>
          <a:bodyPr/>
          <a:lstStyle/>
          <a:p>
            <a:r>
              <a:rPr lang="es-MX" dirty="0"/>
              <a:t>Conclusión </a:t>
            </a:r>
          </a:p>
        </p:txBody>
      </p:sp>
      <p:sp>
        <p:nvSpPr>
          <p:cNvPr id="3" name="Marcador de contenido 2">
            <a:extLst>
              <a:ext uri="{FF2B5EF4-FFF2-40B4-BE49-F238E27FC236}">
                <a16:creationId xmlns:a16="http://schemas.microsoft.com/office/drawing/2014/main" id="{2D3DCBF9-0AB0-15B4-0414-F7530B9F4A20}"/>
              </a:ext>
            </a:extLst>
          </p:cNvPr>
          <p:cNvSpPr>
            <a:spLocks noGrp="1"/>
          </p:cNvSpPr>
          <p:nvPr>
            <p:ph idx="1"/>
          </p:nvPr>
        </p:nvSpPr>
        <p:spPr/>
        <p:txBody>
          <a:bodyPr>
            <a:normAutofit/>
          </a:bodyPr>
          <a:lstStyle/>
          <a:p>
            <a:pPr marL="0" indent="0" algn="just">
              <a:buNone/>
            </a:pPr>
            <a:r>
              <a:rPr lang="es-MX" sz="2400" dirty="0"/>
              <a:t>El sistema presenta una arquitectura bien definida que integra múltiples tecnologías para el registro automatizado de asistencia. La comunicación entre componentes permite un flujo eficiente de información, mientras que el uso de Spring </a:t>
            </a:r>
            <a:r>
              <a:rPr lang="es-MX" sz="2400" dirty="0" err="1"/>
              <a:t>Boot</a:t>
            </a:r>
            <a:r>
              <a:rPr lang="es-MX" sz="2400" dirty="0"/>
              <a:t> y PostgreSQL garantiza una gestión adecuada de los datos.</a:t>
            </a:r>
          </a:p>
          <a:p>
            <a:pPr marL="0" indent="0" algn="just">
              <a:buNone/>
            </a:pPr>
            <a:r>
              <a:rPr lang="es-MX" sz="2400" dirty="0"/>
              <a:t>Aunque el reconocimiento facial aún está en proceso de integración completa, el sistema ya cuenta con una base sólida que permite su funcionamiento y futura expansión.</a:t>
            </a:r>
          </a:p>
          <a:p>
            <a:pPr marL="0" indent="0" algn="just">
              <a:buNone/>
            </a:pPr>
            <a:endParaRPr lang="es-MX" sz="2400" dirty="0"/>
          </a:p>
        </p:txBody>
      </p:sp>
    </p:spTree>
    <p:extLst>
      <p:ext uri="{BB962C8B-B14F-4D97-AF65-F5344CB8AC3E}">
        <p14:creationId xmlns:p14="http://schemas.microsoft.com/office/powerpoint/2010/main" val="396261477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TotalTime>
  <Words>692</Words>
  <Application>Microsoft Office PowerPoint</Application>
  <PresentationFormat>Panorámica</PresentationFormat>
  <Paragraphs>101</Paragraphs>
  <Slides>11</Slides>
  <Notes>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11</vt:i4>
      </vt:variant>
    </vt:vector>
  </HeadingPairs>
  <TitlesOfParts>
    <vt:vector size="16" baseType="lpstr">
      <vt:lpstr>Arial</vt:lpstr>
      <vt:lpstr>Calibri</vt:lpstr>
      <vt:lpstr>Calibri Light</vt:lpstr>
      <vt:lpstr>Century Gothic</vt:lpstr>
      <vt:lpstr>Tema de Office</vt:lpstr>
      <vt:lpstr>Presentación de PowerPoint</vt:lpstr>
      <vt:lpstr>Introducción </vt:lpstr>
      <vt:lpstr>Justificación </vt:lpstr>
      <vt:lpstr>Arquitectura del sistema </vt:lpstr>
      <vt:lpstr>Presentación de PowerPoint</vt:lpstr>
      <vt:lpstr>Presentación de PowerPoint</vt:lpstr>
      <vt:lpstr>Presentación de PowerPoint</vt:lpstr>
      <vt:lpstr>Implementación del backend</vt:lpstr>
      <vt:lpstr>Configuración de la base de datos</vt:lpstr>
      <vt:lpstr>Estado del reconocimiento facial </vt:lpstr>
      <vt:lpstr>Conclusión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 840 G5</dc:creator>
  <cp:lastModifiedBy>HP 840 G5</cp:lastModifiedBy>
  <cp:revision>1</cp:revision>
  <dcterms:created xsi:type="dcterms:W3CDTF">2026-03-26T00:17:40Z</dcterms:created>
  <dcterms:modified xsi:type="dcterms:W3CDTF">2026-03-26T01:27:03Z</dcterms:modified>
</cp:coreProperties>
</file>